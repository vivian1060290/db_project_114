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37" r:id="rId27"/>
    <p:sldId id="338" r:id="rId28"/>
    <p:sldId id="339" r:id="rId29"/>
  </p:sldIdLst>
  <p:sldSz cx="9144000" cy="5143500" type="screen16x9"/>
  <p:notesSz cx="6858000" cy="9144000"/>
  <p:embeddedFontLst>
    <p:embeddedFont>
      <p:font typeface="Microsoft JhengHei" panose="020B0604030504040204" pitchFamily="34" charset="-120"/>
      <p:regular r:id="rId31"/>
      <p:bold r:id="rId32"/>
    </p:embeddedFont>
    <p:embeddedFont>
      <p:font typeface="DFKai-SB" panose="03000509000000000000" pitchFamily="65" charset="-120"/>
      <p:regular r:id="rId33"/>
    </p:embeddedFont>
    <p:embeddedFont>
      <p:font typeface="Impact" panose="020B0806030902050204" pitchFamily="34" charset="0"/>
      <p:regular r:id="rId34"/>
    </p:embeddedFont>
    <p:embeddedFont>
      <p:font typeface="Microsoft Yahei" panose="020B0503020204020204" pitchFamily="34" charset="-122"/>
      <p:regular r:id="rId35"/>
      <p:bold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306F20-B5FA-46C3-8F7C-962CBD427640}">
  <a:tblStyle styleId="{AC306F20-B5FA-46C3-8F7C-962CBD4276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E4DF90B-2F7E-462A-BB2A-4B7291B5048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F2F82F-1B50-44F7-B909-BC6858CF391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9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803a8c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ea803a8c1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3ea803a8c1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a803a8c1e_6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ea803a8c1e_6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3ea803a8c1e_6_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a803a8c1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ea803a8c1e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ea803a8c1e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a803a8c1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3ea803a8c1e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ea803a8c1e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a803a8c1e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ea803a8c1e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ea803a8c1e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a803a8c1e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3ea803a8c1e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ea803a8c1e_0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a803a8c1e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ea803a8c1e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ea803a8c1e_0_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a803a8c1e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3ea803a8c1e_0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ea803a8c1e_0_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a803a8c1e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3ea803a8c1e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ea803a8c1e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a803a8c1e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3ea803a8c1e_0_2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ea803a8c1e_0_2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a803a8c1e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a803a8c1e_0_2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3ea803a8c1e_0_2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a803a8c1e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3ea803a8c1e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ea803a8c1e_0_2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a803a8c1e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ea803a8c1e_0_2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3ea803a8c1e_0_2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a803a8c1e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ea803a8c1e_0_2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ea803a8c1e_0_2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ea803a8c1e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ea803a8c1e_0_2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ea803a8c1e_0_2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a803a8c1e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ea803a8c1e_0_2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3ea803a8c1e_0_2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a803a8c1e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ea803a8c1e_0_3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3ea803a8c1e_0_3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a803a8c1e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a803a8c1e_0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3ea803a8c1e_0_3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a803a8c1e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ea803a8c1e_0_3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g3ea803a8c1e_0_3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a803a8c1e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ea803a8c1e_0_3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3ea803a8c1e_0_3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a803a8c1e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ea803a8c1e_0_3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3ea803a8c1e_0_3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a803a8c1e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ea803a8c1e_0_3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3ea803a8c1e_0_3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a803a8c1e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ea803a8c1e_0_3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3ea803a8c1e_0_3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a803a8c1e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ea803a8c1e_0_3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3ea803a8c1e_0_3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a803a8c1e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ea803a8c1e_0_3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3ea803a8c1e_0_3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ea803a8c1e_0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3ea803a8c1e_0_5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g3ea803a8c1e_0_5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ea803a8c1e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ea803a8c1e_0_5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g3ea803a8c1e_0_5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ea803a8c1e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8" name="Google Shape;1098;g3ea803a8c1e_0_6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g3ea803a8c1e_0_6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sieoffice1.nfu.edu.tw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share.google/Jgz627iK0832tkNwJ" TargetMode="External"/><Relationship Id="rId5" Type="http://schemas.openxmlformats.org/officeDocument/2006/relationships/hyperlink" Target="https://share.google/7nEjYTNkDw13sQput" TargetMode="External"/><Relationship Id="rId4" Type="http://schemas.openxmlformats.org/officeDocument/2006/relationships/hyperlink" Target="https://share.google/43ZdNW1RVkHCTsGi8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vian1060290/DB_project_114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2757206" y="892575"/>
            <a:ext cx="6081900" cy="9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500"/>
              </a:spcBef>
              <a:spcAft>
                <a:spcPts val="500"/>
              </a:spcAft>
              <a:buSzPts val="800"/>
              <a:buNone/>
            </a:pPr>
            <a:r>
              <a:rPr lang="zh-TW" sz="5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教室借用管理系統</a:t>
            </a:r>
            <a:endParaRPr sz="7100" b="1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78550" y="2425500"/>
            <a:ext cx="5192100" cy="20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班級:四資工三甲</a:t>
            </a:r>
            <a:endParaRPr sz="19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組別:第三組</a:t>
            </a:r>
            <a:endParaRPr sz="19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組員: 41243101 伍翊瑄  41243103 林采儀</a:t>
            </a:r>
            <a:endParaRPr sz="19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42900" lvl="0" indent="342900" algn="l" rtl="0">
              <a:lnSpc>
                <a:spcPct val="115000"/>
              </a:lnSpc>
              <a:spcBef>
                <a:spcPts val="1500"/>
              </a:spcBef>
              <a:spcAft>
                <a:spcPts val="500"/>
              </a:spcAft>
              <a:buNone/>
            </a:pPr>
            <a:r>
              <a:rPr lang="zh-TW" sz="19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41243104 范芷紜	41243107 潘怡潔</a:t>
            </a:r>
            <a:endParaRPr sz="25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511173" y="502278"/>
            <a:ext cx="1523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500" b="1">
                <a:solidFill>
                  <a:srgbClr val="113F4E"/>
                </a:solidFill>
                <a:latin typeface="DFKai-SB"/>
                <a:ea typeface="DFKai-SB"/>
                <a:cs typeface="DFKai-SB"/>
                <a:sym typeface="DFKai-SB"/>
              </a:rPr>
              <a:t>目錄</a:t>
            </a:r>
            <a:endParaRPr sz="4500">
              <a:latin typeface="DFKai-SB"/>
              <a:ea typeface="DFKai-SB"/>
              <a:cs typeface="DFKai-SB"/>
              <a:sym typeface="DFKai-SB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 rot="10800000" flipH="1">
            <a:off x="511174" y="1281505"/>
            <a:ext cx="1359300" cy="19200"/>
          </a:xfrm>
          <a:prstGeom prst="straightConnector1">
            <a:avLst/>
          </a:prstGeom>
          <a:noFill/>
          <a:ln w="21425" cap="rnd" cmpd="sng">
            <a:solidFill>
              <a:srgbClr val="55C0A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14"/>
          <p:cNvSpPr txBox="1"/>
          <p:nvPr/>
        </p:nvSpPr>
        <p:spPr>
          <a:xfrm>
            <a:off x="1138038" y="2500471"/>
            <a:ext cx="3433963" cy="520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應用情境與使用案例</a:t>
            </a:r>
            <a:endParaRPr sz="2700" b="1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596043" y="2366698"/>
            <a:ext cx="400374" cy="507952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792317" y="2583700"/>
            <a:ext cx="339355" cy="43053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</a:t>
            </a:r>
            <a:endParaRPr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795866" y="2687747"/>
            <a:ext cx="3433962" cy="52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TW" sz="2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ER Diagram</a:t>
            </a:r>
            <a:endParaRPr sz="2700" b="1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253862" y="2571750"/>
            <a:ext cx="400374" cy="510914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5450136" y="2790018"/>
            <a:ext cx="339355" cy="43304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r>
            <a:endParaRPr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5795865" y="3553325"/>
            <a:ext cx="3433961" cy="52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完整性限制</a:t>
            </a:r>
            <a:endParaRPr sz="2700" b="1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253873" y="3359916"/>
            <a:ext cx="400375" cy="510914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5450147" y="3578184"/>
            <a:ext cx="339355" cy="43304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</a:t>
            </a:r>
            <a:endParaRPr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1138037" y="3366086"/>
            <a:ext cx="3433963" cy="520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系統需求說明</a:t>
            </a:r>
            <a:endParaRPr sz="2700" b="1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96035" y="3274128"/>
            <a:ext cx="400374" cy="507952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792309" y="3491130"/>
            <a:ext cx="339355" cy="43053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</a:t>
            </a:r>
            <a:endParaRPr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4697081" y="3168722"/>
            <a:ext cx="4158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應用情境與使用案例</a:t>
            </a:r>
            <a:endParaRPr sz="27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112" name="Google Shape;112;p15"/>
          <p:cNvGrpSpPr/>
          <p:nvPr/>
        </p:nvGrpSpPr>
        <p:grpSpPr>
          <a:xfrm>
            <a:off x="3502220" y="2918232"/>
            <a:ext cx="844541" cy="932257"/>
            <a:chOff x="589141" y="2173776"/>
            <a:chExt cx="1126055" cy="1243010"/>
          </a:xfrm>
        </p:grpSpPr>
        <p:grpSp>
          <p:nvGrpSpPr>
            <p:cNvPr id="113" name="Google Shape;113;p15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114" name="Google Shape;114;p15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116" name="Google Shape;116;p15"/>
            <p:cNvSpPr txBox="1"/>
            <p:nvPr/>
          </p:nvSpPr>
          <p:spPr>
            <a:xfrm>
              <a:off x="907668" y="2220553"/>
              <a:ext cx="6111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4100" b="1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</a:t>
              </a:r>
              <a:endParaRPr sz="4100" b="1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6"/>
          <p:cNvGrpSpPr/>
          <p:nvPr/>
        </p:nvGrpSpPr>
        <p:grpSpPr>
          <a:xfrm>
            <a:off x="382271" y="221981"/>
            <a:ext cx="2568885" cy="466773"/>
            <a:chOff x="956666" y="3447854"/>
            <a:chExt cx="3425180" cy="622364"/>
          </a:xfrm>
        </p:grpSpPr>
        <p:sp>
          <p:nvSpPr>
            <p:cNvPr id="124" name="Google Shape;124;p16"/>
            <p:cNvSpPr txBox="1"/>
            <p:nvPr/>
          </p:nvSpPr>
          <p:spPr>
            <a:xfrm>
              <a:off x="1581046" y="3447854"/>
              <a:ext cx="28008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應用情境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27" name="Google Shape;127;p16"/>
          <p:cNvSpPr/>
          <p:nvPr/>
        </p:nvSpPr>
        <p:spPr>
          <a:xfrm>
            <a:off x="1232231" y="1180852"/>
            <a:ext cx="798000" cy="7980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128" name="Google Shape;128;p16"/>
          <p:cNvGrpSpPr/>
          <p:nvPr/>
        </p:nvGrpSpPr>
        <p:grpSpPr>
          <a:xfrm>
            <a:off x="1798876" y="1180875"/>
            <a:ext cx="6786642" cy="927620"/>
            <a:chOff x="6183501" y="2146578"/>
            <a:chExt cx="5627398" cy="769171"/>
          </a:xfrm>
        </p:grpSpPr>
        <p:sp>
          <p:nvSpPr>
            <p:cNvPr id="129" name="Google Shape;129;p16"/>
            <p:cNvSpPr txBox="1"/>
            <p:nvPr/>
          </p:nvSpPr>
          <p:spPr>
            <a:xfrm>
              <a:off x="6183501" y="2146578"/>
              <a:ext cx="1457100" cy="5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zh-TW" sz="25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學生</a:t>
              </a:r>
              <a:endParaRPr sz="25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dk1"/>
                </a:solidFill>
              </a:endParaRPr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6568699" y="2456449"/>
              <a:ext cx="52422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zh-TW" sz="17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需要進行小組討論、專題製作或活動練習時，可透過系統查詢教室空閒時段，並提出借用申請，經審核通過後即可使用，避免找不到空間或人工登記錯誤的問題。</a:t>
              </a:r>
              <a:endParaRPr sz="17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34290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endParaRPr sz="17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31" name="Google Shape;131;p16"/>
          <p:cNvSpPr/>
          <p:nvPr/>
        </p:nvSpPr>
        <p:spPr>
          <a:xfrm>
            <a:off x="1232226" y="2679476"/>
            <a:ext cx="798000" cy="7980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132" name="Google Shape;132;p16"/>
          <p:cNvGrpSpPr/>
          <p:nvPr/>
        </p:nvGrpSpPr>
        <p:grpSpPr>
          <a:xfrm>
            <a:off x="1888125" y="2423869"/>
            <a:ext cx="6789324" cy="1509865"/>
            <a:chOff x="7100969" y="3612228"/>
            <a:chExt cx="5629622" cy="1251961"/>
          </a:xfrm>
        </p:grpSpPr>
        <p:sp>
          <p:nvSpPr>
            <p:cNvPr id="133" name="Google Shape;133;p16"/>
            <p:cNvSpPr txBox="1"/>
            <p:nvPr/>
          </p:nvSpPr>
          <p:spPr>
            <a:xfrm>
              <a:off x="7100969" y="3612228"/>
              <a:ext cx="1394400" cy="5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zh-TW" sz="25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老師</a:t>
              </a:r>
              <a:endParaRPr sz="25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dk1"/>
                </a:solidFill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7488391" y="3981289"/>
              <a:ext cx="5242200" cy="88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zh-TW" sz="17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需要進行補課、課程延伸討論或舉辦小型教學活動時，可透過系統即時查詢教室使用狀態，並線上申請借用教室，以確保教學活動順利進行且不與其他課程衝突。</a:t>
              </a:r>
              <a:endParaRPr sz="17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35" name="Google Shape;135;p16"/>
          <p:cNvSpPr/>
          <p:nvPr/>
        </p:nvSpPr>
        <p:spPr>
          <a:xfrm>
            <a:off x="1267784" y="3910812"/>
            <a:ext cx="798000" cy="7980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136" name="Google Shape;136;p16"/>
          <p:cNvGrpSpPr/>
          <p:nvPr/>
        </p:nvGrpSpPr>
        <p:grpSpPr>
          <a:xfrm>
            <a:off x="2030081" y="3811106"/>
            <a:ext cx="6541562" cy="997278"/>
            <a:chOff x="6386712" y="4859089"/>
            <a:chExt cx="5424181" cy="826931"/>
          </a:xfrm>
        </p:grpSpPr>
        <p:sp>
          <p:nvSpPr>
            <p:cNvPr id="137" name="Google Shape;137;p16"/>
            <p:cNvSpPr txBox="1"/>
            <p:nvPr/>
          </p:nvSpPr>
          <p:spPr>
            <a:xfrm>
              <a:off x="6386712" y="4859089"/>
              <a:ext cx="1254000" cy="5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zh-TW" sz="25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管理者</a:t>
              </a:r>
              <a:endParaRPr sz="25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dk1"/>
                </a:solidFill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6568693" y="5226720"/>
              <a:ext cx="52422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zh-TW" sz="17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負責審核所有教室借用申請，確認借用時間與用途是否合理，並管理教室使用狀態與借用紀錄，進行教室資源調度。</a:t>
              </a:r>
              <a:endParaRPr sz="17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39" name="Google Shape;13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7"/>
          <p:cNvGrpSpPr/>
          <p:nvPr/>
        </p:nvGrpSpPr>
        <p:grpSpPr>
          <a:xfrm>
            <a:off x="382271" y="221981"/>
            <a:ext cx="2568885" cy="466773"/>
            <a:chOff x="956666" y="3447854"/>
            <a:chExt cx="3425180" cy="622364"/>
          </a:xfrm>
        </p:grpSpPr>
        <p:sp>
          <p:nvSpPr>
            <p:cNvPr id="146" name="Google Shape;146;p17"/>
            <p:cNvSpPr txBox="1"/>
            <p:nvPr/>
          </p:nvSpPr>
          <p:spPr>
            <a:xfrm>
              <a:off x="1581046" y="3447854"/>
              <a:ext cx="28008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使用案例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49" name="Google Shape;149;p17"/>
          <p:cNvSpPr/>
          <p:nvPr/>
        </p:nvSpPr>
        <p:spPr>
          <a:xfrm>
            <a:off x="3047381" y="1502646"/>
            <a:ext cx="2767075" cy="2742033"/>
          </a:xfrm>
          <a:custGeom>
            <a:avLst/>
            <a:gdLst/>
            <a:ahLst/>
            <a:cxnLst/>
            <a:rect l="l" t="t" r="r" b="b"/>
            <a:pathLst>
              <a:path w="2504140" h="2504140" extrusionOk="0">
                <a:moveTo>
                  <a:pt x="0" y="1252070"/>
                </a:moveTo>
                <a:cubicBezTo>
                  <a:pt x="0" y="560571"/>
                  <a:pt x="560571" y="0"/>
                  <a:pt x="1252070" y="0"/>
                </a:cubicBezTo>
                <a:cubicBezTo>
                  <a:pt x="1943569" y="0"/>
                  <a:pt x="2504140" y="560571"/>
                  <a:pt x="2504140" y="1252070"/>
                </a:cubicBezTo>
                <a:cubicBezTo>
                  <a:pt x="2504140" y="1943569"/>
                  <a:pt x="1943569" y="2504140"/>
                  <a:pt x="1252070" y="2504140"/>
                </a:cubicBezTo>
                <a:cubicBezTo>
                  <a:pt x="560571" y="2504140"/>
                  <a:pt x="0" y="1943569"/>
                  <a:pt x="0" y="1252070"/>
                </a:cubicBezTo>
                <a:close/>
              </a:path>
            </a:pathLst>
          </a:custGeom>
          <a:solidFill>
            <a:srgbClr val="113F4E"/>
          </a:solidFill>
          <a:ln w="715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328375" tIns="328375" rIns="328375" bIns="3283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3465796" y="2048250"/>
            <a:ext cx="1855500" cy="1685400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429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7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 sz="26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一般使用者</a:t>
            </a:r>
            <a:endParaRPr sz="26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26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 sz="26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學生/教師</a:t>
            </a:r>
            <a:endParaRPr sz="26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12050" y="1410536"/>
            <a:ext cx="294000" cy="2940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412050" y="1999950"/>
            <a:ext cx="3195600" cy="13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輸入：日期、時間</a:t>
            </a:r>
            <a:endParaRPr sz="16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685800" lvl="0" algn="l" rtl="0">
              <a:spcBef>
                <a:spcPts val="0"/>
              </a:spcBef>
              <a:spcAft>
                <a:spcPts val="0"/>
              </a:spcAft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、設備需求</a:t>
            </a:r>
            <a:endParaRPr sz="16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輸出：可用教室清單、</a:t>
            </a:r>
            <a:endParaRPr sz="16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      人數限制</a:t>
            </a:r>
            <a:endParaRPr sz="16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12038" y="3268704"/>
            <a:ext cx="294000" cy="2940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277700" y="3735900"/>
            <a:ext cx="3468300" cy="17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條件：借用尚未開始</a:t>
            </a:r>
            <a:endParaRPr sz="16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 （還未到借用日期與時間）</a:t>
            </a:r>
            <a:endParaRPr sz="16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365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只有申請人本人可以取消尚未開始的借用申請，管理員不可代替使用者取消借用。 </a:t>
            </a:r>
            <a:endParaRPr sz="20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171450" marR="0" lvl="0" indent="-171450" algn="l" rtl="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0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814456" y="1509836"/>
            <a:ext cx="294000" cy="2940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6030485" y="2003225"/>
            <a:ext cx="3195600" cy="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輸入：時間、教室代號、申請人資訊（姓名、電話等）</a:t>
            </a:r>
            <a:endParaRPr sz="16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、用途</a:t>
            </a:r>
            <a:endParaRPr sz="16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系統自動檢查是否有時間衝突（衝堂）</a:t>
            </a:r>
            <a:endParaRPr sz="16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285750" marR="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814456" y="3565876"/>
            <a:ext cx="294000" cy="2940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052788" y="4047031"/>
            <a:ext cx="2765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查詢個人或特定教室的</a:t>
            </a:r>
            <a:endParaRPr sz="16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zh-TW" sz="16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歷史借用紀錄</a:t>
            </a:r>
            <a:endParaRPr sz="16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171450" marR="0" lvl="0" indent="-1714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000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74588" y="1315144"/>
            <a:ext cx="198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1.查詢教室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79705" y="3169406"/>
            <a:ext cx="191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3.取消借用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112694" y="1410519"/>
            <a:ext cx="225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2.申請借用教室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310525" y="3466569"/>
            <a:ext cx="225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4.查看借用紀錄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63" name="Google Shape;16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8"/>
          <p:cNvGrpSpPr/>
          <p:nvPr/>
        </p:nvGrpSpPr>
        <p:grpSpPr>
          <a:xfrm>
            <a:off x="382271" y="221981"/>
            <a:ext cx="2568885" cy="466773"/>
            <a:chOff x="956666" y="3447854"/>
            <a:chExt cx="3425180" cy="622364"/>
          </a:xfrm>
        </p:grpSpPr>
        <p:sp>
          <p:nvSpPr>
            <p:cNvPr id="170" name="Google Shape;170;p18"/>
            <p:cNvSpPr txBox="1"/>
            <p:nvPr/>
          </p:nvSpPr>
          <p:spPr>
            <a:xfrm>
              <a:off x="1581046" y="3447854"/>
              <a:ext cx="28008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使用案例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73" name="Google Shape;173;p18"/>
          <p:cNvSpPr/>
          <p:nvPr/>
        </p:nvSpPr>
        <p:spPr>
          <a:xfrm>
            <a:off x="3047381" y="1502646"/>
            <a:ext cx="2767075" cy="2742033"/>
          </a:xfrm>
          <a:custGeom>
            <a:avLst/>
            <a:gdLst/>
            <a:ahLst/>
            <a:cxnLst/>
            <a:rect l="l" t="t" r="r" b="b"/>
            <a:pathLst>
              <a:path w="2504140" h="2504140" extrusionOk="0">
                <a:moveTo>
                  <a:pt x="0" y="1252070"/>
                </a:moveTo>
                <a:cubicBezTo>
                  <a:pt x="0" y="560571"/>
                  <a:pt x="560571" y="0"/>
                  <a:pt x="1252070" y="0"/>
                </a:cubicBezTo>
                <a:cubicBezTo>
                  <a:pt x="1943569" y="0"/>
                  <a:pt x="2504140" y="560571"/>
                  <a:pt x="2504140" y="1252070"/>
                </a:cubicBezTo>
                <a:cubicBezTo>
                  <a:pt x="2504140" y="1943569"/>
                  <a:pt x="1943569" y="2504140"/>
                  <a:pt x="1252070" y="2504140"/>
                </a:cubicBezTo>
                <a:cubicBezTo>
                  <a:pt x="560571" y="2504140"/>
                  <a:pt x="0" y="1943569"/>
                  <a:pt x="0" y="1252070"/>
                </a:cubicBezTo>
                <a:close/>
              </a:path>
            </a:pathLst>
          </a:custGeom>
          <a:solidFill>
            <a:srgbClr val="113F4E"/>
          </a:solidFill>
          <a:ln w="715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328375" tIns="328375" rIns="328375" bIns="3283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3465796" y="1973213"/>
            <a:ext cx="1855500" cy="1793100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429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7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 sz="26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管理者</a:t>
            </a:r>
            <a:endParaRPr sz="26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zh-TW" sz="26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endParaRPr sz="26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 sz="26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 (Admin)</a:t>
            </a:r>
            <a:endParaRPr sz="26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335981" y="1848911"/>
            <a:ext cx="294000" cy="2940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478556" y="2358806"/>
            <a:ext cx="2568900" cy="242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1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狀態流程：</a:t>
            </a:r>
            <a:endParaRPr sz="17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Pending</a:t>
            </a:r>
            <a:r>
              <a:rPr lang="zh-TW" sz="1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（審核中）</a:t>
            </a:r>
            <a:endParaRPr sz="17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Approved</a:t>
            </a:r>
            <a:r>
              <a:rPr lang="zh-TW" sz="1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（核准）</a:t>
            </a:r>
            <a:endParaRPr sz="17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Rejected</a:t>
            </a:r>
            <a:r>
              <a:rPr lang="zh-TW" sz="1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（拒絕</a:t>
            </a:r>
            <a:endParaRPr sz="17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1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   ，須填寫拒絕原因）</a:t>
            </a:r>
            <a:endParaRPr sz="17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9715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739656" y="1848892"/>
            <a:ext cx="294000" cy="2940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5934163" y="2671281"/>
            <a:ext cx="30912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新增教室 / 設備</a:t>
            </a:r>
            <a:endParaRPr sz="17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停用教室 / 設備</a:t>
            </a:r>
            <a:endParaRPr sz="17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設定教室狀態為「維修中」</a:t>
            </a:r>
            <a:endParaRPr sz="17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6858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（UnderMaintenance</a:t>
            </a:r>
            <a:r>
              <a:rPr lang="zh-TW" sz="17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）</a:t>
            </a:r>
            <a:endParaRPr sz="17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285750" marR="0" lvl="0" indent="-28575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98519" y="1753519"/>
            <a:ext cx="2276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1.審核借用申請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986600" y="1753525"/>
            <a:ext cx="2715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TW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2.教室及設備管理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81" name="Google Shape;18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/>
        </p:nvSpPr>
        <p:spPr>
          <a:xfrm>
            <a:off x="4697081" y="3168722"/>
            <a:ext cx="4158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500"/>
              </a:spcAft>
              <a:buSzPts val="800"/>
              <a:buNone/>
            </a:pPr>
            <a:r>
              <a:rPr lang="zh-TW" sz="27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系統需求說明</a:t>
            </a:r>
            <a:endParaRPr sz="27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188" name="Google Shape;188;p19"/>
          <p:cNvGrpSpPr/>
          <p:nvPr/>
        </p:nvGrpSpPr>
        <p:grpSpPr>
          <a:xfrm>
            <a:off x="3502220" y="2918232"/>
            <a:ext cx="844541" cy="932257"/>
            <a:chOff x="589141" y="2173776"/>
            <a:chExt cx="1126055" cy="1243010"/>
          </a:xfrm>
        </p:grpSpPr>
        <p:grpSp>
          <p:nvGrpSpPr>
            <p:cNvPr id="189" name="Google Shape;189;p19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190" name="Google Shape;190;p19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191" name="Google Shape;191;p19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192" name="Google Shape;192;p19"/>
            <p:cNvSpPr txBox="1"/>
            <p:nvPr/>
          </p:nvSpPr>
          <p:spPr>
            <a:xfrm>
              <a:off x="907668" y="2220553"/>
              <a:ext cx="6111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4100" b="1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</a:t>
              </a:r>
              <a:endParaRPr sz="4100" b="1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93" name="Google Shape;19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0"/>
          <p:cNvGrpSpPr/>
          <p:nvPr/>
        </p:nvGrpSpPr>
        <p:grpSpPr>
          <a:xfrm>
            <a:off x="382271" y="221981"/>
            <a:ext cx="2568885" cy="466773"/>
            <a:chOff x="956666" y="3447854"/>
            <a:chExt cx="3425180" cy="622364"/>
          </a:xfrm>
        </p:grpSpPr>
        <p:sp>
          <p:nvSpPr>
            <p:cNvPr id="200" name="Google Shape;200;p20"/>
            <p:cNvSpPr txBox="1"/>
            <p:nvPr/>
          </p:nvSpPr>
          <p:spPr>
            <a:xfrm>
              <a:off x="1581046" y="3447854"/>
              <a:ext cx="28008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900"/>
                </a:spcBef>
                <a:spcAft>
                  <a:spcPts val="900"/>
                </a:spcAft>
                <a:buSzPts val="800"/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功能性需求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id="203" name="Google Shape;203;p20"/>
          <p:cNvGrpSpPr/>
          <p:nvPr/>
        </p:nvGrpSpPr>
        <p:grpSpPr>
          <a:xfrm>
            <a:off x="320087" y="2009914"/>
            <a:ext cx="1990725" cy="2008111"/>
            <a:chOff x="3711385" y="1272950"/>
            <a:chExt cx="5138682" cy="5183559"/>
          </a:xfrm>
        </p:grpSpPr>
        <p:grpSp>
          <p:nvGrpSpPr>
            <p:cNvPr id="204" name="Google Shape;204;p20"/>
            <p:cNvGrpSpPr/>
            <p:nvPr/>
          </p:nvGrpSpPr>
          <p:grpSpPr>
            <a:xfrm>
              <a:off x="3711385" y="1272950"/>
              <a:ext cx="5138682" cy="5183559"/>
              <a:chOff x="3765171" y="1421576"/>
              <a:chExt cx="4704460" cy="4745545"/>
            </a:xfrm>
          </p:grpSpPr>
          <p:sp>
            <p:nvSpPr>
              <p:cNvPr id="205" name="Google Shape;205;p20"/>
              <p:cNvSpPr/>
              <p:nvPr/>
            </p:nvSpPr>
            <p:spPr>
              <a:xfrm rot="10800000">
                <a:off x="3765171" y="275463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06" name="Google Shape;206;p20"/>
              <p:cNvSpPr/>
              <p:nvPr/>
            </p:nvSpPr>
            <p:spPr>
              <a:xfrm rot="-5400000">
                <a:off x="4900552" y="159258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6047362" y="275082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08" name="Google Shape;208;p20"/>
              <p:cNvSpPr/>
              <p:nvPr/>
            </p:nvSpPr>
            <p:spPr>
              <a:xfrm rot="5400000">
                <a:off x="4910820" y="3915856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09" name="Google Shape;209;p20"/>
            <p:cNvGrpSpPr/>
            <p:nvPr/>
          </p:nvGrpSpPr>
          <p:grpSpPr>
            <a:xfrm>
              <a:off x="6008633" y="5754099"/>
              <a:ext cx="478637" cy="476753"/>
              <a:chOff x="4557733" y="2434359"/>
              <a:chExt cx="512624" cy="510606"/>
            </a:xfrm>
          </p:grpSpPr>
          <p:sp>
            <p:nvSpPr>
              <p:cNvPr id="210" name="Google Shape;210;p20"/>
              <p:cNvSpPr/>
              <p:nvPr/>
            </p:nvSpPr>
            <p:spPr>
              <a:xfrm>
                <a:off x="4557733" y="2434359"/>
                <a:ext cx="512624" cy="510606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72" extrusionOk="0">
                    <a:moveTo>
                      <a:pt x="86" y="21"/>
                    </a:moveTo>
                    <a:cubicBezTo>
                      <a:pt x="122" y="21"/>
                      <a:pt x="151" y="50"/>
                      <a:pt x="151" y="86"/>
                    </a:cubicBezTo>
                    <a:cubicBezTo>
                      <a:pt x="151" y="122"/>
                      <a:pt x="122" y="151"/>
                      <a:pt x="86" y="151"/>
                    </a:cubicBezTo>
                    <a:cubicBezTo>
                      <a:pt x="50" y="151"/>
                      <a:pt x="21" y="122"/>
                      <a:pt x="21" y="86"/>
                    </a:cubicBezTo>
                    <a:cubicBezTo>
                      <a:pt x="21" y="50"/>
                      <a:pt x="50" y="21"/>
                      <a:pt x="86" y="21"/>
                    </a:cubicBezTo>
                    <a:moveTo>
                      <a:pt x="86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4"/>
                      <a:pt x="38" y="172"/>
                      <a:pt x="86" y="172"/>
                    </a:cubicBezTo>
                    <a:cubicBezTo>
                      <a:pt x="134" y="172"/>
                      <a:pt x="172" y="134"/>
                      <a:pt x="172" y="86"/>
                    </a:cubicBezTo>
                    <a:cubicBezTo>
                      <a:pt x="172" y="38"/>
                      <a:pt x="134" y="0"/>
                      <a:pt x="8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11" name="Google Shape;211;p20"/>
              <p:cNvSpPr/>
              <p:nvPr/>
            </p:nvSpPr>
            <p:spPr>
              <a:xfrm>
                <a:off x="4781753" y="2529215"/>
                <a:ext cx="129165" cy="254294"/>
              </a:xfrm>
              <a:custGeom>
                <a:avLst/>
                <a:gdLst/>
                <a:ahLst/>
                <a:cxnLst/>
                <a:rect l="l" t="t" r="r" b="b"/>
                <a:pathLst>
                  <a:path w="44" h="86" extrusionOk="0">
                    <a:moveTo>
                      <a:pt x="33" y="86"/>
                    </a:moveTo>
                    <a:cubicBezTo>
                      <a:pt x="30" y="86"/>
                      <a:pt x="27" y="85"/>
                      <a:pt x="25" y="83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1" y="60"/>
                      <a:pt x="0" y="57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4" y="72"/>
                      <a:pt x="44" y="79"/>
                      <a:pt x="40" y="83"/>
                    </a:cubicBezTo>
                    <a:cubicBezTo>
                      <a:pt x="38" y="85"/>
                      <a:pt x="35" y="86"/>
                      <a:pt x="33" y="8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12" name="Google Shape;212;p20"/>
            <p:cNvGrpSpPr/>
            <p:nvPr/>
          </p:nvGrpSpPr>
          <p:grpSpPr>
            <a:xfrm>
              <a:off x="5930134" y="1546509"/>
              <a:ext cx="438265" cy="421472"/>
              <a:chOff x="6159731" y="1864447"/>
              <a:chExt cx="469385" cy="451400"/>
            </a:xfrm>
          </p:grpSpPr>
          <p:sp>
            <p:nvSpPr>
              <p:cNvPr id="213" name="Google Shape;213;p20"/>
              <p:cNvSpPr/>
              <p:nvPr/>
            </p:nvSpPr>
            <p:spPr>
              <a:xfrm>
                <a:off x="6288812" y="1864447"/>
                <a:ext cx="211200" cy="213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14" name="Google Shape;214;p20"/>
              <p:cNvSpPr/>
              <p:nvPr/>
            </p:nvSpPr>
            <p:spPr>
              <a:xfrm>
                <a:off x="6159731" y="2111736"/>
                <a:ext cx="469385" cy="204111"/>
              </a:xfrm>
              <a:custGeom>
                <a:avLst/>
                <a:gdLst/>
                <a:ahLst/>
                <a:cxnLst/>
                <a:rect l="l" t="t" r="r" b="b"/>
                <a:pathLst>
                  <a:path w="200" h="87" extrusionOk="0">
                    <a:moveTo>
                      <a:pt x="35" y="87"/>
                    </a:moveTo>
                    <a:cubicBezTo>
                      <a:pt x="35" y="72"/>
                      <a:pt x="35" y="72"/>
                      <a:pt x="35" y="72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6" y="87"/>
                      <a:pt x="46" y="87"/>
                      <a:pt x="46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5" y="72"/>
                      <a:pt x="155" y="72"/>
                      <a:pt x="155" y="72"/>
                    </a:cubicBezTo>
                    <a:cubicBezTo>
                      <a:pt x="166" y="72"/>
                      <a:pt x="166" y="72"/>
                      <a:pt x="166" y="72"/>
                    </a:cubicBezTo>
                    <a:cubicBezTo>
                      <a:pt x="166" y="87"/>
                      <a:pt x="166" y="87"/>
                      <a:pt x="166" y="87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9" y="47"/>
                      <a:pt x="200" y="43"/>
                      <a:pt x="200" y="43"/>
                    </a:cubicBezTo>
                    <a:cubicBezTo>
                      <a:pt x="200" y="19"/>
                      <a:pt x="180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0" y="0"/>
                      <a:pt x="140" y="0"/>
                      <a:pt x="140" y="0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4" y="0"/>
                      <a:pt x="44" y="0"/>
                    </a:cubicBezTo>
                    <a:cubicBezTo>
                      <a:pt x="20" y="0"/>
                      <a:pt x="1" y="19"/>
                      <a:pt x="1" y="43"/>
                    </a:cubicBezTo>
                    <a:cubicBezTo>
                      <a:pt x="1" y="43"/>
                      <a:pt x="0" y="47"/>
                      <a:pt x="0" y="87"/>
                    </a:cubicBezTo>
                    <a:lnTo>
                      <a:pt x="3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15" name="Google Shape;215;p20"/>
            <p:cNvGrpSpPr/>
            <p:nvPr/>
          </p:nvGrpSpPr>
          <p:grpSpPr>
            <a:xfrm>
              <a:off x="4034207" y="3712154"/>
              <a:ext cx="396175" cy="343351"/>
              <a:chOff x="7090992" y="4839631"/>
              <a:chExt cx="424306" cy="367732"/>
            </a:xfrm>
          </p:grpSpPr>
          <p:sp>
            <p:nvSpPr>
              <p:cNvPr id="216" name="Google Shape;216;p20"/>
              <p:cNvSpPr/>
              <p:nvPr/>
            </p:nvSpPr>
            <p:spPr>
              <a:xfrm>
                <a:off x="7156995" y="4994536"/>
                <a:ext cx="86882" cy="152885"/>
              </a:xfrm>
              <a:custGeom>
                <a:avLst/>
                <a:gdLst/>
                <a:ahLst/>
                <a:cxnLst/>
                <a:rect l="l" t="t" r="r" b="b"/>
                <a:pathLst>
                  <a:path w="54" h="95" extrusionOk="0">
                    <a:moveTo>
                      <a:pt x="4" y="95"/>
                    </a:moveTo>
                    <a:cubicBezTo>
                      <a:pt x="49" y="95"/>
                      <a:pt x="49" y="95"/>
                      <a:pt x="49" y="95"/>
                    </a:cubicBezTo>
                    <a:cubicBezTo>
                      <a:pt x="52" y="95"/>
                      <a:pt x="54" y="93"/>
                      <a:pt x="54" y="90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2" y="95"/>
                      <a:pt x="4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17" name="Google Shape;217;p20"/>
              <p:cNvSpPr/>
              <p:nvPr/>
            </p:nvSpPr>
            <p:spPr>
              <a:xfrm>
                <a:off x="7282266" y="4937962"/>
                <a:ext cx="86882" cy="209459"/>
              </a:xfrm>
              <a:custGeom>
                <a:avLst/>
                <a:gdLst/>
                <a:ahLst/>
                <a:cxnLst/>
                <a:rect l="l" t="t" r="r" b="b"/>
                <a:pathLst>
                  <a:path w="54" h="130" extrusionOk="0">
                    <a:moveTo>
                      <a:pt x="5" y="130"/>
                    </a:moveTo>
                    <a:cubicBezTo>
                      <a:pt x="50" y="130"/>
                      <a:pt x="50" y="130"/>
                      <a:pt x="50" y="130"/>
                    </a:cubicBezTo>
                    <a:cubicBezTo>
                      <a:pt x="52" y="130"/>
                      <a:pt x="54" y="128"/>
                      <a:pt x="54" y="12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5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0" y="128"/>
                      <a:pt x="2" y="130"/>
                      <a:pt x="5" y="1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18" name="Google Shape;218;p20"/>
              <p:cNvSpPr/>
              <p:nvPr/>
            </p:nvSpPr>
            <p:spPr>
              <a:xfrm>
                <a:off x="7408885" y="4891491"/>
                <a:ext cx="86882" cy="255931"/>
              </a:xfrm>
              <a:custGeom>
                <a:avLst/>
                <a:gdLst/>
                <a:ahLst/>
                <a:cxnLst/>
                <a:rect l="l" t="t" r="r" b="b"/>
                <a:pathLst>
                  <a:path w="54" h="159" extrusionOk="0">
                    <a:moveTo>
                      <a:pt x="4" y="159"/>
                    </a:moveTo>
                    <a:cubicBezTo>
                      <a:pt x="49" y="159"/>
                      <a:pt x="49" y="159"/>
                      <a:pt x="49" y="159"/>
                    </a:cubicBezTo>
                    <a:cubicBezTo>
                      <a:pt x="52" y="159"/>
                      <a:pt x="54" y="157"/>
                      <a:pt x="54" y="154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7"/>
                      <a:pt x="2" y="159"/>
                      <a:pt x="4" y="1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19" name="Google Shape;219;p20"/>
              <p:cNvSpPr/>
              <p:nvPr/>
            </p:nvSpPr>
            <p:spPr>
              <a:xfrm>
                <a:off x="7090992" y="4839631"/>
                <a:ext cx="424306" cy="367732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28" extrusionOk="0">
                    <a:moveTo>
                      <a:pt x="253" y="206"/>
                    </a:moveTo>
                    <a:cubicBezTo>
                      <a:pt x="23" y="206"/>
                      <a:pt x="23" y="206"/>
                      <a:pt x="23" y="206"/>
                    </a:cubicBezTo>
                    <a:cubicBezTo>
                      <a:pt x="22" y="206"/>
                      <a:pt x="22" y="206"/>
                      <a:pt x="22" y="206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5"/>
                      <a:pt x="17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0" y="218"/>
                      <a:pt x="10" y="228"/>
                      <a:pt x="23" y="228"/>
                    </a:cubicBezTo>
                    <a:cubicBezTo>
                      <a:pt x="253" y="228"/>
                      <a:pt x="253" y="228"/>
                      <a:pt x="253" y="228"/>
                    </a:cubicBezTo>
                    <a:cubicBezTo>
                      <a:pt x="259" y="228"/>
                      <a:pt x="264" y="223"/>
                      <a:pt x="264" y="217"/>
                    </a:cubicBezTo>
                    <a:cubicBezTo>
                      <a:pt x="264" y="211"/>
                      <a:pt x="259" y="206"/>
                      <a:pt x="253" y="2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20" name="Google Shape;220;p20"/>
            <p:cNvGrpSpPr/>
            <p:nvPr/>
          </p:nvGrpSpPr>
          <p:grpSpPr>
            <a:xfrm>
              <a:off x="8189171" y="3651806"/>
              <a:ext cx="364675" cy="360915"/>
              <a:chOff x="4270293" y="4090633"/>
              <a:chExt cx="390570" cy="386543"/>
            </a:xfrm>
          </p:grpSpPr>
          <p:sp>
            <p:nvSpPr>
              <p:cNvPr id="221" name="Google Shape;221;p20"/>
              <p:cNvSpPr/>
              <p:nvPr/>
            </p:nvSpPr>
            <p:spPr>
              <a:xfrm>
                <a:off x="4270293" y="4307258"/>
                <a:ext cx="390570" cy="16991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89" extrusionOk="0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22" name="Google Shape;222;p20"/>
              <p:cNvSpPr/>
              <p:nvPr/>
            </p:nvSpPr>
            <p:spPr>
              <a:xfrm>
                <a:off x="4270293" y="4090633"/>
                <a:ext cx="390570" cy="22467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18" extrusionOk="0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223" name="Google Shape;223;p20"/>
            <p:cNvSpPr/>
            <p:nvPr/>
          </p:nvSpPr>
          <p:spPr>
            <a:xfrm>
              <a:off x="5204058" y="2867849"/>
              <a:ext cx="7446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6436986" y="2877142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6382619" y="4203625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5037068" y="4149436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227" name="Google Shape;227;p20"/>
          <p:cNvGrpSpPr/>
          <p:nvPr/>
        </p:nvGrpSpPr>
        <p:grpSpPr>
          <a:xfrm>
            <a:off x="2588053" y="929514"/>
            <a:ext cx="6313447" cy="4086913"/>
            <a:chOff x="3202580" y="2364465"/>
            <a:chExt cx="8417929" cy="4724755"/>
          </a:xfrm>
        </p:grpSpPr>
        <p:grpSp>
          <p:nvGrpSpPr>
            <p:cNvPr id="228" name="Google Shape;228;p20"/>
            <p:cNvGrpSpPr/>
            <p:nvPr/>
          </p:nvGrpSpPr>
          <p:grpSpPr>
            <a:xfrm>
              <a:off x="3202715" y="2364465"/>
              <a:ext cx="7364543" cy="155729"/>
              <a:chOff x="4906190" y="1416527"/>
              <a:chExt cx="3933000" cy="166200"/>
            </a:xfrm>
          </p:grpSpPr>
          <p:sp>
            <p:nvSpPr>
              <p:cNvPr id="229" name="Google Shape;229;p20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rgbClr val="FFB85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30" name="Google Shape;230;p20"/>
              <p:cNvCxnSpPr>
                <a:stCxn id="229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31" name="Google Shape;231;p20"/>
            <p:cNvGrpSpPr/>
            <p:nvPr/>
          </p:nvGrpSpPr>
          <p:grpSpPr>
            <a:xfrm>
              <a:off x="3202715" y="3337167"/>
              <a:ext cx="7364543" cy="155729"/>
              <a:chOff x="4906190" y="2727732"/>
              <a:chExt cx="3933000" cy="166200"/>
            </a:xfrm>
          </p:grpSpPr>
          <p:sp>
            <p:nvSpPr>
              <p:cNvPr id="232" name="Google Shape;232;p20"/>
              <p:cNvSpPr/>
              <p:nvPr/>
            </p:nvSpPr>
            <p:spPr>
              <a:xfrm>
                <a:off x="4906190" y="2727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9525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33" name="Google Shape;233;p20"/>
              <p:cNvCxnSpPr>
                <a:stCxn id="232" idx="3"/>
              </p:cNvCxnSpPr>
              <p:nvPr/>
            </p:nvCxnSpPr>
            <p:spPr>
              <a:xfrm>
                <a:off x="5072390" y="2810832"/>
                <a:ext cx="3766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34" name="Google Shape;234;p20"/>
            <p:cNvGrpSpPr/>
            <p:nvPr/>
          </p:nvGrpSpPr>
          <p:grpSpPr>
            <a:xfrm>
              <a:off x="3202715" y="4273994"/>
              <a:ext cx="7364692" cy="155729"/>
              <a:chOff x="4906190" y="3870732"/>
              <a:chExt cx="3933080" cy="166200"/>
            </a:xfrm>
          </p:grpSpPr>
          <p:sp>
            <p:nvSpPr>
              <p:cNvPr id="235" name="Google Shape;235;p20"/>
              <p:cNvSpPr/>
              <p:nvPr/>
            </p:nvSpPr>
            <p:spPr>
              <a:xfrm>
                <a:off x="4906190" y="3870732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36" name="Google Shape;236;p20"/>
              <p:cNvCxnSpPr/>
              <p:nvPr/>
            </p:nvCxnSpPr>
            <p:spPr>
              <a:xfrm>
                <a:off x="5072470" y="3941172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37" name="Google Shape;237;p20"/>
            <p:cNvSpPr txBox="1"/>
            <p:nvPr/>
          </p:nvSpPr>
          <p:spPr>
            <a:xfrm>
              <a:off x="3202580" y="2532614"/>
              <a:ext cx="7364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1.使用者必須能登入系統</a:t>
              </a:r>
              <a:endParaRPr sz="9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3202585" y="3500279"/>
              <a:ext cx="7739400" cy="7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zh-TW" sz="20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2.支援教室借用類型選擇(短期借用 / 長期借用）</a:t>
              </a:r>
              <a:endParaRPr sz="17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3202580" y="4467082"/>
              <a:ext cx="7364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3.使用者可以查詢教室狀態</a:t>
              </a:r>
              <a:endParaRPr sz="9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grpSp>
          <p:nvGrpSpPr>
            <p:cNvPr id="240" name="Google Shape;240;p20"/>
            <p:cNvGrpSpPr/>
            <p:nvPr/>
          </p:nvGrpSpPr>
          <p:grpSpPr>
            <a:xfrm>
              <a:off x="3203257" y="5213275"/>
              <a:ext cx="7364690" cy="155729"/>
              <a:chOff x="4989842" y="3870732"/>
              <a:chExt cx="3933079" cy="166200"/>
            </a:xfrm>
          </p:grpSpPr>
          <p:sp>
            <p:nvSpPr>
              <p:cNvPr id="241" name="Google Shape;241;p20"/>
              <p:cNvSpPr/>
              <p:nvPr/>
            </p:nvSpPr>
            <p:spPr>
              <a:xfrm>
                <a:off x="4989842" y="3870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9525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42" name="Google Shape;242;p20"/>
              <p:cNvCxnSpPr/>
              <p:nvPr/>
            </p:nvCxnSpPr>
            <p:spPr>
              <a:xfrm>
                <a:off x="5156121" y="3941172"/>
                <a:ext cx="3766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43" name="Google Shape;243;p20"/>
            <p:cNvSpPr txBox="1"/>
            <p:nvPr/>
          </p:nvSpPr>
          <p:spPr>
            <a:xfrm>
              <a:off x="3203109" y="5406353"/>
              <a:ext cx="8417400" cy="7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zh-TW" sz="20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4.系統需防止時間衝突（同一教室不可同時被借用）</a:t>
              </a:r>
              <a:endParaRPr sz="17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just" rtl="0">
                <a:lnSpc>
                  <a:spcPct val="13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grpSp>
          <p:nvGrpSpPr>
            <p:cNvPr id="244" name="Google Shape;244;p20"/>
            <p:cNvGrpSpPr/>
            <p:nvPr/>
          </p:nvGrpSpPr>
          <p:grpSpPr>
            <a:xfrm>
              <a:off x="3220079" y="5981151"/>
              <a:ext cx="7364542" cy="155729"/>
              <a:chOff x="4906190" y="1416527"/>
              <a:chExt cx="3933000" cy="166200"/>
            </a:xfrm>
          </p:grpSpPr>
          <p:sp>
            <p:nvSpPr>
              <p:cNvPr id="245" name="Google Shape;245;p20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rgbClr val="FFB85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46" name="Google Shape;246;p20"/>
              <p:cNvCxnSpPr>
                <a:stCxn id="245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47" name="Google Shape;247;p20"/>
            <p:cNvSpPr txBox="1"/>
            <p:nvPr/>
          </p:nvSpPr>
          <p:spPr>
            <a:xfrm>
              <a:off x="3202594" y="6306220"/>
              <a:ext cx="7364400" cy="7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zh-TW" sz="20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5.借用需經過審核</a:t>
              </a:r>
              <a:endParaRPr sz="17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248" name="Google Shape;24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21"/>
          <p:cNvGrpSpPr/>
          <p:nvPr/>
        </p:nvGrpSpPr>
        <p:grpSpPr>
          <a:xfrm>
            <a:off x="382271" y="221981"/>
            <a:ext cx="2568885" cy="466773"/>
            <a:chOff x="956666" y="3447854"/>
            <a:chExt cx="3425180" cy="622364"/>
          </a:xfrm>
        </p:grpSpPr>
        <p:sp>
          <p:nvSpPr>
            <p:cNvPr id="255" name="Google Shape;255;p21"/>
            <p:cNvSpPr txBox="1"/>
            <p:nvPr/>
          </p:nvSpPr>
          <p:spPr>
            <a:xfrm>
              <a:off x="1581046" y="3447854"/>
              <a:ext cx="28008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900"/>
                </a:spcBef>
                <a:spcAft>
                  <a:spcPts val="900"/>
                </a:spcAft>
                <a:buSzPts val="800"/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功能性需求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id="258" name="Google Shape;258;p21"/>
          <p:cNvGrpSpPr/>
          <p:nvPr/>
        </p:nvGrpSpPr>
        <p:grpSpPr>
          <a:xfrm>
            <a:off x="320087" y="2009914"/>
            <a:ext cx="1990725" cy="2008111"/>
            <a:chOff x="3711385" y="1272950"/>
            <a:chExt cx="5138682" cy="5183559"/>
          </a:xfrm>
        </p:grpSpPr>
        <p:grpSp>
          <p:nvGrpSpPr>
            <p:cNvPr id="259" name="Google Shape;259;p21"/>
            <p:cNvGrpSpPr/>
            <p:nvPr/>
          </p:nvGrpSpPr>
          <p:grpSpPr>
            <a:xfrm>
              <a:off x="3711385" y="1272950"/>
              <a:ext cx="5138682" cy="5183559"/>
              <a:chOff x="3765171" y="1421576"/>
              <a:chExt cx="4704460" cy="4745545"/>
            </a:xfrm>
          </p:grpSpPr>
          <p:sp>
            <p:nvSpPr>
              <p:cNvPr id="260" name="Google Shape;260;p21"/>
              <p:cNvSpPr/>
              <p:nvPr/>
            </p:nvSpPr>
            <p:spPr>
              <a:xfrm rot="10800000">
                <a:off x="3765171" y="275463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61" name="Google Shape;261;p21"/>
              <p:cNvSpPr/>
              <p:nvPr/>
            </p:nvSpPr>
            <p:spPr>
              <a:xfrm rot="-5400000">
                <a:off x="4900552" y="159258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62" name="Google Shape;262;p21"/>
              <p:cNvSpPr/>
              <p:nvPr/>
            </p:nvSpPr>
            <p:spPr>
              <a:xfrm>
                <a:off x="6047362" y="275082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63" name="Google Shape;263;p21"/>
              <p:cNvSpPr/>
              <p:nvPr/>
            </p:nvSpPr>
            <p:spPr>
              <a:xfrm rot="5400000">
                <a:off x="4910820" y="3915856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64" name="Google Shape;264;p21"/>
            <p:cNvGrpSpPr/>
            <p:nvPr/>
          </p:nvGrpSpPr>
          <p:grpSpPr>
            <a:xfrm>
              <a:off x="6008633" y="5754099"/>
              <a:ext cx="478637" cy="476753"/>
              <a:chOff x="4557733" y="2434359"/>
              <a:chExt cx="512624" cy="510606"/>
            </a:xfrm>
          </p:grpSpPr>
          <p:sp>
            <p:nvSpPr>
              <p:cNvPr id="265" name="Google Shape;265;p21"/>
              <p:cNvSpPr/>
              <p:nvPr/>
            </p:nvSpPr>
            <p:spPr>
              <a:xfrm>
                <a:off x="4557733" y="2434359"/>
                <a:ext cx="512624" cy="510606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72" extrusionOk="0">
                    <a:moveTo>
                      <a:pt x="86" y="21"/>
                    </a:moveTo>
                    <a:cubicBezTo>
                      <a:pt x="122" y="21"/>
                      <a:pt x="151" y="50"/>
                      <a:pt x="151" y="86"/>
                    </a:cubicBezTo>
                    <a:cubicBezTo>
                      <a:pt x="151" y="122"/>
                      <a:pt x="122" y="151"/>
                      <a:pt x="86" y="151"/>
                    </a:cubicBezTo>
                    <a:cubicBezTo>
                      <a:pt x="50" y="151"/>
                      <a:pt x="21" y="122"/>
                      <a:pt x="21" y="86"/>
                    </a:cubicBezTo>
                    <a:cubicBezTo>
                      <a:pt x="21" y="50"/>
                      <a:pt x="50" y="21"/>
                      <a:pt x="86" y="21"/>
                    </a:cubicBezTo>
                    <a:moveTo>
                      <a:pt x="86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4"/>
                      <a:pt x="38" y="172"/>
                      <a:pt x="86" y="172"/>
                    </a:cubicBezTo>
                    <a:cubicBezTo>
                      <a:pt x="134" y="172"/>
                      <a:pt x="172" y="134"/>
                      <a:pt x="172" y="86"/>
                    </a:cubicBezTo>
                    <a:cubicBezTo>
                      <a:pt x="172" y="38"/>
                      <a:pt x="134" y="0"/>
                      <a:pt x="8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66" name="Google Shape;266;p21"/>
              <p:cNvSpPr/>
              <p:nvPr/>
            </p:nvSpPr>
            <p:spPr>
              <a:xfrm>
                <a:off x="4781753" y="2529215"/>
                <a:ext cx="129165" cy="254294"/>
              </a:xfrm>
              <a:custGeom>
                <a:avLst/>
                <a:gdLst/>
                <a:ahLst/>
                <a:cxnLst/>
                <a:rect l="l" t="t" r="r" b="b"/>
                <a:pathLst>
                  <a:path w="44" h="86" extrusionOk="0">
                    <a:moveTo>
                      <a:pt x="33" y="86"/>
                    </a:moveTo>
                    <a:cubicBezTo>
                      <a:pt x="30" y="86"/>
                      <a:pt x="27" y="85"/>
                      <a:pt x="25" y="83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1" y="60"/>
                      <a:pt x="0" y="57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4" y="72"/>
                      <a:pt x="44" y="79"/>
                      <a:pt x="40" y="83"/>
                    </a:cubicBezTo>
                    <a:cubicBezTo>
                      <a:pt x="38" y="85"/>
                      <a:pt x="35" y="86"/>
                      <a:pt x="33" y="8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67" name="Google Shape;267;p21"/>
            <p:cNvGrpSpPr/>
            <p:nvPr/>
          </p:nvGrpSpPr>
          <p:grpSpPr>
            <a:xfrm>
              <a:off x="5930134" y="1546509"/>
              <a:ext cx="438265" cy="421472"/>
              <a:chOff x="6159731" y="1864447"/>
              <a:chExt cx="469385" cy="451400"/>
            </a:xfrm>
          </p:grpSpPr>
          <p:sp>
            <p:nvSpPr>
              <p:cNvPr id="268" name="Google Shape;268;p21"/>
              <p:cNvSpPr/>
              <p:nvPr/>
            </p:nvSpPr>
            <p:spPr>
              <a:xfrm>
                <a:off x="6288812" y="1864447"/>
                <a:ext cx="211200" cy="213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69" name="Google Shape;269;p21"/>
              <p:cNvSpPr/>
              <p:nvPr/>
            </p:nvSpPr>
            <p:spPr>
              <a:xfrm>
                <a:off x="6159731" y="2111736"/>
                <a:ext cx="469385" cy="204111"/>
              </a:xfrm>
              <a:custGeom>
                <a:avLst/>
                <a:gdLst/>
                <a:ahLst/>
                <a:cxnLst/>
                <a:rect l="l" t="t" r="r" b="b"/>
                <a:pathLst>
                  <a:path w="200" h="87" extrusionOk="0">
                    <a:moveTo>
                      <a:pt x="35" y="87"/>
                    </a:moveTo>
                    <a:cubicBezTo>
                      <a:pt x="35" y="72"/>
                      <a:pt x="35" y="72"/>
                      <a:pt x="35" y="72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6" y="87"/>
                      <a:pt x="46" y="87"/>
                      <a:pt x="46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5" y="72"/>
                      <a:pt x="155" y="72"/>
                      <a:pt x="155" y="72"/>
                    </a:cubicBezTo>
                    <a:cubicBezTo>
                      <a:pt x="166" y="72"/>
                      <a:pt x="166" y="72"/>
                      <a:pt x="166" y="72"/>
                    </a:cubicBezTo>
                    <a:cubicBezTo>
                      <a:pt x="166" y="87"/>
                      <a:pt x="166" y="87"/>
                      <a:pt x="166" y="87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9" y="47"/>
                      <a:pt x="200" y="43"/>
                      <a:pt x="200" y="43"/>
                    </a:cubicBezTo>
                    <a:cubicBezTo>
                      <a:pt x="200" y="19"/>
                      <a:pt x="180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0" y="0"/>
                      <a:pt x="140" y="0"/>
                      <a:pt x="140" y="0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4" y="0"/>
                      <a:pt x="44" y="0"/>
                    </a:cubicBezTo>
                    <a:cubicBezTo>
                      <a:pt x="20" y="0"/>
                      <a:pt x="1" y="19"/>
                      <a:pt x="1" y="43"/>
                    </a:cubicBezTo>
                    <a:cubicBezTo>
                      <a:pt x="1" y="43"/>
                      <a:pt x="0" y="47"/>
                      <a:pt x="0" y="87"/>
                    </a:cubicBezTo>
                    <a:lnTo>
                      <a:pt x="3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70" name="Google Shape;270;p21"/>
            <p:cNvGrpSpPr/>
            <p:nvPr/>
          </p:nvGrpSpPr>
          <p:grpSpPr>
            <a:xfrm>
              <a:off x="4034207" y="3712154"/>
              <a:ext cx="396175" cy="343351"/>
              <a:chOff x="7090992" y="4839631"/>
              <a:chExt cx="424306" cy="367732"/>
            </a:xfrm>
          </p:grpSpPr>
          <p:sp>
            <p:nvSpPr>
              <p:cNvPr id="271" name="Google Shape;271;p21"/>
              <p:cNvSpPr/>
              <p:nvPr/>
            </p:nvSpPr>
            <p:spPr>
              <a:xfrm>
                <a:off x="7156995" y="4994536"/>
                <a:ext cx="86882" cy="152885"/>
              </a:xfrm>
              <a:custGeom>
                <a:avLst/>
                <a:gdLst/>
                <a:ahLst/>
                <a:cxnLst/>
                <a:rect l="l" t="t" r="r" b="b"/>
                <a:pathLst>
                  <a:path w="54" h="95" extrusionOk="0">
                    <a:moveTo>
                      <a:pt x="4" y="95"/>
                    </a:moveTo>
                    <a:cubicBezTo>
                      <a:pt x="49" y="95"/>
                      <a:pt x="49" y="95"/>
                      <a:pt x="49" y="95"/>
                    </a:cubicBezTo>
                    <a:cubicBezTo>
                      <a:pt x="52" y="95"/>
                      <a:pt x="54" y="93"/>
                      <a:pt x="54" y="90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2" y="95"/>
                      <a:pt x="4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72" name="Google Shape;272;p21"/>
              <p:cNvSpPr/>
              <p:nvPr/>
            </p:nvSpPr>
            <p:spPr>
              <a:xfrm>
                <a:off x="7282266" y="4937962"/>
                <a:ext cx="86882" cy="209459"/>
              </a:xfrm>
              <a:custGeom>
                <a:avLst/>
                <a:gdLst/>
                <a:ahLst/>
                <a:cxnLst/>
                <a:rect l="l" t="t" r="r" b="b"/>
                <a:pathLst>
                  <a:path w="54" h="130" extrusionOk="0">
                    <a:moveTo>
                      <a:pt x="5" y="130"/>
                    </a:moveTo>
                    <a:cubicBezTo>
                      <a:pt x="50" y="130"/>
                      <a:pt x="50" y="130"/>
                      <a:pt x="50" y="130"/>
                    </a:cubicBezTo>
                    <a:cubicBezTo>
                      <a:pt x="52" y="130"/>
                      <a:pt x="54" y="128"/>
                      <a:pt x="54" y="12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5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0" y="128"/>
                      <a:pt x="2" y="130"/>
                      <a:pt x="5" y="1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73" name="Google Shape;273;p21"/>
              <p:cNvSpPr/>
              <p:nvPr/>
            </p:nvSpPr>
            <p:spPr>
              <a:xfrm>
                <a:off x="7408885" y="4891491"/>
                <a:ext cx="86882" cy="255931"/>
              </a:xfrm>
              <a:custGeom>
                <a:avLst/>
                <a:gdLst/>
                <a:ahLst/>
                <a:cxnLst/>
                <a:rect l="l" t="t" r="r" b="b"/>
                <a:pathLst>
                  <a:path w="54" h="159" extrusionOk="0">
                    <a:moveTo>
                      <a:pt x="4" y="159"/>
                    </a:moveTo>
                    <a:cubicBezTo>
                      <a:pt x="49" y="159"/>
                      <a:pt x="49" y="159"/>
                      <a:pt x="49" y="159"/>
                    </a:cubicBezTo>
                    <a:cubicBezTo>
                      <a:pt x="52" y="159"/>
                      <a:pt x="54" y="157"/>
                      <a:pt x="54" y="154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7"/>
                      <a:pt x="2" y="159"/>
                      <a:pt x="4" y="1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74" name="Google Shape;274;p21"/>
              <p:cNvSpPr/>
              <p:nvPr/>
            </p:nvSpPr>
            <p:spPr>
              <a:xfrm>
                <a:off x="7090992" y="4839631"/>
                <a:ext cx="424306" cy="367732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28" extrusionOk="0">
                    <a:moveTo>
                      <a:pt x="253" y="206"/>
                    </a:moveTo>
                    <a:cubicBezTo>
                      <a:pt x="23" y="206"/>
                      <a:pt x="23" y="206"/>
                      <a:pt x="23" y="206"/>
                    </a:cubicBezTo>
                    <a:cubicBezTo>
                      <a:pt x="22" y="206"/>
                      <a:pt x="22" y="206"/>
                      <a:pt x="22" y="206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5"/>
                      <a:pt x="17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0" y="218"/>
                      <a:pt x="10" y="228"/>
                      <a:pt x="23" y="228"/>
                    </a:cubicBezTo>
                    <a:cubicBezTo>
                      <a:pt x="253" y="228"/>
                      <a:pt x="253" y="228"/>
                      <a:pt x="253" y="228"/>
                    </a:cubicBezTo>
                    <a:cubicBezTo>
                      <a:pt x="259" y="228"/>
                      <a:pt x="264" y="223"/>
                      <a:pt x="264" y="217"/>
                    </a:cubicBezTo>
                    <a:cubicBezTo>
                      <a:pt x="264" y="211"/>
                      <a:pt x="259" y="206"/>
                      <a:pt x="253" y="2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75" name="Google Shape;275;p21"/>
            <p:cNvGrpSpPr/>
            <p:nvPr/>
          </p:nvGrpSpPr>
          <p:grpSpPr>
            <a:xfrm>
              <a:off x="8189171" y="3651806"/>
              <a:ext cx="364675" cy="360915"/>
              <a:chOff x="4270293" y="4090633"/>
              <a:chExt cx="390570" cy="386543"/>
            </a:xfrm>
          </p:grpSpPr>
          <p:sp>
            <p:nvSpPr>
              <p:cNvPr id="276" name="Google Shape;276;p21"/>
              <p:cNvSpPr/>
              <p:nvPr/>
            </p:nvSpPr>
            <p:spPr>
              <a:xfrm>
                <a:off x="4270293" y="4307258"/>
                <a:ext cx="390570" cy="16991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89" extrusionOk="0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77" name="Google Shape;277;p21"/>
              <p:cNvSpPr/>
              <p:nvPr/>
            </p:nvSpPr>
            <p:spPr>
              <a:xfrm>
                <a:off x="4270293" y="4090633"/>
                <a:ext cx="390570" cy="22467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18" extrusionOk="0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278" name="Google Shape;278;p21"/>
            <p:cNvSpPr/>
            <p:nvPr/>
          </p:nvSpPr>
          <p:spPr>
            <a:xfrm>
              <a:off x="5204058" y="2867849"/>
              <a:ext cx="7446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6436986" y="2877142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6382619" y="4203625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5037068" y="4149436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282" name="Google Shape;282;p21"/>
          <p:cNvGrpSpPr/>
          <p:nvPr/>
        </p:nvGrpSpPr>
        <p:grpSpPr>
          <a:xfrm>
            <a:off x="2552491" y="753033"/>
            <a:ext cx="6313447" cy="4256114"/>
            <a:chOff x="3202580" y="2364465"/>
            <a:chExt cx="8417929" cy="4920363"/>
          </a:xfrm>
        </p:grpSpPr>
        <p:grpSp>
          <p:nvGrpSpPr>
            <p:cNvPr id="283" name="Google Shape;283;p21"/>
            <p:cNvGrpSpPr/>
            <p:nvPr/>
          </p:nvGrpSpPr>
          <p:grpSpPr>
            <a:xfrm>
              <a:off x="3202715" y="2364465"/>
              <a:ext cx="7364543" cy="155729"/>
              <a:chOff x="4906190" y="1416527"/>
              <a:chExt cx="3933000" cy="166200"/>
            </a:xfrm>
          </p:grpSpPr>
          <p:sp>
            <p:nvSpPr>
              <p:cNvPr id="284" name="Google Shape;284;p21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rgbClr val="FFB85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85" name="Google Shape;285;p21"/>
              <p:cNvCxnSpPr>
                <a:stCxn id="284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86" name="Google Shape;286;p21"/>
            <p:cNvGrpSpPr/>
            <p:nvPr/>
          </p:nvGrpSpPr>
          <p:grpSpPr>
            <a:xfrm>
              <a:off x="3202715" y="3337167"/>
              <a:ext cx="7364543" cy="155729"/>
              <a:chOff x="4906190" y="2727732"/>
              <a:chExt cx="3933000" cy="166200"/>
            </a:xfrm>
          </p:grpSpPr>
          <p:sp>
            <p:nvSpPr>
              <p:cNvPr id="287" name="Google Shape;287;p21"/>
              <p:cNvSpPr/>
              <p:nvPr/>
            </p:nvSpPr>
            <p:spPr>
              <a:xfrm>
                <a:off x="4906190" y="2727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9525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88" name="Google Shape;288;p21"/>
              <p:cNvCxnSpPr>
                <a:stCxn id="287" idx="3"/>
              </p:cNvCxnSpPr>
              <p:nvPr/>
            </p:nvCxnSpPr>
            <p:spPr>
              <a:xfrm>
                <a:off x="5072390" y="2810832"/>
                <a:ext cx="3766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89" name="Google Shape;289;p21"/>
            <p:cNvGrpSpPr/>
            <p:nvPr/>
          </p:nvGrpSpPr>
          <p:grpSpPr>
            <a:xfrm>
              <a:off x="3202715" y="4273994"/>
              <a:ext cx="7364692" cy="155729"/>
              <a:chOff x="4906190" y="3870732"/>
              <a:chExt cx="3933080" cy="166200"/>
            </a:xfrm>
          </p:grpSpPr>
          <p:sp>
            <p:nvSpPr>
              <p:cNvPr id="290" name="Google Shape;290;p21"/>
              <p:cNvSpPr/>
              <p:nvPr/>
            </p:nvSpPr>
            <p:spPr>
              <a:xfrm>
                <a:off x="4906190" y="3870732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91" name="Google Shape;291;p21"/>
              <p:cNvCxnSpPr/>
              <p:nvPr/>
            </p:nvCxnSpPr>
            <p:spPr>
              <a:xfrm>
                <a:off x="5072470" y="3941172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92" name="Google Shape;292;p21"/>
            <p:cNvSpPr txBox="1"/>
            <p:nvPr/>
          </p:nvSpPr>
          <p:spPr>
            <a:xfrm>
              <a:off x="3202580" y="2532614"/>
              <a:ext cx="7364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6.系統需保存歷史借用紀錄</a:t>
              </a:r>
              <a:endParaRPr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293" name="Google Shape;293;p21"/>
            <p:cNvSpPr txBox="1"/>
            <p:nvPr/>
          </p:nvSpPr>
          <p:spPr>
            <a:xfrm>
              <a:off x="3202585" y="3500279"/>
              <a:ext cx="7739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7.管理員可管理教室資料</a:t>
              </a:r>
              <a:endParaRPr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294" name="Google Shape;294;p21"/>
            <p:cNvSpPr txBox="1"/>
            <p:nvPr/>
          </p:nvSpPr>
          <p:spPr>
            <a:xfrm>
              <a:off x="3202580" y="4467082"/>
              <a:ext cx="7364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8.系統記錄審核歷程(記錄審核者與操作內容)</a:t>
              </a:r>
              <a:endParaRPr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grpSp>
          <p:nvGrpSpPr>
            <p:cNvPr id="295" name="Google Shape;295;p21"/>
            <p:cNvGrpSpPr/>
            <p:nvPr/>
          </p:nvGrpSpPr>
          <p:grpSpPr>
            <a:xfrm>
              <a:off x="3203257" y="5213275"/>
              <a:ext cx="7364690" cy="155729"/>
              <a:chOff x="4989842" y="3870732"/>
              <a:chExt cx="3933079" cy="166200"/>
            </a:xfrm>
          </p:grpSpPr>
          <p:sp>
            <p:nvSpPr>
              <p:cNvPr id="296" name="Google Shape;296;p21"/>
              <p:cNvSpPr/>
              <p:nvPr/>
            </p:nvSpPr>
            <p:spPr>
              <a:xfrm>
                <a:off x="4989842" y="3870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9525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97" name="Google Shape;297;p21"/>
              <p:cNvCxnSpPr/>
              <p:nvPr/>
            </p:nvCxnSpPr>
            <p:spPr>
              <a:xfrm>
                <a:off x="5156121" y="3941172"/>
                <a:ext cx="3766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98" name="Google Shape;298;p21"/>
            <p:cNvSpPr txBox="1"/>
            <p:nvPr/>
          </p:nvSpPr>
          <p:spPr>
            <a:xfrm>
              <a:off x="3203109" y="5406353"/>
              <a:ext cx="8417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9.使用者可取消尚未開始的借用申請</a:t>
              </a:r>
              <a:endParaRPr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grpSp>
          <p:nvGrpSpPr>
            <p:cNvPr id="299" name="Google Shape;299;p21"/>
            <p:cNvGrpSpPr/>
            <p:nvPr/>
          </p:nvGrpSpPr>
          <p:grpSpPr>
            <a:xfrm>
              <a:off x="3220079" y="5981151"/>
              <a:ext cx="7364542" cy="155729"/>
              <a:chOff x="4906190" y="1416527"/>
              <a:chExt cx="3933000" cy="166200"/>
            </a:xfrm>
          </p:grpSpPr>
          <p:sp>
            <p:nvSpPr>
              <p:cNvPr id="300" name="Google Shape;300;p21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rgbClr val="FFB85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301" name="Google Shape;301;p21"/>
              <p:cNvCxnSpPr>
                <a:stCxn id="300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302" name="Google Shape;302;p21"/>
            <p:cNvSpPr txBox="1"/>
            <p:nvPr/>
          </p:nvSpPr>
          <p:spPr>
            <a:xfrm>
              <a:off x="3202584" y="6306227"/>
              <a:ext cx="8278800" cy="97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10.記錄並管理教室所包含之設備資訊</a:t>
              </a:r>
              <a:endParaRPr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lvl="0" indent="342900" algn="l" rtl="0">
                <a:lnSpc>
                  <a:spcPct val="115000"/>
                </a:lnSpc>
                <a:spcBef>
                  <a:spcPts val="90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（如投影機、麥克風等）</a:t>
              </a:r>
              <a:endParaRPr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</p:grpSp>
      <p:sp>
        <p:nvSpPr>
          <p:cNvPr id="303" name="Google Shape;30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/>
        </p:nvSpPr>
        <p:spPr>
          <a:xfrm>
            <a:off x="4697081" y="3168722"/>
            <a:ext cx="4158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SzPts val="800"/>
              <a:buNone/>
            </a:pPr>
            <a:r>
              <a:rPr lang="zh-TW" sz="27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ER Diagram</a:t>
            </a:r>
            <a:endParaRPr sz="27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310" name="Google Shape;310;p22"/>
          <p:cNvGrpSpPr/>
          <p:nvPr/>
        </p:nvGrpSpPr>
        <p:grpSpPr>
          <a:xfrm>
            <a:off x="3502220" y="2918232"/>
            <a:ext cx="844541" cy="932257"/>
            <a:chOff x="589141" y="2173776"/>
            <a:chExt cx="1126055" cy="1243010"/>
          </a:xfrm>
        </p:grpSpPr>
        <p:grpSp>
          <p:nvGrpSpPr>
            <p:cNvPr id="311" name="Google Shape;311;p22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312" name="Google Shape;312;p22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313" name="Google Shape;313;p22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314" name="Google Shape;314;p22"/>
            <p:cNvSpPr txBox="1"/>
            <p:nvPr/>
          </p:nvSpPr>
          <p:spPr>
            <a:xfrm>
              <a:off x="907668" y="2220553"/>
              <a:ext cx="6111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4100" b="1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</a:t>
              </a:r>
              <a:endParaRPr sz="4100" b="1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315" name="Google Shape;31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3"/>
          <p:cNvGrpSpPr/>
          <p:nvPr/>
        </p:nvGrpSpPr>
        <p:grpSpPr>
          <a:xfrm>
            <a:off x="382271" y="221975"/>
            <a:ext cx="3611301" cy="466778"/>
            <a:chOff x="956666" y="3447847"/>
            <a:chExt cx="4815068" cy="622371"/>
          </a:xfrm>
        </p:grpSpPr>
        <p:sp>
          <p:nvSpPr>
            <p:cNvPr id="322" name="Google Shape;322;p23"/>
            <p:cNvSpPr txBox="1"/>
            <p:nvPr/>
          </p:nvSpPr>
          <p:spPr>
            <a:xfrm>
              <a:off x="1581034" y="3447847"/>
              <a:ext cx="41907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ER diagram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23" name="Google Shape;323;p23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24" name="Google Shape;324;p23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pic>
        <p:nvPicPr>
          <p:cNvPr id="325" name="Google Shape;325;p23" title="資料庫系統-ERD.drawio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725" y="697850"/>
            <a:ext cx="7100550" cy="44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3" title="資料庫系統-ERD-簡圖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160" y="685925"/>
            <a:ext cx="8047689" cy="44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/>
          <p:nvPr/>
        </p:nvSpPr>
        <p:spPr>
          <a:xfrm>
            <a:off x="4697081" y="3168722"/>
            <a:ext cx="4158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SzPts val="800"/>
              <a:buNone/>
            </a:pPr>
            <a:r>
              <a:rPr lang="zh-TW" sz="27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完整性限制</a:t>
            </a:r>
            <a:endParaRPr sz="27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334" name="Google Shape;334;p24"/>
          <p:cNvGrpSpPr/>
          <p:nvPr/>
        </p:nvGrpSpPr>
        <p:grpSpPr>
          <a:xfrm>
            <a:off x="3502220" y="2918232"/>
            <a:ext cx="844541" cy="932257"/>
            <a:chOff x="589141" y="2173776"/>
            <a:chExt cx="1126055" cy="1243010"/>
          </a:xfrm>
        </p:grpSpPr>
        <p:grpSp>
          <p:nvGrpSpPr>
            <p:cNvPr id="335" name="Google Shape;335;p24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336" name="Google Shape;336;p24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337" name="Google Shape;337;p24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338" name="Google Shape;338;p24"/>
            <p:cNvSpPr txBox="1"/>
            <p:nvPr/>
          </p:nvSpPr>
          <p:spPr>
            <a:xfrm>
              <a:off x="907668" y="2220553"/>
              <a:ext cx="6111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4100" b="1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4</a:t>
              </a:r>
              <a:endParaRPr sz="4100" b="1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25"/>
          <p:cNvGrpSpPr/>
          <p:nvPr/>
        </p:nvGrpSpPr>
        <p:grpSpPr>
          <a:xfrm>
            <a:off x="382271" y="221981"/>
            <a:ext cx="3290235" cy="466772"/>
            <a:chOff x="956666" y="3447855"/>
            <a:chExt cx="4386980" cy="622363"/>
          </a:xfrm>
        </p:grpSpPr>
        <p:sp>
          <p:nvSpPr>
            <p:cNvPr id="345" name="Google Shape;345;p25"/>
            <p:cNvSpPr txBox="1"/>
            <p:nvPr/>
          </p:nvSpPr>
          <p:spPr>
            <a:xfrm>
              <a:off x="1581046" y="3447855"/>
              <a:ext cx="37626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User (使用者)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aphicFrame>
        <p:nvGraphicFramePr>
          <p:cNvPr id="348" name="Google Shape;348;p25"/>
          <p:cNvGraphicFramePr/>
          <p:nvPr/>
        </p:nvGraphicFramePr>
        <p:xfrm>
          <a:off x="3067444" y="1209994"/>
          <a:ext cx="5948225" cy="240811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93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sz="1300" b="1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sz="1300" b="1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 sz="1300" b="1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 sz="1300" b="1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user_id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主鍵，使用者唯一識別碼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前綴字母+數字；S=學生、T=教師、A=管理員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name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姓名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長度為1~50的文字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phone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聯絡電話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09開頭之10位數字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role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角色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'S'、'T'、'A' 三者之一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9" name="Google Shape;349;p25" title="ERD-使用者提出借用申請-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00" y="769750"/>
            <a:ext cx="2895930" cy="43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6"/>
          <p:cNvGrpSpPr/>
          <p:nvPr/>
        </p:nvGrpSpPr>
        <p:grpSpPr>
          <a:xfrm>
            <a:off x="382271" y="221981"/>
            <a:ext cx="3401835" cy="466772"/>
            <a:chOff x="956666" y="3447855"/>
            <a:chExt cx="4535780" cy="622363"/>
          </a:xfrm>
        </p:grpSpPr>
        <p:sp>
          <p:nvSpPr>
            <p:cNvPr id="357" name="Google Shape;357;p26"/>
            <p:cNvSpPr txBox="1"/>
            <p:nvPr/>
          </p:nvSpPr>
          <p:spPr>
            <a:xfrm>
              <a:off x="1581046" y="3447855"/>
              <a:ext cx="39114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User (使用者)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360" name="Google Shape;360;p26"/>
          <p:cNvSpPr txBox="1"/>
          <p:nvPr/>
        </p:nvSpPr>
        <p:spPr>
          <a:xfrm>
            <a:off x="383850" y="1646400"/>
            <a:ext cx="8376300" cy="18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3810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user_id 為主鍵，值必須唯一且非空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role 合法值為：'S'、'T'、'A'，分別代表學生、教師、管理員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phone 若有填寫，需符合 09 開頭之 10 位數字格式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至少需有一筆 role = 'A' 的管理員資料，否則系統無法進行審核與管理功能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7"/>
          <p:cNvGrpSpPr/>
          <p:nvPr/>
        </p:nvGrpSpPr>
        <p:grpSpPr>
          <a:xfrm>
            <a:off x="382271" y="221981"/>
            <a:ext cx="3558210" cy="466772"/>
            <a:chOff x="956666" y="3447855"/>
            <a:chExt cx="4744280" cy="622363"/>
          </a:xfrm>
        </p:grpSpPr>
        <p:sp>
          <p:nvSpPr>
            <p:cNvPr id="367" name="Google Shape;367;p27"/>
            <p:cNvSpPr txBox="1"/>
            <p:nvPr/>
          </p:nvSpPr>
          <p:spPr>
            <a:xfrm>
              <a:off x="1581046" y="3447855"/>
              <a:ext cx="41199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Room (教室)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aphicFrame>
        <p:nvGraphicFramePr>
          <p:cNvPr id="370" name="Google Shape;370;p27"/>
          <p:cNvGraphicFramePr/>
          <p:nvPr/>
        </p:nvGraphicFramePr>
        <p:xfrm>
          <a:off x="3067444" y="1389778"/>
          <a:ext cx="5919850" cy="3223335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87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sz="11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5250" marR="95250" marT="47625" marB="47625" anchor="ctr">
                    <a:lnL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sz="11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5250" marR="95250" marT="47625" marB="47625" anchor="ctr">
                    <a:lnL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47625" marB="47625" anchor="ctr">
                    <a:lnL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47625" marB="47625" anchor="ctr">
                    <a:lnL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room_id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主鍵，教室代碼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長度7~10之英數字，例如 BGC0614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room_name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教室名稱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長度1~20文字，且不可重複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location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位置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長度為3~50的文字，</a:t>
                      </a: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例如：綜三館 6F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capacity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可容人數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1~100 的整數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status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教室狀態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'Available'、'UnderMaintenance'、'Disabled' 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71" name="Google Shape;371;p27" title="ERD-借用申請借用教室-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2675"/>
            <a:ext cx="3032825" cy="40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28"/>
          <p:cNvGrpSpPr/>
          <p:nvPr/>
        </p:nvGrpSpPr>
        <p:grpSpPr>
          <a:xfrm>
            <a:off x="382271" y="221981"/>
            <a:ext cx="3401835" cy="466772"/>
            <a:chOff x="956666" y="3447855"/>
            <a:chExt cx="4535780" cy="622363"/>
          </a:xfrm>
        </p:grpSpPr>
        <p:sp>
          <p:nvSpPr>
            <p:cNvPr id="378" name="Google Shape;378;p28"/>
            <p:cNvSpPr txBox="1"/>
            <p:nvPr/>
          </p:nvSpPr>
          <p:spPr>
            <a:xfrm>
              <a:off x="1581046" y="3447855"/>
              <a:ext cx="39114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Room (教室)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381" name="Google Shape;381;p28"/>
          <p:cNvSpPr txBox="1"/>
          <p:nvPr/>
        </p:nvSpPr>
        <p:spPr>
          <a:xfrm>
            <a:off x="100900" y="1283275"/>
            <a:ext cx="9255600" cy="3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room_id 為主鍵，值必須唯一且非空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room_name 必須唯一，避免同名教室造成混淆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capacity 必須介於 1 至 100 之間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status 合法值為：'Available'、'UnderMaintenance'、'Disabled'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若 status = 'UnderMaintenance' 或 'Disabled'，則該教室不可被核准為 Approved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29"/>
          <p:cNvGrpSpPr/>
          <p:nvPr/>
        </p:nvGrpSpPr>
        <p:grpSpPr>
          <a:xfrm>
            <a:off x="382271" y="221981"/>
            <a:ext cx="4546410" cy="466772"/>
            <a:chOff x="956666" y="3447855"/>
            <a:chExt cx="6061880" cy="622363"/>
          </a:xfrm>
        </p:grpSpPr>
        <p:sp>
          <p:nvSpPr>
            <p:cNvPr id="388" name="Google Shape;388;p29"/>
            <p:cNvSpPr txBox="1"/>
            <p:nvPr/>
          </p:nvSpPr>
          <p:spPr>
            <a:xfrm>
              <a:off x="1581046" y="3447855"/>
              <a:ext cx="54375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Equipment (教室設備)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aphicFrame>
        <p:nvGraphicFramePr>
          <p:cNvPr id="391" name="Google Shape;391;p29"/>
          <p:cNvGraphicFramePr/>
          <p:nvPr>
            <p:extLst>
              <p:ext uri="{D42A27DB-BD31-4B8C-83A1-F6EECF244321}">
                <p14:modId xmlns:p14="http://schemas.microsoft.com/office/powerpoint/2010/main" val="2122527746"/>
              </p:ext>
            </p:extLst>
          </p:nvPr>
        </p:nvGraphicFramePr>
        <p:xfrm>
          <a:off x="3174797" y="1422203"/>
          <a:ext cx="5842516" cy="3223335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985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eq_id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主鍵，設備唯一識別碼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正整數，由系統指定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eq_name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設備名稱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長度1~30文字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dirty="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eq_desc</a:t>
                      </a:r>
                      <a:endParaRPr sz="1200" dirty="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設備說明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例如 HDMI 投影機、無線麥克風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room_id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外鍵，對應教室編號 (Room.room_id)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參考 Room 的 room_id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status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設備狀態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dirty="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'Available'、'UnderMaintenance'、'Disabled'</a:t>
                      </a:r>
                      <a:endParaRPr sz="1200" dirty="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92" name="Google Shape;392;p29" title="ERD-教室包含設備-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" y="1422200"/>
            <a:ext cx="3030875" cy="340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30"/>
          <p:cNvGrpSpPr/>
          <p:nvPr/>
        </p:nvGrpSpPr>
        <p:grpSpPr>
          <a:xfrm>
            <a:off x="382237" y="221981"/>
            <a:ext cx="4563952" cy="466772"/>
            <a:chOff x="956666" y="3447855"/>
            <a:chExt cx="5712080" cy="622363"/>
          </a:xfrm>
        </p:grpSpPr>
        <p:sp>
          <p:nvSpPr>
            <p:cNvPr id="399" name="Google Shape;399;p30"/>
            <p:cNvSpPr txBox="1"/>
            <p:nvPr/>
          </p:nvSpPr>
          <p:spPr>
            <a:xfrm>
              <a:off x="1581046" y="3447855"/>
              <a:ext cx="50877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Equipment (教室設備)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01" name="Google Shape;401;p3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402" name="Google Shape;402;p30"/>
          <p:cNvSpPr txBox="1"/>
          <p:nvPr/>
        </p:nvSpPr>
        <p:spPr>
          <a:xfrm>
            <a:off x="145525" y="1112400"/>
            <a:ext cx="9070500" cy="3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eq_id 為主鍵，值必須唯一且非空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eq_name 在同一 room_id 下不可重複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room_id 必須對應到 Room.room_id（外鍵約束）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eq_desc 用於記錄設備補充說明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status 合法值為：'Available'、'UnderMaintenance'、'Disabled'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若設備 status = 'Disabled'，則不顯示於一般使用者查詢結果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31"/>
          <p:cNvGrpSpPr/>
          <p:nvPr/>
        </p:nvGrpSpPr>
        <p:grpSpPr>
          <a:xfrm>
            <a:off x="382271" y="221981"/>
            <a:ext cx="5222535" cy="466772"/>
            <a:chOff x="956666" y="3447855"/>
            <a:chExt cx="6963380" cy="622363"/>
          </a:xfrm>
        </p:grpSpPr>
        <p:sp>
          <p:nvSpPr>
            <p:cNvPr id="409" name="Google Shape;409;p31"/>
            <p:cNvSpPr txBox="1"/>
            <p:nvPr/>
          </p:nvSpPr>
          <p:spPr>
            <a:xfrm>
              <a:off x="1581046" y="3447855"/>
              <a:ext cx="63390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BorrowRequest (借用申請)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aphicFrame>
        <p:nvGraphicFramePr>
          <p:cNvPr id="412" name="Google Shape;412;p31"/>
          <p:cNvGraphicFramePr/>
          <p:nvPr/>
        </p:nvGraphicFramePr>
        <p:xfrm>
          <a:off x="2900288" y="827031"/>
          <a:ext cx="6038800" cy="3970205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98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req_id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主鍵，借用申請唯一識別碼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正整數，由系統指定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user_id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外鍵，對應借用者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(User.user_id)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參考 User.user_id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room_id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外鍵，對應借用教室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(Room.room_id)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參考 Room.room_id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start_date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借用開始日期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合法日期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end_date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借用結束日期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不可早於 start_date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weekday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長期借用星期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1~7；短期借用可為 NULL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start_time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借用起始時間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08:10 以後，且早於 end_time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13" name="Google Shape;413;p31" title="ERD-借用申請產生審核歷程-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2150"/>
            <a:ext cx="2900300" cy="433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2"/>
          <p:cNvGrpSpPr/>
          <p:nvPr/>
        </p:nvGrpSpPr>
        <p:grpSpPr>
          <a:xfrm>
            <a:off x="382271" y="221981"/>
            <a:ext cx="5222535" cy="466772"/>
            <a:chOff x="956666" y="3447855"/>
            <a:chExt cx="6963380" cy="622363"/>
          </a:xfrm>
        </p:grpSpPr>
        <p:sp>
          <p:nvSpPr>
            <p:cNvPr id="420" name="Google Shape;420;p32"/>
            <p:cNvSpPr txBox="1"/>
            <p:nvPr/>
          </p:nvSpPr>
          <p:spPr>
            <a:xfrm>
              <a:off x="1581046" y="3447855"/>
              <a:ext cx="63390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BorrowRequest (借用申請)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21" name="Google Shape;421;p32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2" name="Google Shape;422;p32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aphicFrame>
        <p:nvGraphicFramePr>
          <p:cNvPr id="423" name="Google Shape;423;p32"/>
          <p:cNvGraphicFramePr/>
          <p:nvPr/>
        </p:nvGraphicFramePr>
        <p:xfrm>
          <a:off x="2927031" y="841184"/>
          <a:ext cx="6091075" cy="415629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135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 sz="1200"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end_time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借用結束時間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22:30 以前，且晚於 start_time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purpose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用途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長度1~100的文字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borrow_type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借用類型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'ShortTerm'、'LongTerm'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status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申請狀態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'Pending'、'Approved'、'Rejected'、'Cancelled'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created_at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申請建立時間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系統自動記錄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reviewed_at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審核完成時間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核准或拒絕時記錄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cancelled_at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取消時間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使用者取消時記錄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is_cleared / cleared_at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清除系統欄位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依欄位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Y/N 與清除時間</a:t>
                      </a:r>
                      <a:endParaRPr sz="1200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24" name="Google Shape;424;p32" title="ERD-借用申請產生審核歷程-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2150"/>
            <a:ext cx="2927025" cy="43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33"/>
          <p:cNvGrpSpPr/>
          <p:nvPr/>
        </p:nvGrpSpPr>
        <p:grpSpPr>
          <a:xfrm>
            <a:off x="382237" y="221981"/>
            <a:ext cx="5437417" cy="466772"/>
            <a:chOff x="956666" y="3447855"/>
            <a:chExt cx="6805278" cy="622363"/>
          </a:xfrm>
        </p:grpSpPr>
        <p:sp>
          <p:nvSpPr>
            <p:cNvPr id="431" name="Google Shape;431;p33"/>
            <p:cNvSpPr txBox="1"/>
            <p:nvPr/>
          </p:nvSpPr>
          <p:spPr>
            <a:xfrm>
              <a:off x="1581044" y="3447855"/>
              <a:ext cx="61809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BorrowRequest (借用申請)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32" name="Google Shape;432;p33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33" name="Google Shape;433;p33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434" name="Google Shape;434;p33"/>
          <p:cNvSpPr txBox="1"/>
          <p:nvPr/>
        </p:nvSpPr>
        <p:spPr>
          <a:xfrm>
            <a:off x="219600" y="1074896"/>
            <a:ext cx="8704800" cy="36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req_id 為主鍵，值必須唯一且非空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user_id 必須對應到 User.user_id（外鍵）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room_id 必須對應到 Room.room_id（外鍵）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start_date 不可晚於 end_date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start_time 必須早於 end_time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borrow_type 合法值為：'ShortTerm'、'LongTerm'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若 borrow_type = 'LongTerm'，則 weekday 不可為空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800100" lvl="0" indent="-342900" algn="l" rtl="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440;p34"/>
          <p:cNvGrpSpPr/>
          <p:nvPr/>
        </p:nvGrpSpPr>
        <p:grpSpPr>
          <a:xfrm>
            <a:off x="382237" y="221981"/>
            <a:ext cx="5437417" cy="466772"/>
            <a:chOff x="956666" y="3447855"/>
            <a:chExt cx="6805278" cy="622363"/>
          </a:xfrm>
        </p:grpSpPr>
        <p:sp>
          <p:nvSpPr>
            <p:cNvPr id="441" name="Google Shape;441;p34"/>
            <p:cNvSpPr txBox="1"/>
            <p:nvPr/>
          </p:nvSpPr>
          <p:spPr>
            <a:xfrm>
              <a:off x="1581044" y="3447855"/>
              <a:ext cx="61809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BorrowRequest (借用申請)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43" name="Google Shape;443;p34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444" name="Google Shape;444;p34"/>
          <p:cNvSpPr txBox="1"/>
          <p:nvPr/>
        </p:nvSpPr>
        <p:spPr>
          <a:xfrm>
            <a:off x="69835" y="1200814"/>
            <a:ext cx="91440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status 合法值為：'Pending'、'Approved'、'Rejected’</a:t>
            </a:r>
            <a:endParaRPr lang="en-US" altLang="zh-TW"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	</a:t>
            </a: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、'Cancelled'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同一 room_id、日期區間重疊、時間區間重疊，且 status = 'Approved' 的借用紀錄不可同時存在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若 Room.status = 'UnderMaintenance' 或 'Disabled’</a:t>
            </a:r>
            <a:endParaRPr lang="en-US" altLang="zh-TW"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	</a:t>
            </a: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，則該申請不可被核准為 Approved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reviewed_at 不可早於 created_at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若 status = 'Cancelled'，則 cancelled_at 不可為空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is_cleared 合法值為 'Y' 或 'N'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35"/>
          <p:cNvGrpSpPr/>
          <p:nvPr/>
        </p:nvGrpSpPr>
        <p:grpSpPr>
          <a:xfrm>
            <a:off x="382271" y="221981"/>
            <a:ext cx="4435935" cy="466772"/>
            <a:chOff x="956666" y="3447855"/>
            <a:chExt cx="5914580" cy="622363"/>
          </a:xfrm>
        </p:grpSpPr>
        <p:sp>
          <p:nvSpPr>
            <p:cNvPr id="451" name="Google Shape;451;p35"/>
            <p:cNvSpPr txBox="1"/>
            <p:nvPr/>
          </p:nvSpPr>
          <p:spPr>
            <a:xfrm>
              <a:off x="1581046" y="3447855"/>
              <a:ext cx="52902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AuditLog (審核歷程)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52" name="Google Shape;452;p35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53" name="Google Shape;453;p35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aphicFrame>
        <p:nvGraphicFramePr>
          <p:cNvPr id="454" name="Google Shape;454;p35"/>
          <p:cNvGraphicFramePr/>
          <p:nvPr/>
        </p:nvGraphicFramePr>
        <p:xfrm>
          <a:off x="3121725" y="1069847"/>
          <a:ext cx="5949875" cy="385568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9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sz="1200" b="1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sz="1200" b="1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 sz="1200" b="1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 sz="1200" b="1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log_id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主鍵，審核紀錄唯一識別碼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正整數，由系統指定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req_id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外鍵，對應借用申請編號 (BorrowRequest.req_id)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參考 BorrowRequest.req_id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admin_id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外鍵，對應審核者 (User.user_id)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參考 User.user_id，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且 role 必須為 'A'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action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操作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'Approve'、'Reject' 兩者之一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reason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拒絕原因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長度1~200的文字(</a:t>
                      </a: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action = 'Reject' 時必填)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timestamp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審核完成時間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不早於對應申請的 created_at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55" name="Google Shape;455;p35" title="ERD-使用者執行審核審核歷程-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02" y="722150"/>
            <a:ext cx="2851998" cy="442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6"/>
          <p:cNvSpPr txBox="1"/>
          <p:nvPr/>
        </p:nvSpPr>
        <p:spPr>
          <a:xfrm>
            <a:off x="668425" y="1097275"/>
            <a:ext cx="8629200" cy="410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log_id 為主鍵，值必須唯一且非空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req_id 必須對應到 BorrowRequest.req_id（外鍵）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admin_id 必須對應到 User.user_id（外鍵）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685800" lvl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，且該使用者 role 必須為 'A'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action 合法值為：'Approve'、'Reject'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若 action = 'Reject'，則 reason 不可為空或只含空白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timestamp 不可早於對應 BorrowRequest.created_at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取消借用不記錄在 AuditLog，而是記錄在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42900" lvl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zh-TW" sz="22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BorrowRequest.cancelled_at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462" name="Google Shape;462;p36"/>
          <p:cNvGrpSpPr/>
          <p:nvPr/>
        </p:nvGrpSpPr>
        <p:grpSpPr>
          <a:xfrm>
            <a:off x="382271" y="221981"/>
            <a:ext cx="4435935" cy="466772"/>
            <a:chOff x="956666" y="3447855"/>
            <a:chExt cx="5914580" cy="622363"/>
          </a:xfrm>
        </p:grpSpPr>
        <p:sp>
          <p:nvSpPr>
            <p:cNvPr id="463" name="Google Shape;463;p36"/>
            <p:cNvSpPr txBox="1"/>
            <p:nvPr/>
          </p:nvSpPr>
          <p:spPr>
            <a:xfrm>
              <a:off x="1581046" y="3447855"/>
              <a:ext cx="52902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AuditLog (審核歷程)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" name="Google Shape;471;p37"/>
          <p:cNvGraphicFramePr/>
          <p:nvPr/>
        </p:nvGraphicFramePr>
        <p:xfrm>
          <a:off x="436256" y="1394313"/>
          <a:ext cx="8271475" cy="298683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340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規則說明</a:t>
                      </a:r>
                      <a:endParaRPr sz="1600" b="1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對應限制</a:t>
                      </a:r>
                      <a:endParaRPr sz="1600" b="1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每個使用者必須先登入，才能發出借用申請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User 資料存在，且 BorrowRequest.user_id 對應到 User.user_id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教室借用必須經過審核，Pending 時尚未核准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BorrowRequest.status 必須在審核後才可變為 Approved / Rejected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dirty="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只有 Admin 可以核准或拒絕申請</a:t>
                      </a:r>
                      <a:endParaRPr sz="1200" dirty="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AuditLog.admin_id 必須對應到 User.user_id，且 role 必須為 'A'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使用者只能取消尚未開始的借用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若系統時間已超過 start_date + start_time，status 不可再變更為 Cancelled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維修或停用中的教室不可被核准借用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在 INSERT / UPDATE BorrowRequest 時檢查對應 Room.status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每筆核准或拒絕操作都必須在 AuditLog 中記錄</a:t>
                      </a:r>
                      <a:endParaRPr sz="12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dirty="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凡 BorrowRequest.status 從 Pending → Approved 或 Rejected，必須有一筆對應的 AuditLog 資料</a:t>
                      </a:r>
                      <a:endParaRPr sz="1200" dirty="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72" name="Google Shape;472;p37"/>
          <p:cNvGrpSpPr/>
          <p:nvPr/>
        </p:nvGrpSpPr>
        <p:grpSpPr>
          <a:xfrm>
            <a:off x="382271" y="221981"/>
            <a:ext cx="4435935" cy="466772"/>
            <a:chOff x="956666" y="3447855"/>
            <a:chExt cx="5914580" cy="622363"/>
          </a:xfrm>
        </p:grpSpPr>
        <p:sp>
          <p:nvSpPr>
            <p:cNvPr id="473" name="Google Shape;473;p37"/>
            <p:cNvSpPr txBox="1"/>
            <p:nvPr/>
          </p:nvSpPr>
          <p:spPr>
            <a:xfrm>
              <a:off x="1581046" y="3447855"/>
              <a:ext cx="52902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跨資料表完整性限制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1" name="Google Shape;1081;p94"/>
          <p:cNvGrpSpPr/>
          <p:nvPr/>
        </p:nvGrpSpPr>
        <p:grpSpPr>
          <a:xfrm>
            <a:off x="382271" y="221981"/>
            <a:ext cx="4435935" cy="466772"/>
            <a:chOff x="956666" y="3447855"/>
            <a:chExt cx="5914580" cy="622363"/>
          </a:xfrm>
        </p:grpSpPr>
        <p:sp>
          <p:nvSpPr>
            <p:cNvPr id="1082" name="Google Shape;1082;p94"/>
            <p:cNvSpPr txBox="1"/>
            <p:nvPr/>
          </p:nvSpPr>
          <p:spPr>
            <a:xfrm>
              <a:off x="1581046" y="3447855"/>
              <a:ext cx="52902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資料來源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1083" name="Google Shape;1083;p94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084" name="Google Shape;1084;p94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085" name="Google Shape;1085;p94"/>
          <p:cNvSpPr txBox="1"/>
          <p:nvPr/>
        </p:nvSpPr>
        <p:spPr>
          <a:xfrm>
            <a:off x="864150" y="1111594"/>
            <a:ext cx="6961200" cy="367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5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國立虎尾科技大學 資工系教室借用系統</a:t>
            </a:r>
            <a:endParaRPr sz="25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429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2500" u="sng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https://csieoffice1.nfu.edu.tw/</a:t>
            </a:r>
            <a:endParaRPr sz="2500" u="sng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5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逢甲大學體育 室場地借用管理系統.</a:t>
            </a:r>
            <a:r>
              <a:rPr lang="zh-TW" sz="2500" dirty="0">
                <a:solidFill>
                  <a:schemeClr val="dk1"/>
                </a:solidFill>
                <a:uFill>
                  <a:noFill/>
                </a:uFill>
                <a:latin typeface="DFKai-SB"/>
                <a:ea typeface="DFKai-SB"/>
                <a:cs typeface="DFKai-SB"/>
                <a:sym typeface="DFKai-SB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sz="1400" dirty="0">
              <a:solidFill>
                <a:schemeClr val="dk1"/>
              </a:solidFill>
            </a:endParaRPr>
          </a:p>
          <a:p>
            <a:pPr marL="3429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2500" u="sng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https://share.google/43ZdNW1RVkHCTsGi8</a:t>
            </a:r>
            <a:endParaRPr sz="2500" u="sng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5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國立清華大學 教室借用系統</a:t>
            </a:r>
            <a:endParaRPr sz="25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429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2500" u="sng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https://share.google/7nEjYTNkDw13sQput</a:t>
            </a:r>
            <a:endParaRPr sz="2500" u="sng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5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中原大學教務處 </a:t>
            </a:r>
            <a:r>
              <a:rPr lang="zh-TW" sz="2500" dirty="0">
                <a:solidFill>
                  <a:schemeClr val="dk1"/>
                </a:solidFill>
                <a:uFill>
                  <a:noFill/>
                </a:uFill>
                <a:latin typeface="DFKai-SB"/>
                <a:ea typeface="DFKai-SB"/>
                <a:cs typeface="DFKai-SB"/>
                <a:sym typeface="DFKai-SB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sz="1400" dirty="0">
              <a:solidFill>
                <a:schemeClr val="dk1"/>
              </a:solidFill>
            </a:endParaRPr>
          </a:p>
          <a:p>
            <a:pPr marL="3429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2500" u="sng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https://share.google/Jgz627iK0832tkNwJ</a:t>
            </a:r>
            <a:endParaRPr sz="22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1" name="Google Shape;1091;p95"/>
          <p:cNvGrpSpPr/>
          <p:nvPr/>
        </p:nvGrpSpPr>
        <p:grpSpPr>
          <a:xfrm>
            <a:off x="382271" y="221981"/>
            <a:ext cx="4435935" cy="466772"/>
            <a:chOff x="956666" y="3447855"/>
            <a:chExt cx="5914580" cy="622363"/>
          </a:xfrm>
        </p:grpSpPr>
        <p:sp>
          <p:nvSpPr>
            <p:cNvPr id="1092" name="Google Shape;1092;p95"/>
            <p:cNvSpPr txBox="1"/>
            <p:nvPr/>
          </p:nvSpPr>
          <p:spPr>
            <a:xfrm>
              <a:off x="1581046" y="3447855"/>
              <a:ext cx="52902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Github連結</a:t>
              </a:r>
              <a:endParaRPr sz="2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1093" name="Google Shape;1093;p95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094" name="Google Shape;1094;p95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095" name="Google Shape;1095;p95"/>
          <p:cNvSpPr txBox="1"/>
          <p:nvPr/>
        </p:nvSpPr>
        <p:spPr>
          <a:xfrm>
            <a:off x="382275" y="2571750"/>
            <a:ext cx="8170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 b="1" u="sng">
                <a:solidFill>
                  <a:schemeClr val="hlink"/>
                </a:solidFill>
                <a:latin typeface="DFKai-SB"/>
                <a:ea typeface="DFKai-SB"/>
                <a:cs typeface="DFKai-SB"/>
                <a:sym typeface="DFKai-SB"/>
                <a:hlinkClick r:id="rId3"/>
              </a:rPr>
              <a:t>https://github.com/vivian1060290/DB_project_114</a:t>
            </a:r>
            <a:endParaRPr sz="22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96"/>
          <p:cNvSpPr txBox="1"/>
          <p:nvPr/>
        </p:nvSpPr>
        <p:spPr>
          <a:xfrm>
            <a:off x="4323625" y="2327445"/>
            <a:ext cx="41667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000" b="1">
                <a:solidFill>
                  <a:srgbClr val="113F4E"/>
                </a:solidFill>
                <a:latin typeface="DFKai-SB"/>
                <a:ea typeface="DFKai-SB"/>
                <a:cs typeface="DFKai-SB"/>
                <a:sym typeface="DFKai-SB"/>
              </a:rPr>
              <a:t>謝謝大家</a:t>
            </a:r>
            <a:endParaRPr sz="5000" b="1">
              <a:solidFill>
                <a:srgbClr val="113F4E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103" name="Google Shape;1103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884277">
            <a:off x="745650" y="1052577"/>
            <a:ext cx="548700" cy="166145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2116</Words>
  <Application>Microsoft Office PowerPoint</Application>
  <PresentationFormat>如螢幕大小 (16:9)</PresentationFormat>
  <Paragraphs>364</Paragraphs>
  <Slides>28</Slides>
  <Notes>28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6" baseType="lpstr">
      <vt:lpstr>DFKai-SB</vt:lpstr>
      <vt:lpstr>Microsoft JhengHei</vt:lpstr>
      <vt:lpstr>Microsoft Yahei</vt:lpstr>
      <vt:lpstr>Impact</vt:lpstr>
      <vt:lpstr>Open Sans</vt:lpstr>
      <vt:lpstr>Arial</vt:lpstr>
      <vt:lpstr>Times New Roman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范芷紜</cp:lastModifiedBy>
  <cp:revision>3</cp:revision>
  <dcterms:modified xsi:type="dcterms:W3CDTF">2026-06-20T16:29:40Z</dcterms:modified>
</cp:coreProperties>
</file>