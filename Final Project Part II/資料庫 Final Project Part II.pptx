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340" r:id="rId32"/>
    <p:sldId id="284" r:id="rId33"/>
    <p:sldId id="285" r:id="rId34"/>
    <p:sldId id="341" r:id="rId35"/>
    <p:sldId id="286" r:id="rId36"/>
    <p:sldId id="287" r:id="rId37"/>
    <p:sldId id="342" r:id="rId38"/>
    <p:sldId id="288" r:id="rId39"/>
    <p:sldId id="289" r:id="rId40"/>
    <p:sldId id="343" r:id="rId41"/>
    <p:sldId id="290" r:id="rId42"/>
    <p:sldId id="291" r:id="rId43"/>
    <p:sldId id="292" r:id="rId44"/>
    <p:sldId id="293" r:id="rId45"/>
    <p:sldId id="344" r:id="rId46"/>
    <p:sldId id="345" r:id="rId47"/>
    <p:sldId id="346" r:id="rId48"/>
    <p:sldId id="347" r:id="rId49"/>
    <p:sldId id="294" r:id="rId50"/>
    <p:sldId id="295" r:id="rId51"/>
    <p:sldId id="305" r:id="rId52"/>
    <p:sldId id="337" r:id="rId53"/>
    <p:sldId id="338" r:id="rId54"/>
    <p:sldId id="339" r:id="rId55"/>
  </p:sldIdLst>
  <p:sldSz cx="9144000" cy="5143500" type="screen16x9"/>
  <p:notesSz cx="6858000" cy="9144000"/>
  <p:embeddedFontLst>
    <p:embeddedFont>
      <p:font typeface="標楷體" panose="03000509000000000000" charset="-120"/>
      <p:regular r:id="rId59"/>
    </p:embeddedFont>
    <p:embeddedFont>
      <p:font typeface="Microsoft YaHei" panose="020B0503020204020204" charset="-122"/>
      <p:regular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C306F20-B5FA-46C3-8F7C-962CBD427640}" styleName="Table_0">
    <a:wholeTbl>
      <a:tcTxStyle>
        <a:srgbClr val="000000"/>
        <a:latin typeface="Arial"/>
        <a:ea typeface="Arial"/>
        <a:cs typeface="Arial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E4DF90B-2F7E-462A-BB2A-4B7291B50485}" styleName="Table_1">
    <a:wholeTbl>
      <a:tcTxStyle>
        <a:srgbClr val="000000"/>
        <a:latin typeface="Arial"/>
        <a:ea typeface="Arial"/>
        <a:cs typeface="Arial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9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font" Target="fonts/font2.fntdata"/><Relationship Id="rId6" Type="http://schemas.openxmlformats.org/officeDocument/2006/relationships/slide" Target="slides/slide3.xml"/><Relationship Id="rId59" Type="http://schemas.openxmlformats.org/officeDocument/2006/relationships/font" Target="fonts/font1.fntdata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a803a8c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3ea803a8c1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g3ea803a8c1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a803a8c1e_6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ea803a8c1e_6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" name="Google Shape;61;g3ea803a8c1e_6_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a803a8c1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ea803a8c1e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g3ea803a8c1e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a803a8c1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3ea803a8c1e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g3ea803a8c1e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a803a8c1e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ea803a8c1e_0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g3ea803a8c1e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a803a8c1e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g3ea803a8c1e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g3ea803a8c1e_0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a803a8c1e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ea803a8c1e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g3ea803a8c1e_0_1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a803a8c1e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3ea803a8c1e_0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g3ea803a8c1e_0_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a803a8c1e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3ea803a8c1e_0_1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2" name="Google Shape;252;g3ea803a8c1e_0_1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a803a8c1e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3ea803a8c1e_0_2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7" name="Google Shape;307;g3ea803a8c1e_0_2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a803a8c1e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a803a8c1e_0_2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9" name="Google Shape;319;g3ea803a8c1e_0_2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a803a8c1e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g3ea803a8c1e_0_2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1" name="Google Shape;331;g3ea803a8c1e_0_2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ea803a8c1e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ea803a8c1e_0_2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2" name="Google Shape;342;g3ea803a8c1e_0_2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a803a8c1e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ea803a8c1e_0_2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4" name="Google Shape;354;g3ea803a8c1e_0_2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ea803a8c1e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ea803a8c1e_0_2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4" name="Google Shape;364;g3ea803a8c1e_0_2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a803a8c1e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ea803a8c1e_0_2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5" name="Google Shape;375;g3ea803a8c1e_0_2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a803a8c1e_0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ea803a8c1e_0_3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5" name="Google Shape;385;g3ea803a8c1e_0_3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a803a8c1e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ea803a8c1e_0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6" name="Google Shape;396;g3ea803a8c1e_0_3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a803a8c1e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ea803a8c1e_0_3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6" name="Google Shape;406;g3ea803a8c1e_0_3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a803a8c1e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ea803a8c1e_0_3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7" name="Google Shape;417;g3ea803a8c1e_0_3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a803a8c1e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ea803a8c1e_0_3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8" name="Google Shape;428;g3ea803a8c1e_0_3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a803a8c1e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ea803a8c1e_0_3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8" name="Google Shape;438;g3ea803a8c1e_0_3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a803a8c1e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ea803a8c1e_0_3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8" name="Google Shape;448;g3ea803a8c1e_0_3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a803a8c1e_0_3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ea803a8c1e_0_3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9" name="Google Shape;459;g3ea803a8c1e_0_3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a803a8c1e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ea803a8c1e_0_3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9" name="Google Shape;469;g3ea803a8c1e_0_3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a803a8c1e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g3ea803a8c1e_0_3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9" name="Google Shape;479;g3ea803a8c1e_0_3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ea803a8c1e_0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ea803a8c1e_0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ea803a8c1e_0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g3ea803a8c1e_0_4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01" name="Google Shape;501;g3ea803a8c1e_0_4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ea803a8c1e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ea803a8c1e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ea803a8c1e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ea803a8c1e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a803a8c1e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ea803a8c1e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ea803a8c1e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ea803a8c1e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ea803a8c1e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ea803a8c1e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ea803a8c1e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ea803a8c1e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ea803a8c1e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ea803a8c1e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ea803a8c1e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ea803a8c1e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ea803a8c1e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ea803a8c1e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ea803a8c1e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ea803a8c1e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ea803a8c1e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ea803a8c1e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ea803a8c1e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ea803a8c1e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ee059abe0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ee059abe0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ea803a8c1e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ea803a8c1e_0_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ea803a8c1e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ea803a8c1e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ee059abe0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ee059abe0b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eda7c87dc9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eda7c87dc9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ee059abe0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3ee059abe0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ea803a8c1e_0_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ea803a8c1e_0_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ea803a8c1e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3ea803a8c1e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ea803a8c1e_0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ea803a8c1e_0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ea803a8c1e_0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3ea803a8c1e_0_5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9" name="Google Shape;1079;g3ea803a8c1e_0_5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ea803a8c1e_0_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ea803a8c1e_0_5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9" name="Google Shape;1089;g3ea803a8c1e_0_5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ea803a8c1e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8" name="Google Shape;1098;g3ea803a8c1e_0_6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9" name="Google Shape;1099;g3ea803a8c1e_0_6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0.xml"/><Relationship Id="rId5" Type="http://schemas.openxmlformats.org/officeDocument/2006/relationships/slideLayout" Target="../slideLayouts/slideLayout11.xml"/><Relationship Id="rId4" Type="http://schemas.openxmlformats.org/officeDocument/2006/relationships/hyperlink" Target="https://share.google/Jgz627iK0832tkNwJ" TargetMode="External"/><Relationship Id="rId3" Type="http://schemas.openxmlformats.org/officeDocument/2006/relationships/hyperlink" Target="https://share.google/7nEjYTNkDw13sQput" TargetMode="External"/><Relationship Id="rId2" Type="http://schemas.openxmlformats.org/officeDocument/2006/relationships/hyperlink" Target="https://share.google/43ZdNW1RVkHCTsGi8" TargetMode="External"/><Relationship Id="rId1" Type="http://schemas.openxmlformats.org/officeDocument/2006/relationships/hyperlink" Target="https://csieoffice1.nfu.edu.tw/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1.xml"/><Relationship Id="rId1" Type="http://schemas.openxmlformats.org/officeDocument/2006/relationships/hyperlink" Target="https://github.com/vivian1060290/DB_project_114" TargetMode="Externa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2757206" y="892575"/>
            <a:ext cx="6081900" cy="9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500"/>
              </a:spcBef>
              <a:spcAft>
                <a:spcPts val="500"/>
              </a:spcAft>
              <a:buSzPts val="800"/>
              <a:buNone/>
            </a:pPr>
            <a:r>
              <a:rPr lang="zh-TW" sz="58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教室借用管理系統</a:t>
            </a:r>
            <a:endParaRPr sz="7100" b="1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78550" y="2425500"/>
            <a:ext cx="5192100" cy="20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班級:四資工三甲</a:t>
            </a:r>
            <a:endParaRPr sz="19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組別:第三組</a:t>
            </a:r>
            <a:endParaRPr sz="19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zh-TW" sz="19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組員: 41243101 伍翊瑄  41243103 林采儀</a:t>
            </a:r>
            <a:endParaRPr sz="19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42900" lvl="0" indent="342900" algn="l" rtl="0">
              <a:lnSpc>
                <a:spcPct val="115000"/>
              </a:lnSpc>
              <a:spcBef>
                <a:spcPts val="1500"/>
              </a:spcBef>
              <a:spcAft>
                <a:spcPts val="500"/>
              </a:spcAft>
              <a:buNone/>
            </a:pPr>
            <a:r>
              <a:rPr lang="zh-TW" sz="19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41243104 范芷紜	41243107 潘怡潔</a:t>
            </a:r>
            <a:endParaRPr sz="2500" b="1">
              <a:solidFill>
                <a:schemeClr val="dk1"/>
              </a:solidFill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  <a:sym typeface="微軟正黑體" panose="020B0604030504040204" charset="-120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511173" y="502278"/>
            <a:ext cx="1523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500" b="1">
                <a:solidFill>
                  <a:srgbClr val="113F4E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目錄</a:t>
            </a:r>
            <a:endParaRPr sz="4500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 rot="10800000" flipH="1">
            <a:off x="511174" y="1281505"/>
            <a:ext cx="1359300" cy="19200"/>
          </a:xfrm>
          <a:prstGeom prst="straightConnector1">
            <a:avLst/>
          </a:prstGeom>
          <a:noFill/>
          <a:ln w="21425" cap="rnd" cmpd="sng">
            <a:solidFill>
              <a:srgbClr val="55C0A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14"/>
          <p:cNvSpPr txBox="1"/>
          <p:nvPr/>
        </p:nvSpPr>
        <p:spPr>
          <a:xfrm>
            <a:off x="1053178" y="1820816"/>
            <a:ext cx="3433963" cy="520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應用情境與使用案例</a:t>
            </a:r>
            <a:endParaRPr sz="2700" b="1" dirty="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511183" y="1690853"/>
            <a:ext cx="400374" cy="507952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707457" y="1907855"/>
            <a:ext cx="339355" cy="43053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</a:t>
            </a: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053178" y="3555857"/>
            <a:ext cx="3433962" cy="52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zh-TW" sz="2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ER Diagram</a:t>
            </a:r>
            <a:endParaRPr sz="2700" b="1" dirty="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11174" y="3439860"/>
            <a:ext cx="400374" cy="510914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707448" y="3658128"/>
            <a:ext cx="339355" cy="43304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</a:t>
            </a: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5111462" y="1883340"/>
            <a:ext cx="3433961" cy="52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完整性限制</a:t>
            </a:r>
            <a:endParaRPr sz="2700" b="1" dirty="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4569470" y="1689931"/>
            <a:ext cx="400375" cy="510914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4765744" y="1908199"/>
            <a:ext cx="339355" cy="43304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</a:t>
            </a: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1053177" y="2690241"/>
            <a:ext cx="3433963" cy="520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系統需求說明</a:t>
            </a:r>
            <a:endParaRPr sz="2700" b="1" dirty="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11175" y="2598283"/>
            <a:ext cx="400374" cy="507952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707449" y="2815285"/>
            <a:ext cx="339355" cy="43053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</a:t>
            </a: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5111896" y="2648044"/>
            <a:ext cx="3797402" cy="52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資料庫 </a:t>
            </a:r>
            <a:r>
              <a:rPr lang="zh-TW" sz="2600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Schema Diagram</a:t>
            </a:r>
            <a:endParaRPr sz="26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4558030" y="2546378"/>
            <a:ext cx="400374" cy="510914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754304" y="2764646"/>
            <a:ext cx="339355" cy="43304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5</a:t>
            </a: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5111896" y="3363686"/>
            <a:ext cx="2883300" cy="936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lstStyle/>
          <a:p>
            <a:pPr algn="ctr"/>
            <a:r>
              <a:rPr lang="zh-TW" sz="2700" dirty="0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SQL語法+概念層</a:t>
            </a:r>
            <a:r>
              <a:rPr lang="zh-TW" altLang="en-US" sz="2700" dirty="0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與舉例說明</a:t>
            </a:r>
            <a:endParaRPr lang="zh-TW" altLang="en-US" sz="2700" dirty="0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558030" y="3318115"/>
            <a:ext cx="400375" cy="510914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754304" y="3536383"/>
            <a:ext cx="339355" cy="43304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6</a:t>
            </a: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5093671" y="4157139"/>
            <a:ext cx="2815200" cy="52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2" name="Google Shape;74;p14"/>
          <p:cNvSpPr txBox="1"/>
          <p:nvPr/>
        </p:nvSpPr>
        <p:spPr>
          <a:xfrm>
            <a:off x="5112732" y="1883975"/>
            <a:ext cx="3433961" cy="52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完整性限制</a:t>
            </a:r>
            <a:endParaRPr sz="2700" b="1" dirty="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3" name="Google Shape;75;p14"/>
          <p:cNvSpPr/>
          <p:nvPr/>
        </p:nvSpPr>
        <p:spPr>
          <a:xfrm>
            <a:off x="4570740" y="1690566"/>
            <a:ext cx="400375" cy="510914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4" name="Google Shape;76;p14"/>
          <p:cNvSpPr/>
          <p:nvPr/>
        </p:nvSpPr>
        <p:spPr>
          <a:xfrm>
            <a:off x="4767014" y="1908834"/>
            <a:ext cx="339355" cy="43304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</a:t>
            </a: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5" name="Google Shape;82;p14"/>
          <p:cNvSpPr txBox="1"/>
          <p:nvPr/>
        </p:nvSpPr>
        <p:spPr>
          <a:xfrm>
            <a:off x="5113166" y="2648679"/>
            <a:ext cx="3797402" cy="520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資料庫 </a:t>
            </a:r>
            <a:r>
              <a:rPr lang="zh-TW" sz="2600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Schema Diagram</a:t>
            </a:r>
            <a:endParaRPr sz="26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6" name="Google Shape;86;p14"/>
          <p:cNvSpPr txBox="1"/>
          <p:nvPr/>
        </p:nvSpPr>
        <p:spPr>
          <a:xfrm>
            <a:off x="5113166" y="3364321"/>
            <a:ext cx="2883300" cy="936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075" tIns="52025" rIns="104075" bIns="52025" anchor="t" anchorCtr="1">
            <a:spAutoFit/>
          </a:bodyPr>
          <a:p>
            <a:pPr algn="ctr"/>
            <a:r>
              <a:rPr lang="zh-TW" sz="2700" dirty="0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SQL語法+概念層</a:t>
            </a:r>
            <a:r>
              <a:rPr lang="zh-TW" altLang="en-US" sz="2700" dirty="0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與舉例說明</a:t>
            </a:r>
            <a:endParaRPr lang="zh-TW" altLang="en-US" sz="2700" dirty="0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7" name="Google Shape;88;p14"/>
          <p:cNvSpPr/>
          <p:nvPr/>
        </p:nvSpPr>
        <p:spPr>
          <a:xfrm>
            <a:off x="4755574" y="3537018"/>
            <a:ext cx="339355" cy="433047"/>
          </a:xfrm>
          <a:prstGeom prst="rect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104075" tIns="52025" rIns="104075" bIns="52025" anchor="ctr" anchorCtr="0">
            <a:noAutofit/>
          </a:bodyPr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6</a:t>
            </a:r>
            <a:endParaRPr sz="20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4697081" y="3168722"/>
            <a:ext cx="4158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應用情境與使用案例</a:t>
            </a:r>
            <a:endParaRPr sz="27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112" name="Google Shape;112;p15"/>
          <p:cNvGrpSpPr/>
          <p:nvPr/>
        </p:nvGrpSpPr>
        <p:grpSpPr>
          <a:xfrm>
            <a:off x="3502220" y="2918232"/>
            <a:ext cx="844541" cy="932257"/>
            <a:chOff x="589141" y="2173776"/>
            <a:chExt cx="1126055" cy="1243010"/>
          </a:xfrm>
        </p:grpSpPr>
        <p:grpSp>
          <p:nvGrpSpPr>
            <p:cNvPr id="113" name="Google Shape;113;p15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114" name="Google Shape;114;p15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sp>
          <p:nvSpPr>
            <p:cNvPr id="116" name="Google Shape;116;p15"/>
            <p:cNvSpPr txBox="1"/>
            <p:nvPr/>
          </p:nvSpPr>
          <p:spPr>
            <a:xfrm>
              <a:off x="907668" y="2220553"/>
              <a:ext cx="6111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4100" b="1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rPr>
                <a:t>1</a:t>
              </a:r>
              <a:endParaRPr sz="4100" b="1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6"/>
          <p:cNvGrpSpPr/>
          <p:nvPr/>
        </p:nvGrpSpPr>
        <p:grpSpPr>
          <a:xfrm>
            <a:off x="382271" y="221981"/>
            <a:ext cx="2568885" cy="466773"/>
            <a:chOff x="956666" y="3447854"/>
            <a:chExt cx="3425180" cy="622364"/>
          </a:xfrm>
        </p:grpSpPr>
        <p:sp>
          <p:nvSpPr>
            <p:cNvPr id="124" name="Google Shape;124;p16"/>
            <p:cNvSpPr txBox="1"/>
            <p:nvPr/>
          </p:nvSpPr>
          <p:spPr>
            <a:xfrm>
              <a:off x="1581046" y="3447854"/>
              <a:ext cx="28008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應用情境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127" name="Google Shape;127;p16"/>
          <p:cNvSpPr/>
          <p:nvPr/>
        </p:nvSpPr>
        <p:spPr>
          <a:xfrm>
            <a:off x="1232231" y="1180852"/>
            <a:ext cx="798000" cy="7980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grpSp>
        <p:nvGrpSpPr>
          <p:cNvPr id="128" name="Google Shape;128;p16"/>
          <p:cNvGrpSpPr/>
          <p:nvPr/>
        </p:nvGrpSpPr>
        <p:grpSpPr>
          <a:xfrm>
            <a:off x="1798876" y="1180875"/>
            <a:ext cx="6786642" cy="927620"/>
            <a:chOff x="6183501" y="2146578"/>
            <a:chExt cx="5627398" cy="769171"/>
          </a:xfrm>
        </p:grpSpPr>
        <p:sp>
          <p:nvSpPr>
            <p:cNvPr id="129" name="Google Shape;129;p16"/>
            <p:cNvSpPr txBox="1"/>
            <p:nvPr/>
          </p:nvSpPr>
          <p:spPr>
            <a:xfrm>
              <a:off x="6183501" y="2146578"/>
              <a:ext cx="1457100" cy="5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 panose="020B0604020202020204"/>
                <a:buNone/>
              </a:pPr>
              <a:r>
                <a:rPr lang="zh-TW" sz="25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學生</a:t>
              </a:r>
              <a:endParaRPr sz="25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dk1"/>
                </a:solidFill>
              </a:endParaRPr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6568699" y="2456449"/>
              <a:ext cx="52422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 panose="020B0604020202020204"/>
                <a:buNone/>
              </a:pPr>
              <a:r>
                <a:rPr lang="zh-TW" sz="17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需要進行小組討論、專題製作或活動練習時，可透過系統查詢教室空閒時段，並提出借用申請，經審核通過後即可使用，避免找不到空間或人工登記錯誤的問題。</a:t>
              </a:r>
              <a:endParaRPr sz="17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  <a:p>
              <a:pPr marL="34290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 panose="020B0604020202020204"/>
                <a:buNone/>
              </a:pPr>
              <a:endParaRPr sz="17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131" name="Google Shape;131;p16"/>
          <p:cNvSpPr/>
          <p:nvPr/>
        </p:nvSpPr>
        <p:spPr>
          <a:xfrm>
            <a:off x="1232226" y="2679476"/>
            <a:ext cx="798000" cy="7980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grpSp>
        <p:nvGrpSpPr>
          <p:cNvPr id="132" name="Google Shape;132;p16"/>
          <p:cNvGrpSpPr/>
          <p:nvPr/>
        </p:nvGrpSpPr>
        <p:grpSpPr>
          <a:xfrm>
            <a:off x="1888125" y="2423869"/>
            <a:ext cx="6789324" cy="1509865"/>
            <a:chOff x="7100969" y="3612228"/>
            <a:chExt cx="5629622" cy="1251961"/>
          </a:xfrm>
        </p:grpSpPr>
        <p:sp>
          <p:nvSpPr>
            <p:cNvPr id="133" name="Google Shape;133;p16"/>
            <p:cNvSpPr txBox="1"/>
            <p:nvPr/>
          </p:nvSpPr>
          <p:spPr>
            <a:xfrm>
              <a:off x="7100969" y="3612228"/>
              <a:ext cx="1394400" cy="5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 panose="020B0604020202020204"/>
                <a:buNone/>
              </a:pPr>
              <a:r>
                <a:rPr lang="zh-TW" sz="25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老師</a:t>
              </a:r>
              <a:endParaRPr sz="25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dk1"/>
                </a:solidFill>
              </a:endParaRPr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7488391" y="3981289"/>
              <a:ext cx="5242200" cy="88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 panose="020B0604020202020204"/>
                <a:buNone/>
              </a:pPr>
              <a:r>
                <a:rPr lang="zh-TW" sz="17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需要進行補課、課程延伸討論或舉辦小型教學活動時，可透過系統即時查詢教室使用狀態，並線上申請借用教室，以確保教學活動順利進行且不與其他課程衝突。</a:t>
              </a:r>
              <a:endParaRPr sz="17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135" name="Google Shape;135;p16"/>
          <p:cNvSpPr/>
          <p:nvPr/>
        </p:nvSpPr>
        <p:spPr>
          <a:xfrm>
            <a:off x="1267784" y="3910812"/>
            <a:ext cx="798000" cy="7980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grpSp>
        <p:nvGrpSpPr>
          <p:cNvPr id="136" name="Google Shape;136;p16"/>
          <p:cNvGrpSpPr/>
          <p:nvPr/>
        </p:nvGrpSpPr>
        <p:grpSpPr>
          <a:xfrm>
            <a:off x="2030081" y="3811106"/>
            <a:ext cx="6541562" cy="997278"/>
            <a:chOff x="6386712" y="4859089"/>
            <a:chExt cx="5424181" cy="826931"/>
          </a:xfrm>
        </p:grpSpPr>
        <p:sp>
          <p:nvSpPr>
            <p:cNvPr id="137" name="Google Shape;137;p16"/>
            <p:cNvSpPr txBox="1"/>
            <p:nvPr/>
          </p:nvSpPr>
          <p:spPr>
            <a:xfrm>
              <a:off x="6386712" y="4859089"/>
              <a:ext cx="1254000" cy="56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 panose="020B0604020202020204"/>
                <a:buNone/>
              </a:pPr>
              <a:r>
                <a:rPr lang="zh-TW" sz="25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管理者</a:t>
              </a:r>
              <a:endParaRPr sz="25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dk1"/>
                </a:solidFill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6568693" y="5226720"/>
              <a:ext cx="5242200" cy="4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 panose="020B0604020202020204"/>
                <a:buNone/>
              </a:pPr>
              <a:r>
                <a:rPr lang="zh-TW" sz="17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負責審核所有教室借用申請，確認借用時間與用途是否合理，並管理教室使用狀態與借用紀錄，進行教室資源調度。</a:t>
              </a:r>
              <a:endParaRPr sz="17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139" name="Google Shape;13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7"/>
          <p:cNvGrpSpPr/>
          <p:nvPr/>
        </p:nvGrpSpPr>
        <p:grpSpPr>
          <a:xfrm>
            <a:off x="382271" y="221981"/>
            <a:ext cx="2568885" cy="466773"/>
            <a:chOff x="956666" y="3447854"/>
            <a:chExt cx="3425180" cy="622364"/>
          </a:xfrm>
        </p:grpSpPr>
        <p:sp>
          <p:nvSpPr>
            <p:cNvPr id="146" name="Google Shape;146;p17"/>
            <p:cNvSpPr txBox="1"/>
            <p:nvPr/>
          </p:nvSpPr>
          <p:spPr>
            <a:xfrm>
              <a:off x="1581046" y="3447854"/>
              <a:ext cx="28008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使用案例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149" name="Google Shape;149;p17"/>
          <p:cNvSpPr/>
          <p:nvPr/>
        </p:nvSpPr>
        <p:spPr>
          <a:xfrm>
            <a:off x="3047381" y="1502646"/>
            <a:ext cx="2767075" cy="2742033"/>
          </a:xfrm>
          <a:custGeom>
            <a:avLst/>
            <a:gdLst/>
            <a:ahLst/>
            <a:cxnLst/>
            <a:rect l="l" t="t" r="r" b="b"/>
            <a:pathLst>
              <a:path w="2504140" h="2504140" extrusionOk="0">
                <a:moveTo>
                  <a:pt x="0" y="1252070"/>
                </a:moveTo>
                <a:cubicBezTo>
                  <a:pt x="0" y="560571"/>
                  <a:pt x="560571" y="0"/>
                  <a:pt x="1252070" y="0"/>
                </a:cubicBezTo>
                <a:cubicBezTo>
                  <a:pt x="1943569" y="0"/>
                  <a:pt x="2504140" y="560571"/>
                  <a:pt x="2504140" y="1252070"/>
                </a:cubicBezTo>
                <a:cubicBezTo>
                  <a:pt x="2504140" y="1943569"/>
                  <a:pt x="1943569" y="2504140"/>
                  <a:pt x="1252070" y="2504140"/>
                </a:cubicBezTo>
                <a:cubicBezTo>
                  <a:pt x="560571" y="2504140"/>
                  <a:pt x="0" y="1943569"/>
                  <a:pt x="0" y="1252070"/>
                </a:cubicBezTo>
                <a:close/>
              </a:path>
            </a:pathLst>
          </a:custGeom>
          <a:solidFill>
            <a:srgbClr val="113F4E"/>
          </a:solidFill>
          <a:ln w="715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328375" tIns="328375" rIns="328375" bIns="3283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3465796" y="2048250"/>
            <a:ext cx="1855500" cy="1685400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429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20204"/>
              <a:buNone/>
            </a:pPr>
            <a:endParaRPr sz="1700">
              <a:solidFill>
                <a:schemeClr val="lt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20204"/>
              <a:buNone/>
            </a:pPr>
            <a:r>
              <a:rPr lang="zh-TW" sz="2600">
                <a:solidFill>
                  <a:schemeClr val="lt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一般使用者</a:t>
            </a:r>
            <a:endParaRPr sz="2600">
              <a:solidFill>
                <a:schemeClr val="lt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20204"/>
              <a:buNone/>
            </a:pPr>
            <a:endParaRPr sz="2600">
              <a:solidFill>
                <a:schemeClr val="lt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20204"/>
              <a:buNone/>
            </a:pPr>
            <a:r>
              <a:rPr lang="zh-TW" sz="2600">
                <a:solidFill>
                  <a:schemeClr val="lt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學生/教師</a:t>
            </a:r>
            <a:endParaRPr sz="2600">
              <a:solidFill>
                <a:schemeClr val="lt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lt1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412050" y="1410536"/>
            <a:ext cx="294000" cy="2940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412050" y="1999950"/>
            <a:ext cx="3195600" cy="13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輸入：日期、時間</a:t>
            </a:r>
            <a:endParaRPr sz="16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685800" lvl="0" algn="l" rtl="0">
              <a:spcBef>
                <a:spcPts val="0"/>
              </a:spcBef>
              <a:spcAft>
                <a:spcPts val="0"/>
              </a:spcAft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、設備需求</a:t>
            </a:r>
            <a:endParaRPr sz="16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輸出：可用教室清單、</a:t>
            </a:r>
            <a:endParaRPr sz="16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人數限制</a:t>
            </a:r>
            <a:endParaRPr sz="16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12038" y="3268704"/>
            <a:ext cx="294000" cy="2940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277700" y="3735900"/>
            <a:ext cx="3468300" cy="17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條件：借用尚未開始</a:t>
            </a:r>
            <a:endParaRPr sz="16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（還未到借用日期與時間）</a:t>
            </a:r>
            <a:endParaRPr sz="16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365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只有申請人本人可以取消尚未開始的借用申請，管理員不可代替使用者取消借用。 </a:t>
            </a:r>
            <a:endParaRPr sz="20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171450" marR="0" lvl="0" indent="-171450" algn="l" rtl="0"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0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814456" y="1509836"/>
            <a:ext cx="294000" cy="2940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6030485" y="2003225"/>
            <a:ext cx="3195600" cy="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輸入：時間、教室代號、申請人資訊（姓名、電話等）</a:t>
            </a:r>
            <a:endParaRPr sz="16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、用途</a:t>
            </a:r>
            <a:endParaRPr sz="16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系統自動檢查是否有時間衝突（衝堂）</a:t>
            </a:r>
            <a:endParaRPr sz="16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285750" marR="0" lvl="0" indent="-2857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5814456" y="3565876"/>
            <a:ext cx="294000" cy="2940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052788" y="4047031"/>
            <a:ext cx="27654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619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查詢個人或特定教室的</a:t>
            </a:r>
            <a:endParaRPr sz="16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</a:pPr>
            <a:r>
              <a:rPr lang="zh-TW" sz="16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歷史借用紀錄</a:t>
            </a:r>
            <a:endParaRPr sz="16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171450" marR="0" lvl="0" indent="-1714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000" dirty="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74588" y="1315144"/>
            <a:ext cx="198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1.查詢教室</a:t>
            </a:r>
            <a:endParaRPr sz="23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79705" y="3169406"/>
            <a:ext cx="1917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3.取消借用</a:t>
            </a:r>
            <a:endParaRPr sz="23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112694" y="1410519"/>
            <a:ext cx="225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2.申請借用教室</a:t>
            </a:r>
            <a:endParaRPr sz="23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310525" y="3466569"/>
            <a:ext cx="225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4.查看借用紀錄</a:t>
            </a:r>
            <a:endParaRPr sz="23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163" name="Google Shape;16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8"/>
          <p:cNvGrpSpPr/>
          <p:nvPr/>
        </p:nvGrpSpPr>
        <p:grpSpPr>
          <a:xfrm>
            <a:off x="382271" y="221981"/>
            <a:ext cx="2568885" cy="466773"/>
            <a:chOff x="956666" y="3447854"/>
            <a:chExt cx="3425180" cy="622364"/>
          </a:xfrm>
        </p:grpSpPr>
        <p:sp>
          <p:nvSpPr>
            <p:cNvPr id="170" name="Google Shape;170;p18"/>
            <p:cNvSpPr txBox="1"/>
            <p:nvPr/>
          </p:nvSpPr>
          <p:spPr>
            <a:xfrm>
              <a:off x="1581046" y="3447854"/>
              <a:ext cx="28008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使用案例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173" name="Google Shape;173;p18"/>
          <p:cNvSpPr/>
          <p:nvPr/>
        </p:nvSpPr>
        <p:spPr>
          <a:xfrm>
            <a:off x="3047381" y="1502646"/>
            <a:ext cx="2767075" cy="2742033"/>
          </a:xfrm>
          <a:custGeom>
            <a:avLst/>
            <a:gdLst/>
            <a:ahLst/>
            <a:cxnLst/>
            <a:rect l="l" t="t" r="r" b="b"/>
            <a:pathLst>
              <a:path w="2504140" h="2504140" extrusionOk="0">
                <a:moveTo>
                  <a:pt x="0" y="1252070"/>
                </a:moveTo>
                <a:cubicBezTo>
                  <a:pt x="0" y="560571"/>
                  <a:pt x="560571" y="0"/>
                  <a:pt x="1252070" y="0"/>
                </a:cubicBezTo>
                <a:cubicBezTo>
                  <a:pt x="1943569" y="0"/>
                  <a:pt x="2504140" y="560571"/>
                  <a:pt x="2504140" y="1252070"/>
                </a:cubicBezTo>
                <a:cubicBezTo>
                  <a:pt x="2504140" y="1943569"/>
                  <a:pt x="1943569" y="2504140"/>
                  <a:pt x="1252070" y="2504140"/>
                </a:cubicBezTo>
                <a:cubicBezTo>
                  <a:pt x="560571" y="2504140"/>
                  <a:pt x="0" y="1943569"/>
                  <a:pt x="0" y="1252070"/>
                </a:cubicBezTo>
                <a:close/>
              </a:path>
            </a:pathLst>
          </a:custGeom>
          <a:solidFill>
            <a:srgbClr val="113F4E"/>
          </a:solidFill>
          <a:ln w="715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328375" tIns="328375" rIns="328375" bIns="3283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3465796" y="1973213"/>
            <a:ext cx="1855500" cy="1793100"/>
          </a:xfrm>
          <a:prstGeom prst="rect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429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20204"/>
              <a:buNone/>
            </a:pPr>
            <a:endParaRPr sz="1700">
              <a:solidFill>
                <a:schemeClr val="lt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20204"/>
              <a:buNone/>
            </a:pPr>
            <a:r>
              <a:rPr lang="zh-TW" sz="2600">
                <a:solidFill>
                  <a:schemeClr val="lt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管理者</a:t>
            </a:r>
            <a:endParaRPr sz="2600">
              <a:solidFill>
                <a:schemeClr val="lt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zh-TW" sz="2600">
                <a:solidFill>
                  <a:schemeClr val="lt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endParaRPr sz="2600">
              <a:solidFill>
                <a:schemeClr val="lt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 panose="020B0604020202020204"/>
              <a:buNone/>
            </a:pPr>
            <a:r>
              <a:rPr lang="zh-TW" sz="2600">
                <a:solidFill>
                  <a:schemeClr val="lt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(Admin)</a:t>
            </a:r>
            <a:endParaRPr sz="2600">
              <a:solidFill>
                <a:schemeClr val="lt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335981" y="1848911"/>
            <a:ext cx="294000" cy="294000"/>
          </a:xfrm>
          <a:prstGeom prst="ellipse">
            <a:avLst/>
          </a:prstGeom>
          <a:solidFill>
            <a:srgbClr val="113F4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478556" y="2358806"/>
            <a:ext cx="2568900" cy="242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1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狀態流程：</a:t>
            </a:r>
            <a:endParaRPr sz="1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Pending</a:t>
            </a:r>
            <a:r>
              <a:rPr lang="zh-TW" sz="1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（審核中）</a:t>
            </a:r>
            <a:endParaRPr sz="1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Approved</a:t>
            </a:r>
            <a:r>
              <a:rPr lang="zh-TW" sz="1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（核准）</a:t>
            </a:r>
            <a:endParaRPr sz="1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Rejected</a:t>
            </a:r>
            <a:r>
              <a:rPr lang="zh-TW" sz="1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（拒絕</a:t>
            </a:r>
            <a:endParaRPr sz="1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1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，須填寫拒絕原因）</a:t>
            </a:r>
            <a:endParaRPr sz="1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9715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739656" y="1848892"/>
            <a:ext cx="294000" cy="294000"/>
          </a:xfrm>
          <a:prstGeom prst="ellipse">
            <a:avLst/>
          </a:prstGeom>
          <a:solidFill>
            <a:srgbClr val="55C0A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5934163" y="2671281"/>
            <a:ext cx="30912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新增教室 / 設備</a:t>
            </a:r>
            <a:endParaRPr sz="1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停用教室 / 設備</a:t>
            </a:r>
            <a:endParaRPr sz="1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556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zh-TW" sz="1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設定教室狀態為「維修中」</a:t>
            </a:r>
            <a:endParaRPr sz="1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6858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1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（UnderMaintenance</a:t>
            </a:r>
            <a:r>
              <a:rPr lang="zh-TW" sz="17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）</a:t>
            </a:r>
            <a:endParaRPr sz="1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285750" marR="0" lvl="0" indent="-28575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7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98519" y="1753519"/>
            <a:ext cx="2276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1.審核借用申請</a:t>
            </a:r>
            <a:endParaRPr sz="23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986600" y="1753525"/>
            <a:ext cx="27159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zh-TW" sz="23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2.教室及設備管理</a:t>
            </a:r>
            <a:endParaRPr sz="23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endParaRPr sz="23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181" name="Google Shape;18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/>
        </p:nvSpPr>
        <p:spPr>
          <a:xfrm>
            <a:off x="4697081" y="3168722"/>
            <a:ext cx="4158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500"/>
              </a:spcAft>
              <a:buSzPts val="800"/>
              <a:buNone/>
            </a:pPr>
            <a:r>
              <a:rPr lang="zh-TW" sz="27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系統需求說明</a:t>
            </a:r>
            <a:endParaRPr sz="27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188" name="Google Shape;188;p19"/>
          <p:cNvGrpSpPr/>
          <p:nvPr/>
        </p:nvGrpSpPr>
        <p:grpSpPr>
          <a:xfrm>
            <a:off x="3502220" y="2918232"/>
            <a:ext cx="844541" cy="932257"/>
            <a:chOff x="589141" y="2173776"/>
            <a:chExt cx="1126055" cy="1243010"/>
          </a:xfrm>
        </p:grpSpPr>
        <p:grpSp>
          <p:nvGrpSpPr>
            <p:cNvPr id="189" name="Google Shape;189;p19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190" name="Google Shape;190;p19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191" name="Google Shape;191;p19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sp>
          <p:nvSpPr>
            <p:cNvPr id="192" name="Google Shape;192;p19"/>
            <p:cNvSpPr txBox="1"/>
            <p:nvPr/>
          </p:nvSpPr>
          <p:spPr>
            <a:xfrm>
              <a:off x="907668" y="2220553"/>
              <a:ext cx="6111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4100" b="1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rPr>
                <a:t>2</a:t>
              </a:r>
              <a:endParaRPr sz="4100" b="1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193" name="Google Shape;19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0"/>
          <p:cNvGrpSpPr/>
          <p:nvPr/>
        </p:nvGrpSpPr>
        <p:grpSpPr>
          <a:xfrm>
            <a:off x="382271" y="221981"/>
            <a:ext cx="2568885" cy="466773"/>
            <a:chOff x="956666" y="3447854"/>
            <a:chExt cx="3425180" cy="622364"/>
          </a:xfrm>
        </p:grpSpPr>
        <p:sp>
          <p:nvSpPr>
            <p:cNvPr id="200" name="Google Shape;200;p20"/>
            <p:cNvSpPr txBox="1"/>
            <p:nvPr/>
          </p:nvSpPr>
          <p:spPr>
            <a:xfrm>
              <a:off x="1581046" y="3447854"/>
              <a:ext cx="28008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900"/>
                </a:spcBef>
                <a:spcAft>
                  <a:spcPts val="900"/>
                </a:spcAft>
                <a:buSzPts val="800"/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功能性需求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grpSp>
        <p:nvGrpSpPr>
          <p:cNvPr id="203" name="Google Shape;203;p20"/>
          <p:cNvGrpSpPr/>
          <p:nvPr/>
        </p:nvGrpSpPr>
        <p:grpSpPr>
          <a:xfrm>
            <a:off x="320087" y="2009914"/>
            <a:ext cx="1990725" cy="2008111"/>
            <a:chOff x="3711385" y="1272950"/>
            <a:chExt cx="5138682" cy="5183559"/>
          </a:xfrm>
        </p:grpSpPr>
        <p:grpSp>
          <p:nvGrpSpPr>
            <p:cNvPr id="204" name="Google Shape;204;p20"/>
            <p:cNvGrpSpPr/>
            <p:nvPr/>
          </p:nvGrpSpPr>
          <p:grpSpPr>
            <a:xfrm>
              <a:off x="3711385" y="1272950"/>
              <a:ext cx="5138682" cy="5183559"/>
              <a:chOff x="3765171" y="1421576"/>
              <a:chExt cx="4704460" cy="4745545"/>
            </a:xfrm>
          </p:grpSpPr>
          <p:sp>
            <p:nvSpPr>
              <p:cNvPr id="205" name="Google Shape;205;p20"/>
              <p:cNvSpPr/>
              <p:nvPr/>
            </p:nvSpPr>
            <p:spPr>
              <a:xfrm rot="10800000">
                <a:off x="3765171" y="275463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06" name="Google Shape;206;p20"/>
              <p:cNvSpPr/>
              <p:nvPr/>
            </p:nvSpPr>
            <p:spPr>
              <a:xfrm rot="-5400000">
                <a:off x="4900552" y="159258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6047362" y="275082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08" name="Google Shape;208;p20"/>
              <p:cNvSpPr/>
              <p:nvPr/>
            </p:nvSpPr>
            <p:spPr>
              <a:xfrm rot="5400000">
                <a:off x="4910820" y="3915856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grpSp>
          <p:nvGrpSpPr>
            <p:cNvPr id="209" name="Google Shape;209;p20"/>
            <p:cNvGrpSpPr/>
            <p:nvPr/>
          </p:nvGrpSpPr>
          <p:grpSpPr>
            <a:xfrm>
              <a:off x="6008633" y="5754099"/>
              <a:ext cx="478637" cy="476753"/>
              <a:chOff x="4557733" y="2434359"/>
              <a:chExt cx="512624" cy="510606"/>
            </a:xfrm>
          </p:grpSpPr>
          <p:sp>
            <p:nvSpPr>
              <p:cNvPr id="210" name="Google Shape;210;p20"/>
              <p:cNvSpPr/>
              <p:nvPr/>
            </p:nvSpPr>
            <p:spPr>
              <a:xfrm>
                <a:off x="4557733" y="2434359"/>
                <a:ext cx="512624" cy="510606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72" extrusionOk="0">
                    <a:moveTo>
                      <a:pt x="86" y="21"/>
                    </a:moveTo>
                    <a:cubicBezTo>
                      <a:pt x="122" y="21"/>
                      <a:pt x="151" y="50"/>
                      <a:pt x="151" y="86"/>
                    </a:cubicBezTo>
                    <a:cubicBezTo>
                      <a:pt x="151" y="122"/>
                      <a:pt x="122" y="151"/>
                      <a:pt x="86" y="151"/>
                    </a:cubicBezTo>
                    <a:cubicBezTo>
                      <a:pt x="50" y="151"/>
                      <a:pt x="21" y="122"/>
                      <a:pt x="21" y="86"/>
                    </a:cubicBezTo>
                    <a:cubicBezTo>
                      <a:pt x="21" y="50"/>
                      <a:pt x="50" y="21"/>
                      <a:pt x="86" y="21"/>
                    </a:cubicBezTo>
                    <a:moveTo>
                      <a:pt x="86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4"/>
                      <a:pt x="38" y="172"/>
                      <a:pt x="86" y="172"/>
                    </a:cubicBezTo>
                    <a:cubicBezTo>
                      <a:pt x="134" y="172"/>
                      <a:pt x="172" y="134"/>
                      <a:pt x="172" y="86"/>
                    </a:cubicBezTo>
                    <a:cubicBezTo>
                      <a:pt x="172" y="38"/>
                      <a:pt x="134" y="0"/>
                      <a:pt x="8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chemeClr val="dk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11" name="Google Shape;211;p20"/>
              <p:cNvSpPr/>
              <p:nvPr/>
            </p:nvSpPr>
            <p:spPr>
              <a:xfrm>
                <a:off x="4781753" y="2529215"/>
                <a:ext cx="129165" cy="254294"/>
              </a:xfrm>
              <a:custGeom>
                <a:avLst/>
                <a:gdLst/>
                <a:ahLst/>
                <a:cxnLst/>
                <a:rect l="l" t="t" r="r" b="b"/>
                <a:pathLst>
                  <a:path w="44" h="86" extrusionOk="0">
                    <a:moveTo>
                      <a:pt x="33" y="86"/>
                    </a:moveTo>
                    <a:cubicBezTo>
                      <a:pt x="30" y="86"/>
                      <a:pt x="27" y="85"/>
                      <a:pt x="25" y="83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1" y="60"/>
                      <a:pt x="0" y="57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4" y="72"/>
                      <a:pt x="44" y="79"/>
                      <a:pt x="40" y="83"/>
                    </a:cubicBezTo>
                    <a:cubicBezTo>
                      <a:pt x="38" y="85"/>
                      <a:pt x="35" y="86"/>
                      <a:pt x="33" y="8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chemeClr val="dk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grpSp>
          <p:nvGrpSpPr>
            <p:cNvPr id="212" name="Google Shape;212;p20"/>
            <p:cNvGrpSpPr/>
            <p:nvPr/>
          </p:nvGrpSpPr>
          <p:grpSpPr>
            <a:xfrm>
              <a:off x="5930134" y="1546509"/>
              <a:ext cx="438265" cy="421472"/>
              <a:chOff x="6159731" y="1864447"/>
              <a:chExt cx="469385" cy="451400"/>
            </a:xfrm>
          </p:grpSpPr>
          <p:sp>
            <p:nvSpPr>
              <p:cNvPr id="213" name="Google Shape;213;p20"/>
              <p:cNvSpPr/>
              <p:nvPr/>
            </p:nvSpPr>
            <p:spPr>
              <a:xfrm>
                <a:off x="6288812" y="1864447"/>
                <a:ext cx="211200" cy="213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14" name="Google Shape;214;p20"/>
              <p:cNvSpPr/>
              <p:nvPr/>
            </p:nvSpPr>
            <p:spPr>
              <a:xfrm>
                <a:off x="6159731" y="2111736"/>
                <a:ext cx="469385" cy="204111"/>
              </a:xfrm>
              <a:custGeom>
                <a:avLst/>
                <a:gdLst/>
                <a:ahLst/>
                <a:cxnLst/>
                <a:rect l="l" t="t" r="r" b="b"/>
                <a:pathLst>
                  <a:path w="200" h="87" extrusionOk="0">
                    <a:moveTo>
                      <a:pt x="35" y="87"/>
                    </a:moveTo>
                    <a:cubicBezTo>
                      <a:pt x="35" y="72"/>
                      <a:pt x="35" y="72"/>
                      <a:pt x="35" y="72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6" y="87"/>
                      <a:pt x="46" y="87"/>
                      <a:pt x="46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5" y="72"/>
                      <a:pt x="155" y="72"/>
                      <a:pt x="155" y="72"/>
                    </a:cubicBezTo>
                    <a:cubicBezTo>
                      <a:pt x="166" y="72"/>
                      <a:pt x="166" y="72"/>
                      <a:pt x="166" y="72"/>
                    </a:cubicBezTo>
                    <a:cubicBezTo>
                      <a:pt x="166" y="87"/>
                      <a:pt x="166" y="87"/>
                      <a:pt x="166" y="87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9" y="47"/>
                      <a:pt x="200" y="43"/>
                      <a:pt x="200" y="43"/>
                    </a:cubicBezTo>
                    <a:cubicBezTo>
                      <a:pt x="200" y="19"/>
                      <a:pt x="180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0" y="0"/>
                      <a:pt x="140" y="0"/>
                      <a:pt x="140" y="0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4" y="0"/>
                      <a:pt x="44" y="0"/>
                    </a:cubicBezTo>
                    <a:cubicBezTo>
                      <a:pt x="20" y="0"/>
                      <a:pt x="1" y="19"/>
                      <a:pt x="1" y="43"/>
                    </a:cubicBezTo>
                    <a:cubicBezTo>
                      <a:pt x="1" y="43"/>
                      <a:pt x="0" y="47"/>
                      <a:pt x="0" y="87"/>
                    </a:cubicBezTo>
                    <a:lnTo>
                      <a:pt x="3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grpSp>
          <p:nvGrpSpPr>
            <p:cNvPr id="215" name="Google Shape;215;p20"/>
            <p:cNvGrpSpPr/>
            <p:nvPr/>
          </p:nvGrpSpPr>
          <p:grpSpPr>
            <a:xfrm>
              <a:off x="4034207" y="3712154"/>
              <a:ext cx="396175" cy="343351"/>
              <a:chOff x="7090992" y="4839631"/>
              <a:chExt cx="424306" cy="367732"/>
            </a:xfrm>
          </p:grpSpPr>
          <p:sp>
            <p:nvSpPr>
              <p:cNvPr id="216" name="Google Shape;216;p20"/>
              <p:cNvSpPr/>
              <p:nvPr/>
            </p:nvSpPr>
            <p:spPr>
              <a:xfrm>
                <a:off x="7156995" y="4994536"/>
                <a:ext cx="86882" cy="152885"/>
              </a:xfrm>
              <a:custGeom>
                <a:avLst/>
                <a:gdLst/>
                <a:ahLst/>
                <a:cxnLst/>
                <a:rect l="l" t="t" r="r" b="b"/>
                <a:pathLst>
                  <a:path w="54" h="95" extrusionOk="0">
                    <a:moveTo>
                      <a:pt x="4" y="95"/>
                    </a:moveTo>
                    <a:cubicBezTo>
                      <a:pt x="49" y="95"/>
                      <a:pt x="49" y="95"/>
                      <a:pt x="49" y="95"/>
                    </a:cubicBezTo>
                    <a:cubicBezTo>
                      <a:pt x="52" y="95"/>
                      <a:pt x="54" y="93"/>
                      <a:pt x="54" y="90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2" y="95"/>
                      <a:pt x="4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17" name="Google Shape;217;p20"/>
              <p:cNvSpPr/>
              <p:nvPr/>
            </p:nvSpPr>
            <p:spPr>
              <a:xfrm>
                <a:off x="7282266" y="4937962"/>
                <a:ext cx="86882" cy="209459"/>
              </a:xfrm>
              <a:custGeom>
                <a:avLst/>
                <a:gdLst/>
                <a:ahLst/>
                <a:cxnLst/>
                <a:rect l="l" t="t" r="r" b="b"/>
                <a:pathLst>
                  <a:path w="54" h="130" extrusionOk="0">
                    <a:moveTo>
                      <a:pt x="5" y="130"/>
                    </a:moveTo>
                    <a:cubicBezTo>
                      <a:pt x="50" y="130"/>
                      <a:pt x="50" y="130"/>
                      <a:pt x="50" y="130"/>
                    </a:cubicBezTo>
                    <a:cubicBezTo>
                      <a:pt x="52" y="130"/>
                      <a:pt x="54" y="128"/>
                      <a:pt x="54" y="12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5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0" y="128"/>
                      <a:pt x="2" y="130"/>
                      <a:pt x="5" y="1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18" name="Google Shape;218;p20"/>
              <p:cNvSpPr/>
              <p:nvPr/>
            </p:nvSpPr>
            <p:spPr>
              <a:xfrm>
                <a:off x="7408885" y="4891491"/>
                <a:ext cx="86882" cy="255931"/>
              </a:xfrm>
              <a:custGeom>
                <a:avLst/>
                <a:gdLst/>
                <a:ahLst/>
                <a:cxnLst/>
                <a:rect l="l" t="t" r="r" b="b"/>
                <a:pathLst>
                  <a:path w="54" h="159" extrusionOk="0">
                    <a:moveTo>
                      <a:pt x="4" y="159"/>
                    </a:moveTo>
                    <a:cubicBezTo>
                      <a:pt x="49" y="159"/>
                      <a:pt x="49" y="159"/>
                      <a:pt x="49" y="159"/>
                    </a:cubicBezTo>
                    <a:cubicBezTo>
                      <a:pt x="52" y="159"/>
                      <a:pt x="54" y="157"/>
                      <a:pt x="54" y="154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7"/>
                      <a:pt x="2" y="159"/>
                      <a:pt x="4" y="1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19" name="Google Shape;219;p20"/>
              <p:cNvSpPr/>
              <p:nvPr/>
            </p:nvSpPr>
            <p:spPr>
              <a:xfrm>
                <a:off x="7090992" y="4839631"/>
                <a:ext cx="424306" cy="367732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28" extrusionOk="0">
                    <a:moveTo>
                      <a:pt x="253" y="206"/>
                    </a:moveTo>
                    <a:cubicBezTo>
                      <a:pt x="23" y="206"/>
                      <a:pt x="23" y="206"/>
                      <a:pt x="23" y="206"/>
                    </a:cubicBezTo>
                    <a:cubicBezTo>
                      <a:pt x="22" y="206"/>
                      <a:pt x="22" y="206"/>
                      <a:pt x="22" y="206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5"/>
                      <a:pt x="17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0" y="218"/>
                      <a:pt x="10" y="228"/>
                      <a:pt x="23" y="228"/>
                    </a:cubicBezTo>
                    <a:cubicBezTo>
                      <a:pt x="253" y="228"/>
                      <a:pt x="253" y="228"/>
                      <a:pt x="253" y="228"/>
                    </a:cubicBezTo>
                    <a:cubicBezTo>
                      <a:pt x="259" y="228"/>
                      <a:pt x="264" y="223"/>
                      <a:pt x="264" y="217"/>
                    </a:cubicBezTo>
                    <a:cubicBezTo>
                      <a:pt x="264" y="211"/>
                      <a:pt x="259" y="206"/>
                      <a:pt x="253" y="2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grpSp>
          <p:nvGrpSpPr>
            <p:cNvPr id="220" name="Google Shape;220;p20"/>
            <p:cNvGrpSpPr/>
            <p:nvPr/>
          </p:nvGrpSpPr>
          <p:grpSpPr>
            <a:xfrm>
              <a:off x="8189171" y="3651806"/>
              <a:ext cx="364675" cy="360915"/>
              <a:chOff x="4270293" y="4090633"/>
              <a:chExt cx="390570" cy="386543"/>
            </a:xfrm>
          </p:grpSpPr>
          <p:sp>
            <p:nvSpPr>
              <p:cNvPr id="221" name="Google Shape;221;p20"/>
              <p:cNvSpPr/>
              <p:nvPr/>
            </p:nvSpPr>
            <p:spPr>
              <a:xfrm>
                <a:off x="4270293" y="4307258"/>
                <a:ext cx="390570" cy="16991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89" extrusionOk="0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22" name="Google Shape;222;p20"/>
              <p:cNvSpPr/>
              <p:nvPr/>
            </p:nvSpPr>
            <p:spPr>
              <a:xfrm>
                <a:off x="4270293" y="4090633"/>
                <a:ext cx="390570" cy="22467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18" extrusionOk="0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sp>
          <p:nvSpPr>
            <p:cNvPr id="223" name="Google Shape;223;p20"/>
            <p:cNvSpPr/>
            <p:nvPr/>
          </p:nvSpPr>
          <p:spPr>
            <a:xfrm>
              <a:off x="5204058" y="2867849"/>
              <a:ext cx="7446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6436986" y="2877142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6382619" y="4203625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endParaRPr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5037068" y="4149436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endParaRPr>
            </a:p>
          </p:txBody>
        </p:sp>
      </p:grpSp>
      <p:grpSp>
        <p:nvGrpSpPr>
          <p:cNvPr id="227" name="Google Shape;227;p20"/>
          <p:cNvGrpSpPr/>
          <p:nvPr/>
        </p:nvGrpSpPr>
        <p:grpSpPr>
          <a:xfrm>
            <a:off x="2588053" y="929514"/>
            <a:ext cx="6313447" cy="4086913"/>
            <a:chOff x="3202580" y="2364465"/>
            <a:chExt cx="8417929" cy="4724755"/>
          </a:xfrm>
        </p:grpSpPr>
        <p:grpSp>
          <p:nvGrpSpPr>
            <p:cNvPr id="228" name="Google Shape;228;p20"/>
            <p:cNvGrpSpPr/>
            <p:nvPr/>
          </p:nvGrpSpPr>
          <p:grpSpPr>
            <a:xfrm>
              <a:off x="3202715" y="2364465"/>
              <a:ext cx="7364543" cy="155729"/>
              <a:chOff x="4906190" y="1416527"/>
              <a:chExt cx="3933000" cy="166200"/>
            </a:xfrm>
          </p:grpSpPr>
          <p:sp>
            <p:nvSpPr>
              <p:cNvPr id="229" name="Google Shape;229;p20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rgbClr val="FFB85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cxnSp>
            <p:nvCxnSpPr>
              <p:cNvPr id="230" name="Google Shape;230;p20"/>
              <p:cNvCxnSpPr>
                <a:stCxn id="229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31" name="Google Shape;231;p20"/>
            <p:cNvGrpSpPr/>
            <p:nvPr/>
          </p:nvGrpSpPr>
          <p:grpSpPr>
            <a:xfrm>
              <a:off x="3202715" y="3337167"/>
              <a:ext cx="7364543" cy="155729"/>
              <a:chOff x="4906190" y="2727732"/>
              <a:chExt cx="3933000" cy="166200"/>
            </a:xfrm>
          </p:grpSpPr>
          <p:sp>
            <p:nvSpPr>
              <p:cNvPr id="232" name="Google Shape;232;p20"/>
              <p:cNvSpPr/>
              <p:nvPr/>
            </p:nvSpPr>
            <p:spPr>
              <a:xfrm>
                <a:off x="4906190" y="2727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9525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cxnSp>
            <p:nvCxnSpPr>
              <p:cNvPr id="233" name="Google Shape;233;p20"/>
              <p:cNvCxnSpPr>
                <a:stCxn id="232" idx="3"/>
              </p:cNvCxnSpPr>
              <p:nvPr/>
            </p:nvCxnSpPr>
            <p:spPr>
              <a:xfrm>
                <a:off x="5072390" y="2810832"/>
                <a:ext cx="3766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34" name="Google Shape;234;p20"/>
            <p:cNvGrpSpPr/>
            <p:nvPr/>
          </p:nvGrpSpPr>
          <p:grpSpPr>
            <a:xfrm>
              <a:off x="3202715" y="4273994"/>
              <a:ext cx="7364692" cy="155729"/>
              <a:chOff x="4906190" y="3870732"/>
              <a:chExt cx="3933080" cy="166200"/>
            </a:xfrm>
          </p:grpSpPr>
          <p:sp>
            <p:nvSpPr>
              <p:cNvPr id="235" name="Google Shape;235;p20"/>
              <p:cNvSpPr/>
              <p:nvPr/>
            </p:nvSpPr>
            <p:spPr>
              <a:xfrm>
                <a:off x="4906190" y="3870732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cxnSp>
            <p:nvCxnSpPr>
              <p:cNvPr id="236" name="Google Shape;236;p20"/>
              <p:cNvCxnSpPr/>
              <p:nvPr/>
            </p:nvCxnSpPr>
            <p:spPr>
              <a:xfrm>
                <a:off x="5072470" y="3941172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37" name="Google Shape;237;p20"/>
            <p:cNvSpPr txBox="1"/>
            <p:nvPr/>
          </p:nvSpPr>
          <p:spPr>
            <a:xfrm>
              <a:off x="3202580" y="2532614"/>
              <a:ext cx="7364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1.使用者必須能登入系統</a:t>
              </a:r>
              <a:endParaRPr sz="9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238" name="Google Shape;238;p20"/>
            <p:cNvSpPr txBox="1"/>
            <p:nvPr/>
          </p:nvSpPr>
          <p:spPr>
            <a:xfrm>
              <a:off x="3202585" y="3500279"/>
              <a:ext cx="7739400" cy="7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 panose="020B0604020202020204"/>
                <a:buNone/>
              </a:pPr>
              <a:r>
                <a:rPr lang="zh-TW" sz="20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2.支援教室借用類型選擇(短期借用 / 長期借用）</a:t>
              </a:r>
              <a:endParaRPr sz="17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3202580" y="4467082"/>
              <a:ext cx="7364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3.使用者可以查詢教室狀態</a:t>
              </a:r>
              <a:endParaRPr sz="9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grpSp>
          <p:nvGrpSpPr>
            <p:cNvPr id="240" name="Google Shape;240;p20"/>
            <p:cNvGrpSpPr/>
            <p:nvPr/>
          </p:nvGrpSpPr>
          <p:grpSpPr>
            <a:xfrm>
              <a:off x="3203257" y="5213275"/>
              <a:ext cx="7364690" cy="155729"/>
              <a:chOff x="4989842" y="3870732"/>
              <a:chExt cx="3933079" cy="166200"/>
            </a:xfrm>
          </p:grpSpPr>
          <p:sp>
            <p:nvSpPr>
              <p:cNvPr id="241" name="Google Shape;241;p20"/>
              <p:cNvSpPr/>
              <p:nvPr/>
            </p:nvSpPr>
            <p:spPr>
              <a:xfrm>
                <a:off x="4989842" y="3870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9525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cxnSp>
            <p:nvCxnSpPr>
              <p:cNvPr id="242" name="Google Shape;242;p20"/>
              <p:cNvCxnSpPr/>
              <p:nvPr/>
            </p:nvCxnSpPr>
            <p:spPr>
              <a:xfrm>
                <a:off x="5156121" y="3941172"/>
                <a:ext cx="3766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43" name="Google Shape;243;p20"/>
            <p:cNvSpPr txBox="1"/>
            <p:nvPr/>
          </p:nvSpPr>
          <p:spPr>
            <a:xfrm>
              <a:off x="3203109" y="5406353"/>
              <a:ext cx="8417400" cy="7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 panose="020B0604020202020204"/>
                <a:buNone/>
              </a:pPr>
              <a:r>
                <a:rPr lang="zh-TW" sz="20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4.系統需防止時間衝突（同一教室不可同時被借用）</a:t>
              </a:r>
              <a:endParaRPr sz="17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  <a:p>
              <a:pPr marL="0" marR="0" lvl="0" indent="0" algn="just" rtl="0">
                <a:lnSpc>
                  <a:spcPct val="13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grpSp>
          <p:nvGrpSpPr>
            <p:cNvPr id="244" name="Google Shape;244;p20"/>
            <p:cNvGrpSpPr/>
            <p:nvPr/>
          </p:nvGrpSpPr>
          <p:grpSpPr>
            <a:xfrm>
              <a:off x="3220079" y="5981151"/>
              <a:ext cx="7364542" cy="155729"/>
              <a:chOff x="4906190" y="1416527"/>
              <a:chExt cx="3933000" cy="166200"/>
            </a:xfrm>
          </p:grpSpPr>
          <p:sp>
            <p:nvSpPr>
              <p:cNvPr id="245" name="Google Shape;245;p20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rgbClr val="FFB85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cxnSp>
            <p:nvCxnSpPr>
              <p:cNvPr id="246" name="Google Shape;246;p20"/>
              <p:cNvCxnSpPr>
                <a:stCxn id="245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47" name="Google Shape;247;p20"/>
            <p:cNvSpPr txBox="1"/>
            <p:nvPr/>
          </p:nvSpPr>
          <p:spPr>
            <a:xfrm>
              <a:off x="3202594" y="6306220"/>
              <a:ext cx="7364400" cy="7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00"/>
                <a:buFont typeface="Arial" panose="020B0604020202020204"/>
                <a:buNone/>
              </a:pPr>
              <a:r>
                <a:rPr lang="zh-TW" sz="20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5.借用需經過審核</a:t>
              </a:r>
              <a:endParaRPr sz="17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  <a:p>
              <a:pPr marL="0" marR="0" lvl="0" indent="0" algn="l" rtl="0">
                <a:lnSpc>
                  <a:spcPct val="13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248" name="Google Shape;24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21"/>
          <p:cNvGrpSpPr/>
          <p:nvPr/>
        </p:nvGrpSpPr>
        <p:grpSpPr>
          <a:xfrm>
            <a:off x="382271" y="221981"/>
            <a:ext cx="2568885" cy="466773"/>
            <a:chOff x="956666" y="3447854"/>
            <a:chExt cx="3425180" cy="622364"/>
          </a:xfrm>
        </p:grpSpPr>
        <p:sp>
          <p:nvSpPr>
            <p:cNvPr id="255" name="Google Shape;255;p21"/>
            <p:cNvSpPr txBox="1"/>
            <p:nvPr/>
          </p:nvSpPr>
          <p:spPr>
            <a:xfrm>
              <a:off x="1581046" y="3447854"/>
              <a:ext cx="28008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900"/>
                </a:spcBef>
                <a:spcAft>
                  <a:spcPts val="900"/>
                </a:spcAft>
                <a:buSzPts val="800"/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功能性需求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grpSp>
        <p:nvGrpSpPr>
          <p:cNvPr id="258" name="Google Shape;258;p21"/>
          <p:cNvGrpSpPr/>
          <p:nvPr/>
        </p:nvGrpSpPr>
        <p:grpSpPr>
          <a:xfrm>
            <a:off x="320087" y="2009914"/>
            <a:ext cx="1990725" cy="2008111"/>
            <a:chOff x="3711385" y="1272950"/>
            <a:chExt cx="5138682" cy="5183559"/>
          </a:xfrm>
        </p:grpSpPr>
        <p:grpSp>
          <p:nvGrpSpPr>
            <p:cNvPr id="259" name="Google Shape;259;p21"/>
            <p:cNvGrpSpPr/>
            <p:nvPr/>
          </p:nvGrpSpPr>
          <p:grpSpPr>
            <a:xfrm>
              <a:off x="3711385" y="1272950"/>
              <a:ext cx="5138682" cy="5183559"/>
              <a:chOff x="3765171" y="1421576"/>
              <a:chExt cx="4704460" cy="4745545"/>
            </a:xfrm>
          </p:grpSpPr>
          <p:sp>
            <p:nvSpPr>
              <p:cNvPr id="260" name="Google Shape;260;p21"/>
              <p:cNvSpPr/>
              <p:nvPr/>
            </p:nvSpPr>
            <p:spPr>
              <a:xfrm rot="10800000">
                <a:off x="3765171" y="275463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61" name="Google Shape;261;p21"/>
              <p:cNvSpPr/>
              <p:nvPr/>
            </p:nvSpPr>
            <p:spPr>
              <a:xfrm rot="-5400000">
                <a:off x="4900552" y="159258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62" name="Google Shape;262;p21"/>
              <p:cNvSpPr/>
              <p:nvPr/>
            </p:nvSpPr>
            <p:spPr>
              <a:xfrm>
                <a:off x="6047362" y="2750820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63" name="Google Shape;263;p21"/>
              <p:cNvSpPr/>
              <p:nvPr/>
            </p:nvSpPr>
            <p:spPr>
              <a:xfrm rot="5400000">
                <a:off x="4910820" y="3915856"/>
                <a:ext cx="2422269" cy="2080260"/>
              </a:xfrm>
              <a:custGeom>
                <a:avLst/>
                <a:gdLst/>
                <a:ahLst/>
                <a:cxnLst/>
                <a:rect l="l" t="t" r="r" b="b"/>
                <a:pathLst>
                  <a:path w="2422269" h="2080260" extrusionOk="0">
                    <a:moveTo>
                      <a:pt x="1382139" y="2080260"/>
                    </a:moveTo>
                    <a:lnTo>
                      <a:pt x="1198649" y="2080260"/>
                    </a:lnTo>
                    <a:lnTo>
                      <a:pt x="1198649" y="1699287"/>
                    </a:lnTo>
                    <a:lnTo>
                      <a:pt x="1211517" y="1718373"/>
                    </a:lnTo>
                    <a:cubicBezTo>
                      <a:pt x="1237372" y="1744228"/>
                      <a:pt x="1273091" y="1760220"/>
                      <a:pt x="1312545" y="1760220"/>
                    </a:cubicBezTo>
                    <a:cubicBezTo>
                      <a:pt x="1391453" y="1760220"/>
                      <a:pt x="1455420" y="1696253"/>
                      <a:pt x="1455420" y="1617345"/>
                    </a:cubicBezTo>
                    <a:cubicBezTo>
                      <a:pt x="1455420" y="1538437"/>
                      <a:pt x="1391453" y="1474470"/>
                      <a:pt x="1312545" y="1474470"/>
                    </a:cubicBezTo>
                    <a:cubicBezTo>
                      <a:pt x="1273091" y="1474470"/>
                      <a:pt x="1237372" y="1490462"/>
                      <a:pt x="1211517" y="1516317"/>
                    </a:cubicBezTo>
                    <a:lnTo>
                      <a:pt x="1198649" y="1535403"/>
                    </a:lnTo>
                    <a:lnTo>
                      <a:pt x="1198649" y="1163955"/>
                    </a:lnTo>
                    <a:lnTo>
                      <a:pt x="1397097" y="1163955"/>
                    </a:lnTo>
                    <a:cubicBezTo>
                      <a:pt x="1467588" y="1163955"/>
                      <a:pt x="1524732" y="1106811"/>
                      <a:pt x="1524732" y="1036320"/>
                    </a:cubicBezTo>
                    <a:cubicBezTo>
                      <a:pt x="1524732" y="965829"/>
                      <a:pt x="1467588" y="908685"/>
                      <a:pt x="1397097" y="908685"/>
                    </a:cubicBezTo>
                    <a:lnTo>
                      <a:pt x="195486" y="908685"/>
                    </a:lnTo>
                    <a:lnTo>
                      <a:pt x="195486" y="568499"/>
                    </a:lnTo>
                    <a:lnTo>
                      <a:pt x="142875" y="579120"/>
                    </a:lnTo>
                    <a:cubicBezTo>
                      <a:pt x="63967" y="579120"/>
                      <a:pt x="0" y="515153"/>
                      <a:pt x="0" y="436245"/>
                    </a:cubicBezTo>
                    <a:cubicBezTo>
                      <a:pt x="0" y="357337"/>
                      <a:pt x="63967" y="293370"/>
                      <a:pt x="142875" y="293370"/>
                    </a:cubicBezTo>
                    <a:lnTo>
                      <a:pt x="195486" y="303992"/>
                    </a:lnTo>
                    <a:lnTo>
                      <a:pt x="195486" y="0"/>
                    </a:lnTo>
                    <a:lnTo>
                      <a:pt x="1382139" y="0"/>
                    </a:lnTo>
                    <a:cubicBezTo>
                      <a:pt x="1956587" y="0"/>
                      <a:pt x="2422269" y="465682"/>
                      <a:pt x="2422269" y="1040130"/>
                    </a:cubicBezTo>
                    <a:cubicBezTo>
                      <a:pt x="2422269" y="1614578"/>
                      <a:pt x="1956587" y="2080260"/>
                      <a:pt x="1382139" y="2080260"/>
                    </a:cubicBezTo>
                    <a:close/>
                  </a:path>
                </a:pathLst>
              </a:cu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45675" tIns="22850" rIns="45675" bIns="2285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rgbClr val="FFFFFF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grpSp>
          <p:nvGrpSpPr>
            <p:cNvPr id="264" name="Google Shape;264;p21"/>
            <p:cNvGrpSpPr/>
            <p:nvPr/>
          </p:nvGrpSpPr>
          <p:grpSpPr>
            <a:xfrm>
              <a:off x="6008633" y="5754099"/>
              <a:ext cx="478637" cy="476753"/>
              <a:chOff x="4557733" y="2434359"/>
              <a:chExt cx="512624" cy="510606"/>
            </a:xfrm>
          </p:grpSpPr>
          <p:sp>
            <p:nvSpPr>
              <p:cNvPr id="265" name="Google Shape;265;p21"/>
              <p:cNvSpPr/>
              <p:nvPr/>
            </p:nvSpPr>
            <p:spPr>
              <a:xfrm>
                <a:off x="4557733" y="2434359"/>
                <a:ext cx="512624" cy="510606"/>
              </a:xfrm>
              <a:custGeom>
                <a:avLst/>
                <a:gdLst/>
                <a:ahLst/>
                <a:cxnLst/>
                <a:rect l="l" t="t" r="r" b="b"/>
                <a:pathLst>
                  <a:path w="172" h="172" extrusionOk="0">
                    <a:moveTo>
                      <a:pt x="86" y="21"/>
                    </a:moveTo>
                    <a:cubicBezTo>
                      <a:pt x="122" y="21"/>
                      <a:pt x="151" y="50"/>
                      <a:pt x="151" y="86"/>
                    </a:cubicBezTo>
                    <a:cubicBezTo>
                      <a:pt x="151" y="122"/>
                      <a:pt x="122" y="151"/>
                      <a:pt x="86" y="151"/>
                    </a:cubicBezTo>
                    <a:cubicBezTo>
                      <a:pt x="50" y="151"/>
                      <a:pt x="21" y="122"/>
                      <a:pt x="21" y="86"/>
                    </a:cubicBezTo>
                    <a:cubicBezTo>
                      <a:pt x="21" y="50"/>
                      <a:pt x="50" y="21"/>
                      <a:pt x="86" y="21"/>
                    </a:cubicBezTo>
                    <a:moveTo>
                      <a:pt x="86" y="0"/>
                    </a:moveTo>
                    <a:cubicBezTo>
                      <a:pt x="38" y="0"/>
                      <a:pt x="0" y="38"/>
                      <a:pt x="0" y="86"/>
                    </a:cubicBezTo>
                    <a:cubicBezTo>
                      <a:pt x="0" y="134"/>
                      <a:pt x="38" y="172"/>
                      <a:pt x="86" y="172"/>
                    </a:cubicBezTo>
                    <a:cubicBezTo>
                      <a:pt x="134" y="172"/>
                      <a:pt x="172" y="134"/>
                      <a:pt x="172" y="86"/>
                    </a:cubicBezTo>
                    <a:cubicBezTo>
                      <a:pt x="172" y="38"/>
                      <a:pt x="134" y="0"/>
                      <a:pt x="8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chemeClr val="dk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66" name="Google Shape;266;p21"/>
              <p:cNvSpPr/>
              <p:nvPr/>
            </p:nvSpPr>
            <p:spPr>
              <a:xfrm>
                <a:off x="4781753" y="2529215"/>
                <a:ext cx="129165" cy="254294"/>
              </a:xfrm>
              <a:custGeom>
                <a:avLst/>
                <a:gdLst/>
                <a:ahLst/>
                <a:cxnLst/>
                <a:rect l="l" t="t" r="r" b="b"/>
                <a:pathLst>
                  <a:path w="44" h="86" extrusionOk="0">
                    <a:moveTo>
                      <a:pt x="33" y="86"/>
                    </a:moveTo>
                    <a:cubicBezTo>
                      <a:pt x="30" y="86"/>
                      <a:pt x="27" y="85"/>
                      <a:pt x="25" y="83"/>
                    </a:cubicBezTo>
                    <a:cubicBezTo>
                      <a:pt x="3" y="62"/>
                      <a:pt x="3" y="62"/>
                      <a:pt x="3" y="62"/>
                    </a:cubicBezTo>
                    <a:cubicBezTo>
                      <a:pt x="1" y="60"/>
                      <a:pt x="0" y="57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54"/>
                      <a:pt x="0" y="54"/>
                      <a:pt x="0" y="54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17" y="0"/>
                      <a:pt x="22" y="5"/>
                      <a:pt x="22" y="11"/>
                    </a:cubicBezTo>
                    <a:cubicBezTo>
                      <a:pt x="22" y="50"/>
                      <a:pt x="22" y="50"/>
                      <a:pt x="22" y="50"/>
                    </a:cubicBezTo>
                    <a:cubicBezTo>
                      <a:pt x="40" y="68"/>
                      <a:pt x="40" y="68"/>
                      <a:pt x="40" y="68"/>
                    </a:cubicBezTo>
                    <a:cubicBezTo>
                      <a:pt x="44" y="72"/>
                      <a:pt x="44" y="79"/>
                      <a:pt x="40" y="83"/>
                    </a:cubicBezTo>
                    <a:cubicBezTo>
                      <a:pt x="38" y="85"/>
                      <a:pt x="35" y="86"/>
                      <a:pt x="33" y="8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>
                  <a:solidFill>
                    <a:schemeClr val="dk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grpSp>
          <p:nvGrpSpPr>
            <p:cNvPr id="267" name="Google Shape;267;p21"/>
            <p:cNvGrpSpPr/>
            <p:nvPr/>
          </p:nvGrpSpPr>
          <p:grpSpPr>
            <a:xfrm>
              <a:off x="5930134" y="1546509"/>
              <a:ext cx="438265" cy="421472"/>
              <a:chOff x="6159731" y="1864447"/>
              <a:chExt cx="469385" cy="451400"/>
            </a:xfrm>
          </p:grpSpPr>
          <p:sp>
            <p:nvSpPr>
              <p:cNvPr id="268" name="Google Shape;268;p21"/>
              <p:cNvSpPr/>
              <p:nvPr/>
            </p:nvSpPr>
            <p:spPr>
              <a:xfrm>
                <a:off x="6288812" y="1864447"/>
                <a:ext cx="211200" cy="213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69" name="Google Shape;269;p21"/>
              <p:cNvSpPr/>
              <p:nvPr/>
            </p:nvSpPr>
            <p:spPr>
              <a:xfrm>
                <a:off x="6159731" y="2111736"/>
                <a:ext cx="469385" cy="204111"/>
              </a:xfrm>
              <a:custGeom>
                <a:avLst/>
                <a:gdLst/>
                <a:ahLst/>
                <a:cxnLst/>
                <a:rect l="l" t="t" r="r" b="b"/>
                <a:pathLst>
                  <a:path w="200" h="87" extrusionOk="0">
                    <a:moveTo>
                      <a:pt x="35" y="87"/>
                    </a:moveTo>
                    <a:cubicBezTo>
                      <a:pt x="35" y="72"/>
                      <a:pt x="35" y="72"/>
                      <a:pt x="35" y="72"/>
                    </a:cubicBezTo>
                    <a:cubicBezTo>
                      <a:pt x="46" y="72"/>
                      <a:pt x="46" y="72"/>
                      <a:pt x="46" y="72"/>
                    </a:cubicBezTo>
                    <a:cubicBezTo>
                      <a:pt x="46" y="87"/>
                      <a:pt x="46" y="87"/>
                      <a:pt x="46" y="87"/>
                    </a:cubicBezTo>
                    <a:cubicBezTo>
                      <a:pt x="155" y="87"/>
                      <a:pt x="155" y="87"/>
                      <a:pt x="155" y="87"/>
                    </a:cubicBezTo>
                    <a:cubicBezTo>
                      <a:pt x="155" y="72"/>
                      <a:pt x="155" y="72"/>
                      <a:pt x="155" y="72"/>
                    </a:cubicBezTo>
                    <a:cubicBezTo>
                      <a:pt x="166" y="72"/>
                      <a:pt x="166" y="72"/>
                      <a:pt x="166" y="72"/>
                    </a:cubicBezTo>
                    <a:cubicBezTo>
                      <a:pt x="166" y="87"/>
                      <a:pt x="166" y="87"/>
                      <a:pt x="166" y="87"/>
                    </a:cubicBezTo>
                    <a:cubicBezTo>
                      <a:pt x="199" y="87"/>
                      <a:pt x="199" y="87"/>
                      <a:pt x="199" y="87"/>
                    </a:cubicBezTo>
                    <a:cubicBezTo>
                      <a:pt x="199" y="47"/>
                      <a:pt x="200" y="43"/>
                      <a:pt x="200" y="43"/>
                    </a:cubicBezTo>
                    <a:cubicBezTo>
                      <a:pt x="200" y="19"/>
                      <a:pt x="180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0" y="0"/>
                      <a:pt x="140" y="0"/>
                      <a:pt x="140" y="0"/>
                    </a:cubicBezTo>
                    <a:cubicBezTo>
                      <a:pt x="100" y="80"/>
                      <a:pt x="100" y="80"/>
                      <a:pt x="100" y="8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0"/>
                      <a:pt x="44" y="0"/>
                      <a:pt x="44" y="0"/>
                    </a:cubicBezTo>
                    <a:cubicBezTo>
                      <a:pt x="20" y="0"/>
                      <a:pt x="1" y="19"/>
                      <a:pt x="1" y="43"/>
                    </a:cubicBezTo>
                    <a:cubicBezTo>
                      <a:pt x="1" y="43"/>
                      <a:pt x="0" y="47"/>
                      <a:pt x="0" y="87"/>
                    </a:cubicBezTo>
                    <a:lnTo>
                      <a:pt x="35" y="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grpSp>
          <p:nvGrpSpPr>
            <p:cNvPr id="270" name="Google Shape;270;p21"/>
            <p:cNvGrpSpPr/>
            <p:nvPr/>
          </p:nvGrpSpPr>
          <p:grpSpPr>
            <a:xfrm>
              <a:off x="4034207" y="3712154"/>
              <a:ext cx="396175" cy="343351"/>
              <a:chOff x="7090992" y="4839631"/>
              <a:chExt cx="424306" cy="367732"/>
            </a:xfrm>
          </p:grpSpPr>
          <p:sp>
            <p:nvSpPr>
              <p:cNvPr id="271" name="Google Shape;271;p21"/>
              <p:cNvSpPr/>
              <p:nvPr/>
            </p:nvSpPr>
            <p:spPr>
              <a:xfrm>
                <a:off x="7156995" y="4994536"/>
                <a:ext cx="86882" cy="152885"/>
              </a:xfrm>
              <a:custGeom>
                <a:avLst/>
                <a:gdLst/>
                <a:ahLst/>
                <a:cxnLst/>
                <a:rect l="l" t="t" r="r" b="b"/>
                <a:pathLst>
                  <a:path w="54" h="95" extrusionOk="0">
                    <a:moveTo>
                      <a:pt x="4" y="95"/>
                    </a:moveTo>
                    <a:cubicBezTo>
                      <a:pt x="49" y="95"/>
                      <a:pt x="49" y="95"/>
                      <a:pt x="49" y="95"/>
                    </a:cubicBezTo>
                    <a:cubicBezTo>
                      <a:pt x="52" y="95"/>
                      <a:pt x="54" y="93"/>
                      <a:pt x="54" y="90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2" y="95"/>
                      <a:pt x="4" y="9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72" name="Google Shape;272;p21"/>
              <p:cNvSpPr/>
              <p:nvPr/>
            </p:nvSpPr>
            <p:spPr>
              <a:xfrm>
                <a:off x="7282266" y="4937962"/>
                <a:ext cx="86882" cy="209459"/>
              </a:xfrm>
              <a:custGeom>
                <a:avLst/>
                <a:gdLst/>
                <a:ahLst/>
                <a:cxnLst/>
                <a:rect l="l" t="t" r="r" b="b"/>
                <a:pathLst>
                  <a:path w="54" h="130" extrusionOk="0">
                    <a:moveTo>
                      <a:pt x="5" y="130"/>
                    </a:moveTo>
                    <a:cubicBezTo>
                      <a:pt x="50" y="130"/>
                      <a:pt x="50" y="130"/>
                      <a:pt x="50" y="130"/>
                    </a:cubicBezTo>
                    <a:cubicBezTo>
                      <a:pt x="52" y="130"/>
                      <a:pt x="54" y="128"/>
                      <a:pt x="54" y="12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5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25"/>
                      <a:pt x="0" y="125"/>
                      <a:pt x="0" y="125"/>
                    </a:cubicBezTo>
                    <a:cubicBezTo>
                      <a:pt x="0" y="128"/>
                      <a:pt x="2" y="130"/>
                      <a:pt x="5" y="1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73" name="Google Shape;273;p21"/>
              <p:cNvSpPr/>
              <p:nvPr/>
            </p:nvSpPr>
            <p:spPr>
              <a:xfrm>
                <a:off x="7408885" y="4891491"/>
                <a:ext cx="86882" cy="255931"/>
              </a:xfrm>
              <a:custGeom>
                <a:avLst/>
                <a:gdLst/>
                <a:ahLst/>
                <a:cxnLst/>
                <a:rect l="l" t="t" r="r" b="b"/>
                <a:pathLst>
                  <a:path w="54" h="159" extrusionOk="0">
                    <a:moveTo>
                      <a:pt x="4" y="159"/>
                    </a:moveTo>
                    <a:cubicBezTo>
                      <a:pt x="49" y="159"/>
                      <a:pt x="49" y="159"/>
                      <a:pt x="49" y="159"/>
                    </a:cubicBezTo>
                    <a:cubicBezTo>
                      <a:pt x="52" y="159"/>
                      <a:pt x="54" y="157"/>
                      <a:pt x="54" y="154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49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4"/>
                      <a:pt x="0" y="154"/>
                      <a:pt x="0" y="154"/>
                    </a:cubicBezTo>
                    <a:cubicBezTo>
                      <a:pt x="0" y="157"/>
                      <a:pt x="2" y="159"/>
                      <a:pt x="4" y="1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74" name="Google Shape;274;p21"/>
              <p:cNvSpPr/>
              <p:nvPr/>
            </p:nvSpPr>
            <p:spPr>
              <a:xfrm>
                <a:off x="7090992" y="4839631"/>
                <a:ext cx="424306" cy="367732"/>
              </a:xfrm>
              <a:custGeom>
                <a:avLst/>
                <a:gdLst/>
                <a:ahLst/>
                <a:cxnLst/>
                <a:rect l="l" t="t" r="r" b="b"/>
                <a:pathLst>
                  <a:path w="264" h="228" extrusionOk="0">
                    <a:moveTo>
                      <a:pt x="253" y="206"/>
                    </a:moveTo>
                    <a:cubicBezTo>
                      <a:pt x="23" y="206"/>
                      <a:pt x="23" y="206"/>
                      <a:pt x="23" y="206"/>
                    </a:cubicBezTo>
                    <a:cubicBezTo>
                      <a:pt x="22" y="206"/>
                      <a:pt x="22" y="206"/>
                      <a:pt x="22" y="206"/>
                    </a:cubicBezTo>
                    <a:cubicBezTo>
                      <a:pt x="22" y="11"/>
                      <a:pt x="22" y="11"/>
                      <a:pt x="22" y="11"/>
                    </a:cubicBezTo>
                    <a:cubicBezTo>
                      <a:pt x="22" y="5"/>
                      <a:pt x="17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206"/>
                      <a:pt x="0" y="206"/>
                      <a:pt x="0" y="206"/>
                    </a:cubicBezTo>
                    <a:cubicBezTo>
                      <a:pt x="0" y="218"/>
                      <a:pt x="10" y="228"/>
                      <a:pt x="23" y="228"/>
                    </a:cubicBezTo>
                    <a:cubicBezTo>
                      <a:pt x="253" y="228"/>
                      <a:pt x="253" y="228"/>
                      <a:pt x="253" y="228"/>
                    </a:cubicBezTo>
                    <a:cubicBezTo>
                      <a:pt x="259" y="228"/>
                      <a:pt x="264" y="223"/>
                      <a:pt x="264" y="217"/>
                    </a:cubicBezTo>
                    <a:cubicBezTo>
                      <a:pt x="264" y="211"/>
                      <a:pt x="259" y="206"/>
                      <a:pt x="253" y="2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grpSp>
          <p:nvGrpSpPr>
            <p:cNvPr id="275" name="Google Shape;275;p21"/>
            <p:cNvGrpSpPr/>
            <p:nvPr/>
          </p:nvGrpSpPr>
          <p:grpSpPr>
            <a:xfrm>
              <a:off x="8189171" y="3651806"/>
              <a:ext cx="364675" cy="360915"/>
              <a:chOff x="4270293" y="4090633"/>
              <a:chExt cx="390570" cy="386543"/>
            </a:xfrm>
          </p:grpSpPr>
          <p:sp>
            <p:nvSpPr>
              <p:cNvPr id="276" name="Google Shape;276;p21"/>
              <p:cNvSpPr/>
              <p:nvPr/>
            </p:nvSpPr>
            <p:spPr>
              <a:xfrm>
                <a:off x="4270293" y="4307258"/>
                <a:ext cx="390570" cy="16991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89" extrusionOk="0">
                    <a:moveTo>
                      <a:pt x="103" y="19"/>
                    </a:moveTo>
                    <a:cubicBezTo>
                      <a:pt x="82" y="19"/>
                      <a:pt x="62" y="12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0" y="79"/>
                      <a:pt x="10" y="89"/>
                      <a:pt x="22" y="89"/>
                    </a:cubicBezTo>
                    <a:cubicBezTo>
                      <a:pt x="183" y="89"/>
                      <a:pt x="183" y="89"/>
                      <a:pt x="183" y="89"/>
                    </a:cubicBezTo>
                    <a:cubicBezTo>
                      <a:pt x="195" y="89"/>
                      <a:pt x="205" y="79"/>
                      <a:pt x="205" y="67"/>
                    </a:cubicBezTo>
                    <a:cubicBezTo>
                      <a:pt x="205" y="0"/>
                      <a:pt x="205" y="0"/>
                      <a:pt x="205" y="0"/>
                    </a:cubicBezTo>
                    <a:cubicBezTo>
                      <a:pt x="158" y="0"/>
                      <a:pt x="158" y="0"/>
                      <a:pt x="158" y="0"/>
                    </a:cubicBezTo>
                    <a:cubicBezTo>
                      <a:pt x="143" y="12"/>
                      <a:pt x="124" y="19"/>
                      <a:pt x="103" y="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277" name="Google Shape;277;p21"/>
              <p:cNvSpPr/>
              <p:nvPr/>
            </p:nvSpPr>
            <p:spPr>
              <a:xfrm>
                <a:off x="4270293" y="4090633"/>
                <a:ext cx="390570" cy="224678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18" extrusionOk="0">
                    <a:moveTo>
                      <a:pt x="183" y="42"/>
                    </a:moveTo>
                    <a:cubicBezTo>
                      <a:pt x="180" y="42"/>
                      <a:pt x="180" y="42"/>
                      <a:pt x="180" y="42"/>
                    </a:cubicBezTo>
                    <a:cubicBezTo>
                      <a:pt x="154" y="42"/>
                      <a:pt x="154" y="42"/>
                      <a:pt x="154" y="42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54" y="10"/>
                      <a:pt x="144" y="0"/>
                      <a:pt x="132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61" y="0"/>
                      <a:pt x="51" y="10"/>
                      <a:pt x="51" y="22"/>
                    </a:cubicBezTo>
                    <a:cubicBezTo>
                      <a:pt x="51" y="42"/>
                      <a:pt x="51" y="42"/>
                      <a:pt x="51" y="42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0" y="42"/>
                      <a:pt x="0" y="52"/>
                      <a:pt x="0" y="64"/>
                    </a:cubicBezTo>
                    <a:cubicBezTo>
                      <a:pt x="0" y="101"/>
                      <a:pt x="0" y="101"/>
                      <a:pt x="0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67" y="112"/>
                      <a:pt x="84" y="118"/>
                      <a:pt x="103" y="118"/>
                    </a:cubicBezTo>
                    <a:cubicBezTo>
                      <a:pt x="121" y="118"/>
                      <a:pt x="138" y="112"/>
                      <a:pt x="151" y="101"/>
                    </a:cubicBezTo>
                    <a:cubicBezTo>
                      <a:pt x="205" y="101"/>
                      <a:pt x="205" y="101"/>
                      <a:pt x="205" y="101"/>
                    </a:cubicBezTo>
                    <a:cubicBezTo>
                      <a:pt x="205" y="64"/>
                      <a:pt x="205" y="64"/>
                      <a:pt x="205" y="64"/>
                    </a:cubicBezTo>
                    <a:cubicBezTo>
                      <a:pt x="205" y="52"/>
                      <a:pt x="195" y="42"/>
                      <a:pt x="183" y="42"/>
                    </a:cubicBezTo>
                    <a:close/>
                    <a:moveTo>
                      <a:pt x="67" y="26"/>
                    </a:moveTo>
                    <a:cubicBezTo>
                      <a:pt x="67" y="22"/>
                      <a:pt x="67" y="22"/>
                      <a:pt x="67" y="22"/>
                    </a:cubicBezTo>
                    <a:cubicBezTo>
                      <a:pt x="67" y="19"/>
                      <a:pt x="70" y="17"/>
                      <a:pt x="73" y="17"/>
                    </a:cubicBezTo>
                    <a:cubicBezTo>
                      <a:pt x="132" y="17"/>
                      <a:pt x="132" y="17"/>
                      <a:pt x="132" y="17"/>
                    </a:cubicBezTo>
                    <a:cubicBezTo>
                      <a:pt x="135" y="17"/>
                      <a:pt x="138" y="19"/>
                      <a:pt x="138" y="22"/>
                    </a:cubicBezTo>
                    <a:cubicBezTo>
                      <a:pt x="138" y="26"/>
                      <a:pt x="138" y="26"/>
                      <a:pt x="138" y="26"/>
                    </a:cubicBezTo>
                    <a:cubicBezTo>
                      <a:pt x="138" y="42"/>
                      <a:pt x="138" y="42"/>
                      <a:pt x="138" y="42"/>
                    </a:cubicBezTo>
                    <a:cubicBezTo>
                      <a:pt x="67" y="42"/>
                      <a:pt x="67" y="42"/>
                      <a:pt x="67" y="42"/>
                    </a:cubicBezTo>
                    <a:lnTo>
                      <a:pt x="67" y="26"/>
                    </a:lnTo>
                    <a:close/>
                    <a:moveTo>
                      <a:pt x="101" y="101"/>
                    </a:moveTo>
                    <a:cubicBezTo>
                      <a:pt x="92" y="101"/>
                      <a:pt x="85" y="94"/>
                      <a:pt x="85" y="86"/>
                    </a:cubicBezTo>
                    <a:cubicBezTo>
                      <a:pt x="85" y="77"/>
                      <a:pt x="92" y="70"/>
                      <a:pt x="101" y="70"/>
                    </a:cubicBezTo>
                    <a:cubicBezTo>
                      <a:pt x="110" y="70"/>
                      <a:pt x="117" y="77"/>
                      <a:pt x="117" y="86"/>
                    </a:cubicBezTo>
                    <a:cubicBezTo>
                      <a:pt x="117" y="94"/>
                      <a:pt x="110" y="101"/>
                      <a:pt x="101" y="1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45675" tIns="22850" rIns="45675" bIns="2285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>
                  <a:solidFill>
                    <a:srgbClr val="00000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sp>
          <p:nvSpPr>
            <p:cNvPr id="278" name="Google Shape;278;p21"/>
            <p:cNvSpPr/>
            <p:nvPr/>
          </p:nvSpPr>
          <p:spPr>
            <a:xfrm>
              <a:off x="5204058" y="2867849"/>
              <a:ext cx="7446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6436986" y="2877142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6382619" y="4203625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endParaRPr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5037068" y="4149436"/>
              <a:ext cx="1039500" cy="75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22850" rIns="45675" bIns="22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FFFFFF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endParaRPr>
            </a:p>
          </p:txBody>
        </p:sp>
      </p:grpSp>
      <p:grpSp>
        <p:nvGrpSpPr>
          <p:cNvPr id="282" name="Google Shape;282;p21"/>
          <p:cNvGrpSpPr/>
          <p:nvPr/>
        </p:nvGrpSpPr>
        <p:grpSpPr>
          <a:xfrm>
            <a:off x="2552491" y="753033"/>
            <a:ext cx="6313447" cy="4256114"/>
            <a:chOff x="3202580" y="2364465"/>
            <a:chExt cx="8417929" cy="4920363"/>
          </a:xfrm>
        </p:grpSpPr>
        <p:grpSp>
          <p:nvGrpSpPr>
            <p:cNvPr id="283" name="Google Shape;283;p21"/>
            <p:cNvGrpSpPr/>
            <p:nvPr/>
          </p:nvGrpSpPr>
          <p:grpSpPr>
            <a:xfrm>
              <a:off x="3202715" y="2364465"/>
              <a:ext cx="7364543" cy="155729"/>
              <a:chOff x="4906190" y="1416527"/>
              <a:chExt cx="3933000" cy="166200"/>
            </a:xfrm>
          </p:grpSpPr>
          <p:sp>
            <p:nvSpPr>
              <p:cNvPr id="284" name="Google Shape;284;p21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rgbClr val="FFB85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cxnSp>
            <p:nvCxnSpPr>
              <p:cNvPr id="285" name="Google Shape;285;p21"/>
              <p:cNvCxnSpPr>
                <a:stCxn id="284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86" name="Google Shape;286;p21"/>
            <p:cNvGrpSpPr/>
            <p:nvPr/>
          </p:nvGrpSpPr>
          <p:grpSpPr>
            <a:xfrm>
              <a:off x="3202715" y="3337167"/>
              <a:ext cx="7364543" cy="155729"/>
              <a:chOff x="4906190" y="2727732"/>
              <a:chExt cx="3933000" cy="166200"/>
            </a:xfrm>
          </p:grpSpPr>
          <p:sp>
            <p:nvSpPr>
              <p:cNvPr id="287" name="Google Shape;287;p21"/>
              <p:cNvSpPr/>
              <p:nvPr/>
            </p:nvSpPr>
            <p:spPr>
              <a:xfrm>
                <a:off x="4906190" y="2727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9525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cxnSp>
            <p:nvCxnSpPr>
              <p:cNvPr id="288" name="Google Shape;288;p21"/>
              <p:cNvCxnSpPr>
                <a:stCxn id="287" idx="3"/>
              </p:cNvCxnSpPr>
              <p:nvPr/>
            </p:nvCxnSpPr>
            <p:spPr>
              <a:xfrm>
                <a:off x="5072390" y="2810832"/>
                <a:ext cx="3766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grpSp>
          <p:nvGrpSpPr>
            <p:cNvPr id="289" name="Google Shape;289;p21"/>
            <p:cNvGrpSpPr/>
            <p:nvPr/>
          </p:nvGrpSpPr>
          <p:grpSpPr>
            <a:xfrm>
              <a:off x="3202715" y="4273994"/>
              <a:ext cx="7364692" cy="155729"/>
              <a:chOff x="4906190" y="3870732"/>
              <a:chExt cx="3933080" cy="166200"/>
            </a:xfrm>
          </p:grpSpPr>
          <p:sp>
            <p:nvSpPr>
              <p:cNvPr id="290" name="Google Shape;290;p21"/>
              <p:cNvSpPr/>
              <p:nvPr/>
            </p:nvSpPr>
            <p:spPr>
              <a:xfrm>
                <a:off x="4906190" y="3870732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cxnSp>
            <p:nvCxnSpPr>
              <p:cNvPr id="291" name="Google Shape;291;p21"/>
              <p:cNvCxnSpPr/>
              <p:nvPr/>
            </p:nvCxnSpPr>
            <p:spPr>
              <a:xfrm>
                <a:off x="5072470" y="3941172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92" name="Google Shape;292;p21"/>
            <p:cNvSpPr txBox="1"/>
            <p:nvPr/>
          </p:nvSpPr>
          <p:spPr>
            <a:xfrm>
              <a:off x="3202580" y="2532614"/>
              <a:ext cx="7364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6.系統需保存歷史借用紀錄</a:t>
              </a:r>
              <a:endParaRPr sz="20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293" name="Google Shape;293;p21"/>
            <p:cNvSpPr txBox="1"/>
            <p:nvPr/>
          </p:nvSpPr>
          <p:spPr>
            <a:xfrm>
              <a:off x="3202585" y="3500279"/>
              <a:ext cx="7739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7.管理員可管理教室資料</a:t>
              </a:r>
              <a:endParaRPr sz="20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294" name="Google Shape;294;p21"/>
            <p:cNvSpPr txBox="1"/>
            <p:nvPr/>
          </p:nvSpPr>
          <p:spPr>
            <a:xfrm>
              <a:off x="3202580" y="4467082"/>
              <a:ext cx="7364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8.系統記錄審核歷程(記錄審核者與操作內容)</a:t>
              </a:r>
              <a:endParaRPr sz="20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grpSp>
          <p:nvGrpSpPr>
            <p:cNvPr id="295" name="Google Shape;295;p21"/>
            <p:cNvGrpSpPr/>
            <p:nvPr/>
          </p:nvGrpSpPr>
          <p:grpSpPr>
            <a:xfrm>
              <a:off x="3203257" y="5213275"/>
              <a:ext cx="7364690" cy="155729"/>
              <a:chOff x="4989842" y="3870732"/>
              <a:chExt cx="3933079" cy="166200"/>
            </a:xfrm>
          </p:grpSpPr>
          <p:sp>
            <p:nvSpPr>
              <p:cNvPr id="296" name="Google Shape;296;p21"/>
              <p:cNvSpPr/>
              <p:nvPr/>
            </p:nvSpPr>
            <p:spPr>
              <a:xfrm>
                <a:off x="4989842" y="3870732"/>
                <a:ext cx="166200" cy="166200"/>
              </a:xfrm>
              <a:prstGeom prst="rect">
                <a:avLst/>
              </a:prstGeom>
              <a:solidFill>
                <a:srgbClr val="55C0AF"/>
              </a:solidFill>
              <a:ln w="9525" cap="flat" cmpd="sng">
                <a:solidFill>
                  <a:srgbClr val="55C0A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cxnSp>
            <p:nvCxnSpPr>
              <p:cNvPr id="297" name="Google Shape;297;p21"/>
              <p:cNvCxnSpPr/>
              <p:nvPr/>
            </p:nvCxnSpPr>
            <p:spPr>
              <a:xfrm>
                <a:off x="5156121" y="3941172"/>
                <a:ext cx="3766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5C0AF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298" name="Google Shape;298;p21"/>
            <p:cNvSpPr txBox="1"/>
            <p:nvPr/>
          </p:nvSpPr>
          <p:spPr>
            <a:xfrm>
              <a:off x="3203109" y="5406353"/>
              <a:ext cx="8417400" cy="43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9.使用者可取消尚未開始的借用申請</a:t>
              </a:r>
              <a:endParaRPr sz="20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grpSp>
          <p:nvGrpSpPr>
            <p:cNvPr id="299" name="Google Shape;299;p21"/>
            <p:cNvGrpSpPr/>
            <p:nvPr/>
          </p:nvGrpSpPr>
          <p:grpSpPr>
            <a:xfrm>
              <a:off x="3220079" y="5981151"/>
              <a:ext cx="7364542" cy="155729"/>
              <a:chOff x="4906190" y="1416527"/>
              <a:chExt cx="3933000" cy="166200"/>
            </a:xfrm>
          </p:grpSpPr>
          <p:sp>
            <p:nvSpPr>
              <p:cNvPr id="300" name="Google Shape;300;p21"/>
              <p:cNvSpPr/>
              <p:nvPr/>
            </p:nvSpPr>
            <p:spPr>
              <a:xfrm>
                <a:off x="4906190" y="1416527"/>
                <a:ext cx="166200" cy="166200"/>
              </a:xfrm>
              <a:prstGeom prst="rect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>
                  <a:solidFill>
                    <a:srgbClr val="FFB850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cxnSp>
            <p:nvCxnSpPr>
              <p:cNvPr id="301" name="Google Shape;301;p21"/>
              <p:cNvCxnSpPr>
                <a:stCxn id="300" idx="3"/>
              </p:cNvCxnSpPr>
              <p:nvPr/>
            </p:nvCxnSpPr>
            <p:spPr>
              <a:xfrm>
                <a:off x="5072390" y="1499627"/>
                <a:ext cx="3766800" cy="0"/>
              </a:xfrm>
              <a:prstGeom prst="straightConnector1">
                <a:avLst/>
              </a:prstGeom>
              <a:solidFill>
                <a:srgbClr val="113F4E"/>
              </a:solidFill>
              <a:ln w="9525" cap="flat" cmpd="sng">
                <a:solidFill>
                  <a:srgbClr val="113F4E"/>
                </a:solidFill>
                <a:prstDash val="dot"/>
                <a:miter lim="8000"/>
                <a:headEnd type="none" w="sm" len="sm"/>
                <a:tailEnd type="none" w="sm" len="sm"/>
              </a:ln>
            </p:spPr>
          </p:cxnSp>
        </p:grpSp>
        <p:sp>
          <p:nvSpPr>
            <p:cNvPr id="302" name="Google Shape;302;p21"/>
            <p:cNvSpPr txBox="1"/>
            <p:nvPr/>
          </p:nvSpPr>
          <p:spPr>
            <a:xfrm>
              <a:off x="3202584" y="6306227"/>
              <a:ext cx="8278800" cy="97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10.記錄並管理教室所包含之設備資訊</a:t>
              </a:r>
              <a:endParaRPr sz="20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  <a:p>
              <a:pPr marL="0" lvl="0" indent="342900" algn="l" rtl="0">
                <a:lnSpc>
                  <a:spcPct val="115000"/>
                </a:lnSpc>
                <a:spcBef>
                  <a:spcPts val="900"/>
                </a:spcBef>
                <a:spcAft>
                  <a:spcPts val="900"/>
                </a:spcAft>
                <a:buSzPts val="800"/>
                <a:buNone/>
              </a:pPr>
              <a:r>
                <a:rPr lang="zh-TW" sz="2000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（如投影機、麥克風等）</a:t>
              </a:r>
              <a:endParaRPr sz="200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</p:grpSp>
      <p:sp>
        <p:nvSpPr>
          <p:cNvPr id="303" name="Google Shape;30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"/>
          <p:cNvSpPr txBox="1"/>
          <p:nvPr/>
        </p:nvSpPr>
        <p:spPr>
          <a:xfrm>
            <a:off x="4697081" y="3168722"/>
            <a:ext cx="4158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SzPts val="800"/>
              <a:buNone/>
            </a:pPr>
            <a:r>
              <a:rPr lang="zh-TW" sz="27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ER Diagram</a:t>
            </a:r>
            <a:endParaRPr sz="27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310" name="Google Shape;310;p22"/>
          <p:cNvGrpSpPr/>
          <p:nvPr/>
        </p:nvGrpSpPr>
        <p:grpSpPr>
          <a:xfrm>
            <a:off x="3502220" y="2918232"/>
            <a:ext cx="844541" cy="932257"/>
            <a:chOff x="589141" y="2173776"/>
            <a:chExt cx="1126055" cy="1243010"/>
          </a:xfrm>
        </p:grpSpPr>
        <p:grpSp>
          <p:nvGrpSpPr>
            <p:cNvPr id="311" name="Google Shape;311;p22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312" name="Google Shape;312;p22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313" name="Google Shape;313;p22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sp>
          <p:nvSpPr>
            <p:cNvPr id="314" name="Google Shape;314;p22"/>
            <p:cNvSpPr txBox="1"/>
            <p:nvPr/>
          </p:nvSpPr>
          <p:spPr>
            <a:xfrm>
              <a:off x="907668" y="2220553"/>
              <a:ext cx="6111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4100" b="1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rPr>
                <a:t>3</a:t>
              </a:r>
              <a:endParaRPr sz="4100" b="1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315" name="Google Shape;31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3"/>
          <p:cNvGrpSpPr/>
          <p:nvPr/>
        </p:nvGrpSpPr>
        <p:grpSpPr>
          <a:xfrm>
            <a:off x="382271" y="221975"/>
            <a:ext cx="3611301" cy="466778"/>
            <a:chOff x="956666" y="3447847"/>
            <a:chExt cx="4815068" cy="622371"/>
          </a:xfrm>
        </p:grpSpPr>
        <p:sp>
          <p:nvSpPr>
            <p:cNvPr id="322" name="Google Shape;322;p23"/>
            <p:cNvSpPr txBox="1"/>
            <p:nvPr/>
          </p:nvSpPr>
          <p:spPr>
            <a:xfrm>
              <a:off x="1581034" y="3447847"/>
              <a:ext cx="41907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ER diagram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323" name="Google Shape;323;p23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324" name="Google Shape;324;p23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pic>
        <p:nvPicPr>
          <p:cNvPr id="325" name="Google Shape;325;p23" title="資料庫系統-ERD.drawio (3)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021725" y="697850"/>
            <a:ext cx="7100550" cy="44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3" title="資料庫系統-ERD-簡圖.drawio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48160" y="685925"/>
            <a:ext cx="8047689" cy="44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/>
          <p:nvPr/>
        </p:nvSpPr>
        <p:spPr>
          <a:xfrm>
            <a:off x="4697081" y="3168722"/>
            <a:ext cx="4158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SzPts val="800"/>
              <a:buNone/>
            </a:pPr>
            <a:r>
              <a:rPr lang="zh-TW" sz="27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完整性限制</a:t>
            </a:r>
            <a:endParaRPr sz="27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334" name="Google Shape;334;p24"/>
          <p:cNvGrpSpPr/>
          <p:nvPr/>
        </p:nvGrpSpPr>
        <p:grpSpPr>
          <a:xfrm>
            <a:off x="3502220" y="2918232"/>
            <a:ext cx="844541" cy="932257"/>
            <a:chOff x="589141" y="2173776"/>
            <a:chExt cx="1126055" cy="1243010"/>
          </a:xfrm>
        </p:grpSpPr>
        <p:grpSp>
          <p:nvGrpSpPr>
            <p:cNvPr id="335" name="Google Shape;335;p24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336" name="Google Shape;336;p24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337" name="Google Shape;337;p24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sp>
          <p:nvSpPr>
            <p:cNvPr id="338" name="Google Shape;338;p24"/>
            <p:cNvSpPr txBox="1"/>
            <p:nvPr/>
          </p:nvSpPr>
          <p:spPr>
            <a:xfrm>
              <a:off x="907668" y="2220553"/>
              <a:ext cx="6111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4100" b="1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rPr>
                <a:t>4</a:t>
              </a:r>
              <a:endParaRPr sz="4100" b="1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25"/>
          <p:cNvGrpSpPr/>
          <p:nvPr/>
        </p:nvGrpSpPr>
        <p:grpSpPr>
          <a:xfrm>
            <a:off x="382271" y="221981"/>
            <a:ext cx="3290235" cy="466772"/>
            <a:chOff x="956666" y="3447855"/>
            <a:chExt cx="4386980" cy="622363"/>
          </a:xfrm>
        </p:grpSpPr>
        <p:sp>
          <p:nvSpPr>
            <p:cNvPr id="345" name="Google Shape;345;p25"/>
            <p:cNvSpPr txBox="1"/>
            <p:nvPr/>
          </p:nvSpPr>
          <p:spPr>
            <a:xfrm>
              <a:off x="1581046" y="3447855"/>
              <a:ext cx="37626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User (使用者)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graphicFrame>
        <p:nvGraphicFramePr>
          <p:cNvPr id="348" name="Google Shape;348;p25"/>
          <p:cNvGraphicFramePr/>
          <p:nvPr/>
        </p:nvGraphicFramePr>
        <p:xfrm>
          <a:off x="3067444" y="1209994"/>
          <a:ext cx="5948225" cy="240811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936950"/>
                <a:gridCol w="1942200"/>
                <a:gridCol w="1093300"/>
                <a:gridCol w="1975775"/>
              </a:tblGrid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 sz="13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 sz="13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是否可為空</a:t>
                      </a:r>
                      <a:endParaRPr sz="13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Domain</a:t>
                      </a:r>
                      <a:endParaRPr sz="13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user_id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主鍵，使用者唯一識別碼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前綴字母+數字；S=學生、T=教師、A=管理員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name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姓名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長度為1~50的文字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phone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聯絡電話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09開頭之10位數字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role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角色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'S'、'T'、'A' 三者之一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75CCB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49" name="Google Shape;349;p25" title="ERD-使用者提出借用申請-2.drawio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0800" y="769750"/>
            <a:ext cx="2895930" cy="43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6"/>
          <p:cNvGrpSpPr/>
          <p:nvPr/>
        </p:nvGrpSpPr>
        <p:grpSpPr>
          <a:xfrm>
            <a:off x="382271" y="221981"/>
            <a:ext cx="3401835" cy="466772"/>
            <a:chOff x="956666" y="3447855"/>
            <a:chExt cx="4535780" cy="622363"/>
          </a:xfrm>
        </p:grpSpPr>
        <p:sp>
          <p:nvSpPr>
            <p:cNvPr id="357" name="Google Shape;357;p26"/>
            <p:cNvSpPr txBox="1"/>
            <p:nvPr/>
          </p:nvSpPr>
          <p:spPr>
            <a:xfrm>
              <a:off x="1581046" y="3447855"/>
              <a:ext cx="39114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User (使用者)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360" name="Google Shape;360;p26"/>
          <p:cNvSpPr txBox="1"/>
          <p:nvPr/>
        </p:nvSpPr>
        <p:spPr>
          <a:xfrm>
            <a:off x="383850" y="1646400"/>
            <a:ext cx="8376300" cy="18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3810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user_id 為主鍵，值必須唯一且非空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role 合法值為：'S'、'T'、'A'，分別代表學生、教師、管理員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phone 若有填寫，需符合 09 開頭之 10 位數字格式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至少需有一筆 role = 'A' 的管理員資料，否則系統無法進行審核與管理功能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27"/>
          <p:cNvGrpSpPr/>
          <p:nvPr/>
        </p:nvGrpSpPr>
        <p:grpSpPr>
          <a:xfrm>
            <a:off x="382271" y="221981"/>
            <a:ext cx="3558210" cy="466772"/>
            <a:chOff x="956666" y="3447855"/>
            <a:chExt cx="4744280" cy="622363"/>
          </a:xfrm>
        </p:grpSpPr>
        <p:sp>
          <p:nvSpPr>
            <p:cNvPr id="367" name="Google Shape;367;p27"/>
            <p:cNvSpPr txBox="1"/>
            <p:nvPr/>
          </p:nvSpPr>
          <p:spPr>
            <a:xfrm>
              <a:off x="1581046" y="3447855"/>
              <a:ext cx="41199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Room (教室)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graphicFrame>
        <p:nvGraphicFramePr>
          <p:cNvPr id="370" name="Google Shape;370;p27"/>
          <p:cNvGraphicFramePr/>
          <p:nvPr/>
        </p:nvGraphicFramePr>
        <p:xfrm>
          <a:off x="3067444" y="1389778"/>
          <a:ext cx="5919850" cy="3223335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873050"/>
                <a:gridCol w="1971975"/>
                <a:gridCol w="965450"/>
                <a:gridCol w="2109375"/>
              </a:tblGrid>
              <a:tr h="464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 sz="11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5250" marR="95250" marT="47625" marB="47625" anchor="ctr">
                    <a:lnL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 sz="11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5250" marR="95250" marT="47625" marB="47625" anchor="ctr">
                    <a:lnL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是否可為空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47625" marB="47625" anchor="ctr">
                    <a:lnL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Domain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L="95250" marR="95250" marT="47625" marB="47625" anchor="ctr">
                    <a:lnL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1425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主鍵，教室代碼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長度7~10之英數字，例如 BGC0614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room_name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教室名稱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長度1~20文字，且不可重複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location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位置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長度為3~50的文字，</a:t>
                      </a: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例如：綜三館 6F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capacity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可容人數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1~100 的整數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status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教室狀態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'Available'、'UnderMaintenance'、'Disabled' 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71" name="Google Shape;371;p27" title="ERD-借用申請借用教室-2.drawio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912675"/>
            <a:ext cx="3032825" cy="40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28"/>
          <p:cNvGrpSpPr/>
          <p:nvPr/>
        </p:nvGrpSpPr>
        <p:grpSpPr>
          <a:xfrm>
            <a:off x="382271" y="221981"/>
            <a:ext cx="3401835" cy="466772"/>
            <a:chOff x="956666" y="3447855"/>
            <a:chExt cx="4535780" cy="622363"/>
          </a:xfrm>
        </p:grpSpPr>
        <p:sp>
          <p:nvSpPr>
            <p:cNvPr id="378" name="Google Shape;378;p28"/>
            <p:cNvSpPr txBox="1"/>
            <p:nvPr/>
          </p:nvSpPr>
          <p:spPr>
            <a:xfrm>
              <a:off x="1581046" y="3447855"/>
              <a:ext cx="39114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Room (教室)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381" name="Google Shape;381;p28"/>
          <p:cNvSpPr txBox="1"/>
          <p:nvPr/>
        </p:nvSpPr>
        <p:spPr>
          <a:xfrm>
            <a:off x="100900" y="1283275"/>
            <a:ext cx="9255600" cy="3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room_id 為主鍵，值必須唯一且非空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room_name 必須唯一，避免同名教室造成混淆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capacity 必須介於 1 至 100 之間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status 合法值為：'Available'、'UnderMaintenance'、'Disabled'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若 status = 'UnderMaintenance' 或 'Disabled'，則該教室不可被核准為 Approved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29"/>
          <p:cNvGrpSpPr/>
          <p:nvPr/>
        </p:nvGrpSpPr>
        <p:grpSpPr>
          <a:xfrm>
            <a:off x="382271" y="221981"/>
            <a:ext cx="4546410" cy="466772"/>
            <a:chOff x="956666" y="3447855"/>
            <a:chExt cx="6061880" cy="622363"/>
          </a:xfrm>
        </p:grpSpPr>
        <p:sp>
          <p:nvSpPr>
            <p:cNvPr id="388" name="Google Shape;388;p29"/>
            <p:cNvSpPr txBox="1"/>
            <p:nvPr/>
          </p:nvSpPr>
          <p:spPr>
            <a:xfrm>
              <a:off x="1581046" y="3447855"/>
              <a:ext cx="54375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Equipment (教室設備)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graphicFrame>
        <p:nvGraphicFramePr>
          <p:cNvPr id="391" name="Google Shape;391;p29"/>
          <p:cNvGraphicFramePr/>
          <p:nvPr/>
        </p:nvGraphicFramePr>
        <p:xfrm>
          <a:off x="3174797" y="1422203"/>
          <a:ext cx="5842516" cy="3223335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985737"/>
                <a:gridCol w="2048090"/>
                <a:gridCol w="1234049"/>
                <a:gridCol w="1574640"/>
              </a:tblGrid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是否可為空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Domain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eq_id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主鍵，設備唯一識別碼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正整數，由系統指定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eq_name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設備名稱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長度1~30文字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dirty="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eq_desc</a:t>
                      </a:r>
                      <a:endParaRPr sz="1200" dirty="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設備說明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例如 HDMI 投影機、無線麥克風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room_id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外鍵，對應教室編號 (Room.room_id)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參考 Room 的 room_id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status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設備狀態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dirty="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'Available'、'UnderMaintenance'、'Disabled'</a:t>
                      </a:r>
                      <a:endParaRPr sz="1200" dirty="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92" name="Google Shape;392;p29" title="ERD-教室包含設備-2.drawio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6575" y="1422200"/>
            <a:ext cx="3030875" cy="340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30"/>
          <p:cNvGrpSpPr/>
          <p:nvPr/>
        </p:nvGrpSpPr>
        <p:grpSpPr>
          <a:xfrm>
            <a:off x="382237" y="221981"/>
            <a:ext cx="4563952" cy="466772"/>
            <a:chOff x="956666" y="3447855"/>
            <a:chExt cx="5712080" cy="622363"/>
          </a:xfrm>
        </p:grpSpPr>
        <p:sp>
          <p:nvSpPr>
            <p:cNvPr id="399" name="Google Shape;399;p30"/>
            <p:cNvSpPr txBox="1"/>
            <p:nvPr/>
          </p:nvSpPr>
          <p:spPr>
            <a:xfrm>
              <a:off x="1581046" y="3447855"/>
              <a:ext cx="50877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Equipment (教室設備)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400" name="Google Shape;400;p3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401" name="Google Shape;401;p3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402" name="Google Shape;402;p30"/>
          <p:cNvSpPr txBox="1"/>
          <p:nvPr/>
        </p:nvSpPr>
        <p:spPr>
          <a:xfrm>
            <a:off x="145525" y="1112400"/>
            <a:ext cx="9070500" cy="36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eq_id 為主鍵，值必須唯一且非空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eq_name 在同一 room_id 下不可重複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room_id 必須對應到 Room.room_id（外鍵約束）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eq_desc 用於記錄設備補充說明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status 合法值為：'Available'、'UnderMaintenance'、'Disabled'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若設備 status = 'Disabled'，則不顯示於一般使用者查詢結果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31"/>
          <p:cNvGrpSpPr/>
          <p:nvPr/>
        </p:nvGrpSpPr>
        <p:grpSpPr>
          <a:xfrm>
            <a:off x="382271" y="221981"/>
            <a:ext cx="5222535" cy="466772"/>
            <a:chOff x="956666" y="3447855"/>
            <a:chExt cx="6963380" cy="622363"/>
          </a:xfrm>
        </p:grpSpPr>
        <p:sp>
          <p:nvSpPr>
            <p:cNvPr id="409" name="Google Shape;409;p31"/>
            <p:cNvSpPr txBox="1"/>
            <p:nvPr/>
          </p:nvSpPr>
          <p:spPr>
            <a:xfrm>
              <a:off x="1581046" y="3447855"/>
              <a:ext cx="63390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BorrowRequest (借用申請)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graphicFrame>
        <p:nvGraphicFramePr>
          <p:cNvPr id="412" name="Google Shape;412;p31"/>
          <p:cNvGraphicFramePr/>
          <p:nvPr/>
        </p:nvGraphicFramePr>
        <p:xfrm>
          <a:off x="2900288" y="827031"/>
          <a:ext cx="6038800" cy="3970205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985050"/>
                <a:gridCol w="2049825"/>
                <a:gridCol w="1126750"/>
                <a:gridCol w="1877175"/>
              </a:tblGrid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是否可為空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Domain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req_id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主鍵，借用申請唯一識別碼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正整數，由系統指定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user_id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外鍵，對應借用者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(User.user_id)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參考 User.user_id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room_id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外鍵，對應借用教室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(Room.room_id)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參考 Room.room_id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start_date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借用開始日期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合法日期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end_date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借用結束日期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不可早於 start_date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weekday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長期借用星期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1~7；短期借用可為 NULL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97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start_time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借用起始時間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08:10 以後，且早於 end_time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413" name="Google Shape;413;p31" title="ERD-借用申請產生審核歷程-2.drawio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722150"/>
            <a:ext cx="2900300" cy="433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2"/>
          <p:cNvGrpSpPr/>
          <p:nvPr/>
        </p:nvGrpSpPr>
        <p:grpSpPr>
          <a:xfrm>
            <a:off x="382271" y="221981"/>
            <a:ext cx="5222535" cy="466772"/>
            <a:chOff x="956666" y="3447855"/>
            <a:chExt cx="6963380" cy="622363"/>
          </a:xfrm>
        </p:grpSpPr>
        <p:sp>
          <p:nvSpPr>
            <p:cNvPr id="420" name="Google Shape;420;p32"/>
            <p:cNvSpPr txBox="1"/>
            <p:nvPr/>
          </p:nvSpPr>
          <p:spPr>
            <a:xfrm>
              <a:off x="1581046" y="3447855"/>
              <a:ext cx="63390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BorrowRequest (借用申請)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421" name="Google Shape;421;p32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422" name="Google Shape;422;p32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graphicFrame>
        <p:nvGraphicFramePr>
          <p:cNvPr id="423" name="Google Shape;423;p32"/>
          <p:cNvGraphicFramePr/>
          <p:nvPr/>
        </p:nvGraphicFramePr>
        <p:xfrm>
          <a:off x="2927031" y="841184"/>
          <a:ext cx="6091075" cy="415629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1352100"/>
                <a:gridCol w="1427925"/>
                <a:gridCol w="1061375"/>
                <a:gridCol w="2249675"/>
              </a:tblGrid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是否可為空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Domain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end_time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借用結束時間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22:30 以前，且晚於 start_time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02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purpose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用途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長度1~100的文字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3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borrow_type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借用類型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'ShortTerm'、'LongTerm'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status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申請狀態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'Pending'、'Approved'、'Rejected'、'Cancelled'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created_at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申請建立時間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系統自動記錄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reviewed_at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審核完成時間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核准或拒絕時記錄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4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cancelled_at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取消時間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使用者取消時記錄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is_cleared / cleared_at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清除系統欄位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依欄位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Y/N 與清除時間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424" name="Google Shape;424;p32" title="ERD-借用申請產生審核歷程-2.drawio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722150"/>
            <a:ext cx="2927025" cy="43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33"/>
          <p:cNvGrpSpPr/>
          <p:nvPr/>
        </p:nvGrpSpPr>
        <p:grpSpPr>
          <a:xfrm>
            <a:off x="382237" y="221981"/>
            <a:ext cx="5437417" cy="466772"/>
            <a:chOff x="956666" y="3447855"/>
            <a:chExt cx="6805278" cy="622363"/>
          </a:xfrm>
        </p:grpSpPr>
        <p:sp>
          <p:nvSpPr>
            <p:cNvPr id="431" name="Google Shape;431;p33"/>
            <p:cNvSpPr txBox="1"/>
            <p:nvPr/>
          </p:nvSpPr>
          <p:spPr>
            <a:xfrm>
              <a:off x="1581044" y="3447855"/>
              <a:ext cx="61809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BorrowRequest (借用申請)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432" name="Google Shape;432;p33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433" name="Google Shape;433;p33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434" name="Google Shape;434;p33"/>
          <p:cNvSpPr txBox="1"/>
          <p:nvPr/>
        </p:nvSpPr>
        <p:spPr>
          <a:xfrm>
            <a:off x="219600" y="1074896"/>
            <a:ext cx="8704800" cy="36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req_id 為主鍵，值必須唯一且非空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user_id 必須對應到 User.user_id（外鍵）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room_id 必須對應到 Room.room_id（外鍵）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start_date 不可晚於 end_date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start_time 必須早於 end_time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borrow_type 合法值為：'ShortTerm'、'LongTerm'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若 borrow_type = 'LongTerm'，則 weekday 不可為空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800100" lvl="0" indent="-342900" algn="l" rtl="0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440;p34"/>
          <p:cNvGrpSpPr/>
          <p:nvPr/>
        </p:nvGrpSpPr>
        <p:grpSpPr>
          <a:xfrm>
            <a:off x="382237" y="221981"/>
            <a:ext cx="5437417" cy="466772"/>
            <a:chOff x="956666" y="3447855"/>
            <a:chExt cx="6805278" cy="622363"/>
          </a:xfrm>
        </p:grpSpPr>
        <p:sp>
          <p:nvSpPr>
            <p:cNvPr id="441" name="Google Shape;441;p34"/>
            <p:cNvSpPr txBox="1"/>
            <p:nvPr/>
          </p:nvSpPr>
          <p:spPr>
            <a:xfrm>
              <a:off x="1581044" y="3447855"/>
              <a:ext cx="61809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BorrowRequest (借用申請)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443" name="Google Shape;443;p34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444" name="Google Shape;444;p34"/>
          <p:cNvSpPr txBox="1"/>
          <p:nvPr/>
        </p:nvSpPr>
        <p:spPr>
          <a:xfrm>
            <a:off x="69835" y="1200814"/>
            <a:ext cx="91440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status 合法值為：'Pending'、'Approved'、'Rejected’</a:t>
            </a:r>
            <a:endParaRPr lang="en-US" altLang="zh-TW"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	</a:t>
            </a: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、'Cancelled'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同一 room_id、日期區間重疊、時間區間重疊，且 status = 'Approved' 的借用紀錄不可同時存在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若 Room.status = 'UnderMaintenance' 或 'Disabled’</a:t>
            </a:r>
            <a:endParaRPr lang="en-US" altLang="zh-TW"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889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alt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	</a:t>
            </a: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，則該申請不可被核准為 Approved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reviewed_at 不可早於 created_at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若 status = 'Cancelled'，則 cancelled_at 不可為空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4318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is_cleared 合法值為 'Y' 或 'N'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35"/>
          <p:cNvGrpSpPr/>
          <p:nvPr/>
        </p:nvGrpSpPr>
        <p:grpSpPr>
          <a:xfrm>
            <a:off x="382271" y="221981"/>
            <a:ext cx="4435935" cy="466772"/>
            <a:chOff x="956666" y="3447855"/>
            <a:chExt cx="5914580" cy="622363"/>
          </a:xfrm>
        </p:grpSpPr>
        <p:sp>
          <p:nvSpPr>
            <p:cNvPr id="451" name="Google Shape;451;p35"/>
            <p:cNvSpPr txBox="1"/>
            <p:nvPr/>
          </p:nvSpPr>
          <p:spPr>
            <a:xfrm>
              <a:off x="1581046" y="3447855"/>
              <a:ext cx="52902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AuditLog (審核歷程)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452" name="Google Shape;452;p35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453" name="Google Shape;453;p35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graphicFrame>
        <p:nvGraphicFramePr>
          <p:cNvPr id="454" name="Google Shape;454;p35"/>
          <p:cNvGraphicFramePr/>
          <p:nvPr/>
        </p:nvGraphicFramePr>
        <p:xfrm>
          <a:off x="3121725" y="1069847"/>
          <a:ext cx="5949875" cy="385568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930325"/>
                <a:gridCol w="2260400"/>
                <a:gridCol w="968475"/>
                <a:gridCol w="1790675"/>
              </a:tblGrid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是否可為空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Domain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log_id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主鍵，審核紀錄唯一識別碼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正整數，由系統指定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req_id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外鍵，對應借用申請編號 (BorrowRequest.req_id)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參考 BorrowRequest.req_id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admin_id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外鍵，對應審核者 (User.user_id)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參考 User.user_id，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且 role 必須為 'A'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action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操作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'Approve'、'Reject' 兩者之一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reason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拒絕原因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長度1~200的文字(</a:t>
                      </a: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action = 'Reject' 時必填)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timestamp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審核完成時間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不早於對應申請的 created_at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455" name="Google Shape;455;p35" title="ERD-使用者執行審核審核歷程-2.drawio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33902" y="722150"/>
            <a:ext cx="2851998" cy="442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6"/>
          <p:cNvSpPr txBox="1"/>
          <p:nvPr/>
        </p:nvSpPr>
        <p:spPr>
          <a:xfrm>
            <a:off x="668425" y="1097275"/>
            <a:ext cx="8629200" cy="410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log_id 為主鍵，值必須唯一且非空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req_id 必須對應到 BorrowRequest.req_id（外鍵）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admin_id 必須對應到 User.user_id（外鍵）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685800" lvl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，且該使用者 role 必須為 'A'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action 合法值為：'Approve'、'Reject'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若 action = 'Reject'，則 reason 不可為空或只含空白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timestamp 不可早於對應 BorrowRequest.created_at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取消借用不記錄在 AuditLog，而是記錄在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42900" lvl="0" algn="l" rtl="0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</a:pPr>
            <a:r>
              <a:rPr lang="zh-TW" sz="22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BorrowRequest.cancelled_at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462" name="Google Shape;462;p36"/>
          <p:cNvGrpSpPr/>
          <p:nvPr/>
        </p:nvGrpSpPr>
        <p:grpSpPr>
          <a:xfrm>
            <a:off x="382271" y="221981"/>
            <a:ext cx="4435935" cy="466772"/>
            <a:chOff x="956666" y="3447855"/>
            <a:chExt cx="5914580" cy="622363"/>
          </a:xfrm>
        </p:grpSpPr>
        <p:sp>
          <p:nvSpPr>
            <p:cNvPr id="463" name="Google Shape;463;p36"/>
            <p:cNvSpPr txBox="1"/>
            <p:nvPr/>
          </p:nvSpPr>
          <p:spPr>
            <a:xfrm>
              <a:off x="1581046" y="3447855"/>
              <a:ext cx="52902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 AuditLog (審核歷程)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" name="Google Shape;471;p37"/>
          <p:cNvGraphicFramePr/>
          <p:nvPr/>
        </p:nvGraphicFramePr>
        <p:xfrm>
          <a:off x="436256" y="1394313"/>
          <a:ext cx="8271475" cy="298683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3402150"/>
                <a:gridCol w="4869325"/>
              </a:tblGrid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規則說明</a:t>
                      </a:r>
                      <a:endParaRPr sz="16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對應限制</a:t>
                      </a:r>
                      <a:endParaRPr sz="16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每個使用者必須先登入，才能發出借用申請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User 資料存在，且 BorrowRequest.user_id 對應到 User.user_id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教室借用必須經過審核，Pending 時尚未核准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BorrowRequest.status 必須在審核後才可變為 Approved / Rejected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只有 Admin 可以核准或拒絕申請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AuditLog.admin_id 必須對應到 User.user_id，且 role 必須為 'A'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使用者只能取消尚未開始的借用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若系統時間已超過 start_date + start_time，status 不可再變更為 Cancelled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維修或停用中的教室不可被核准借用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在 INSERT / UPDATE BorrowRequest 時檢查對應 Room.status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每筆核准或拒絕操作都必須在 AuditLog 中記錄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凡 BorrowRequest.status 從 Pending → Approved 或 Rejected，必須有一筆對應的 AuditLog 資料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472" name="Google Shape;472;p37"/>
          <p:cNvGrpSpPr/>
          <p:nvPr/>
        </p:nvGrpSpPr>
        <p:grpSpPr>
          <a:xfrm>
            <a:off x="382271" y="221981"/>
            <a:ext cx="4435935" cy="466772"/>
            <a:chOff x="956666" y="3447855"/>
            <a:chExt cx="5914580" cy="622363"/>
          </a:xfrm>
        </p:grpSpPr>
        <p:sp>
          <p:nvSpPr>
            <p:cNvPr id="473" name="Google Shape;473;p37"/>
            <p:cNvSpPr txBox="1"/>
            <p:nvPr/>
          </p:nvSpPr>
          <p:spPr>
            <a:xfrm>
              <a:off x="1581046" y="3447855"/>
              <a:ext cx="52902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跨資料表完整性限制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474" name="Google Shape;474;p37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475" name="Google Shape;475;p37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8"/>
          <p:cNvSpPr txBox="1"/>
          <p:nvPr/>
        </p:nvSpPr>
        <p:spPr>
          <a:xfrm>
            <a:off x="4697081" y="3168722"/>
            <a:ext cx="4158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zh-TW" sz="2700" b="1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資料庫  Schema Diagram</a:t>
            </a:r>
            <a:endParaRPr sz="27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482" name="Google Shape;482;p38"/>
          <p:cNvGrpSpPr/>
          <p:nvPr/>
        </p:nvGrpSpPr>
        <p:grpSpPr>
          <a:xfrm>
            <a:off x="3502220" y="2918232"/>
            <a:ext cx="844541" cy="932257"/>
            <a:chOff x="589141" y="2173776"/>
            <a:chExt cx="1126055" cy="1243010"/>
          </a:xfrm>
        </p:grpSpPr>
        <p:grpSp>
          <p:nvGrpSpPr>
            <p:cNvPr id="483" name="Google Shape;483;p38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484" name="Google Shape;484;p38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485" name="Google Shape;485;p38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sp>
          <p:nvSpPr>
            <p:cNvPr id="486" name="Google Shape;486;p38"/>
            <p:cNvSpPr txBox="1"/>
            <p:nvPr/>
          </p:nvSpPr>
          <p:spPr>
            <a:xfrm>
              <a:off x="907668" y="2220553"/>
              <a:ext cx="6111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4100" b="1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rPr>
                <a:t>5</a:t>
              </a:r>
              <a:endParaRPr sz="4100" b="1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487" name="Google Shape;48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39"/>
          <p:cNvGrpSpPr/>
          <p:nvPr/>
        </p:nvGrpSpPr>
        <p:grpSpPr>
          <a:xfrm>
            <a:off x="382271" y="221975"/>
            <a:ext cx="3377304" cy="466778"/>
            <a:chOff x="956666" y="3447847"/>
            <a:chExt cx="4503072" cy="622371"/>
          </a:xfrm>
        </p:grpSpPr>
        <p:sp>
          <p:nvSpPr>
            <p:cNvPr id="493" name="Google Shape;493;p39"/>
            <p:cNvSpPr txBox="1"/>
            <p:nvPr/>
          </p:nvSpPr>
          <p:spPr>
            <a:xfrm>
              <a:off x="1581038" y="3447847"/>
              <a:ext cx="38787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教室借用系統資料表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495" name="Google Shape;495;p39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496" name="Google Shape;496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  <p:pic>
        <p:nvPicPr>
          <p:cNvPr id="497" name="Google Shape;497;p39" title="schema Diagram.drawio (2)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5962" y="779450"/>
            <a:ext cx="6092063" cy="422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0"/>
          <p:cNvSpPr txBox="1"/>
          <p:nvPr/>
        </p:nvSpPr>
        <p:spPr>
          <a:xfrm>
            <a:off x="4697081" y="3168722"/>
            <a:ext cx="4158600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b="1" dirty="0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SQL語法</a:t>
            </a:r>
            <a:r>
              <a:rPr lang="zh-TW" sz="27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+</a:t>
            </a:r>
            <a:r>
              <a:rPr lang="zh-TW" sz="2700" b="1" dirty="0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概念層</a:t>
            </a:r>
            <a:endParaRPr lang="en-US" altLang="zh-TW" sz="2700" b="1" dirty="0">
              <a:solidFill>
                <a:srgbClr val="262833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700" b="1" dirty="0">
                <a:solidFill>
                  <a:srgbClr val="262833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與舉例說明</a:t>
            </a:r>
            <a:r>
              <a:rPr lang="zh-TW" sz="27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endParaRPr sz="2700" b="1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504" name="Google Shape;504;p40"/>
          <p:cNvGrpSpPr/>
          <p:nvPr/>
        </p:nvGrpSpPr>
        <p:grpSpPr>
          <a:xfrm>
            <a:off x="3502220" y="2918232"/>
            <a:ext cx="844541" cy="932257"/>
            <a:chOff x="589141" y="2173776"/>
            <a:chExt cx="1126055" cy="1243010"/>
          </a:xfrm>
        </p:grpSpPr>
        <p:grpSp>
          <p:nvGrpSpPr>
            <p:cNvPr id="505" name="Google Shape;505;p40"/>
            <p:cNvGrpSpPr/>
            <p:nvPr/>
          </p:nvGrpSpPr>
          <p:grpSpPr>
            <a:xfrm>
              <a:off x="589141" y="2173776"/>
              <a:ext cx="1126055" cy="1243010"/>
              <a:chOff x="1950418" y="3368985"/>
              <a:chExt cx="432101" cy="476980"/>
            </a:xfrm>
          </p:grpSpPr>
          <p:sp>
            <p:nvSpPr>
              <p:cNvPr id="506" name="Google Shape;506;p40"/>
              <p:cNvSpPr/>
              <p:nvPr/>
            </p:nvSpPr>
            <p:spPr>
              <a:xfrm>
                <a:off x="1950418" y="3368985"/>
                <a:ext cx="354000" cy="35400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  <p:sp>
            <p:nvSpPr>
              <p:cNvPr id="507" name="Google Shape;507;p40"/>
              <p:cNvSpPr/>
              <p:nvPr/>
            </p:nvSpPr>
            <p:spPr>
              <a:xfrm>
                <a:off x="2082519" y="3545965"/>
                <a:ext cx="300000" cy="300000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endParaRPr>
              </a:p>
            </p:txBody>
          </p:sp>
        </p:grpSp>
        <p:sp>
          <p:nvSpPr>
            <p:cNvPr id="508" name="Google Shape;508;p40"/>
            <p:cNvSpPr txBox="1"/>
            <p:nvPr/>
          </p:nvSpPr>
          <p:spPr>
            <a:xfrm>
              <a:off x="907668" y="2220553"/>
              <a:ext cx="611100" cy="9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4100" b="1">
                  <a:solidFill>
                    <a:schemeClr val="lt1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rPr>
                <a:t>6</a:t>
              </a:r>
              <a:endParaRPr sz="4100" b="1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509" name="Google Shape;509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4"/>
          <p:cNvSpPr txBox="1"/>
          <p:nvPr/>
        </p:nvSpPr>
        <p:spPr>
          <a:xfrm>
            <a:off x="4733200" y="1819050"/>
            <a:ext cx="4099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800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649" name="Google Shape;649;p54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650" name="Google Shape;650;p54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651" name="Google Shape;651;p54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652" name="Google Shape;652;p54"/>
          <p:cNvSpPr txBox="1"/>
          <p:nvPr/>
        </p:nvSpPr>
        <p:spPr>
          <a:xfrm>
            <a:off x="1042750" y="12685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300"/>
              </a:spcBef>
              <a:spcAft>
                <a:spcPts val="1200"/>
              </a:spcAft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情境說明</a:t>
            </a:r>
            <a:endParaRPr sz="2300"/>
          </a:p>
        </p:txBody>
      </p:sp>
      <p:pic>
        <p:nvPicPr>
          <p:cNvPr id="653" name="Google Shape;653;p5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43600" y="1230828"/>
            <a:ext cx="4428401" cy="2492300"/>
          </a:xfrm>
          <a:prstGeom prst="rect">
            <a:avLst/>
          </a:prstGeom>
          <a:noFill/>
          <a:ln>
            <a:noFill/>
          </a:ln>
          <a:effectLst>
            <a:reflection stA="70000" endPos="10000" fadeDir="5400012" sy="-100000" algn="bl" rotWithShape="0"/>
          </a:effectLst>
        </p:spPr>
      </p:pic>
      <p:sp>
        <p:nvSpPr>
          <p:cNvPr id="654" name="Google Shape;654;p54"/>
          <p:cNvSpPr/>
          <p:nvPr/>
        </p:nvSpPr>
        <p:spPr>
          <a:xfrm>
            <a:off x="4571988" y="977038"/>
            <a:ext cx="5094468" cy="3766716"/>
          </a:xfrm>
          <a:prstGeom prst="cloud">
            <a:avLst/>
          </a:prstGeom>
          <a:solidFill>
            <a:srgbClr val="55C0AF">
              <a:alpha val="52939"/>
            </a:srgbClr>
          </a:solidFill>
          <a:ln w="9525" cap="flat" cmpd="sng">
            <a:solidFill>
              <a:srgbClr val="55C0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rgbClr val="333333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管理員張小明</a:t>
            </a:r>
            <a:endParaRPr sz="2100">
              <a:solidFill>
                <a:srgbClr val="333333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rgbClr val="333333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審核了教師王老師借用</a:t>
            </a:r>
            <a:endParaRPr sz="2100">
              <a:solidFill>
                <a:srgbClr val="333333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rgbClr val="333333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BGC0614 教室的申請</a:t>
            </a:r>
            <a:endParaRPr sz="2100">
              <a:solidFill>
                <a:srgbClr val="333333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rgbClr val="333333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，並核准通過。</a:t>
            </a:r>
            <a:endParaRPr sz="2100">
              <a:solidFill>
                <a:srgbClr val="333333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>
                <a:solidFill>
                  <a:srgbClr val="333333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另有一筆學生申請遭拒絕</a:t>
            </a:r>
            <a:endParaRPr sz="2100">
              <a:solidFill>
                <a:srgbClr val="333333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2100">
                <a:solidFill>
                  <a:srgbClr val="333333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，附上拒絕原因。</a:t>
            </a:r>
            <a:endParaRPr sz="2100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655" name="Google Shape;655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4" name="Google Shape;514;p41"/>
          <p:cNvGraphicFramePr/>
          <p:nvPr/>
        </p:nvGraphicFramePr>
        <p:xfrm>
          <a:off x="500075" y="1903200"/>
          <a:ext cx="7915425" cy="182865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1410075"/>
                <a:gridCol w="1178925"/>
                <a:gridCol w="1053250"/>
                <a:gridCol w="1054500"/>
                <a:gridCol w="1022325"/>
                <a:gridCol w="2196350"/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資料型態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是否可為空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預設值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其他說明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user_id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使用者識別碼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VARCHAR(15)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主鍵；S/T/A + 數字編號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name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姓名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VARCHAR(50)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使用者姓名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phone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聯絡電話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09開頭10位數字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role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使用者角色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CHAR(1)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'S'、'T'、'A'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515" name="Google Shape;515;p41"/>
          <p:cNvSpPr txBox="1"/>
          <p:nvPr/>
        </p:nvSpPr>
        <p:spPr>
          <a:xfrm>
            <a:off x="914400" y="22790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User（使用者）</a:t>
            </a:r>
            <a:endParaRPr sz="23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516" name="Google Shape;516;p41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517" name="Google Shape;517;p41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518" name="Google Shape;518;p41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519" name="Google Shape;51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2"/>
          <p:cNvSpPr txBox="1"/>
          <p:nvPr/>
        </p:nvSpPr>
        <p:spPr>
          <a:xfrm>
            <a:off x="604125" y="880225"/>
            <a:ext cx="7810200" cy="3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CREATE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TABLE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795E26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User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user_id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15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name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50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phone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10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role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PRIMARY KEY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(user_id),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(user_id REGEXP 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'^[STA][0-9]+$'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role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'S'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'T'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'A'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)),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(phone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IS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OR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phone REGEXP 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'^09[0-9]{8}$'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);</a:t>
            </a:r>
            <a:endParaRPr sz="16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525" name="Google Shape;525;p42"/>
          <p:cNvSpPr txBox="1"/>
          <p:nvPr/>
        </p:nvSpPr>
        <p:spPr>
          <a:xfrm>
            <a:off x="882325" y="243350"/>
            <a:ext cx="3739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User（使用者）</a:t>
            </a:r>
            <a:endParaRPr sz="2300" b="1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526" name="Google Shape;526;p42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527" name="Google Shape;527;p42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528" name="Google Shape;528;p42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529" name="Google Shape;529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5"/>
          <p:cNvSpPr txBox="1"/>
          <p:nvPr/>
        </p:nvSpPr>
        <p:spPr>
          <a:xfrm>
            <a:off x="882325" y="285075"/>
            <a:ext cx="3739500" cy="76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User 資料範例</a:t>
            </a:r>
            <a:endParaRPr sz="2300" b="1" dirty="0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661" name="Google Shape;661;p55"/>
          <p:cNvGrpSpPr/>
          <p:nvPr/>
        </p:nvGrpSpPr>
        <p:grpSpPr>
          <a:xfrm>
            <a:off x="382271" y="301380"/>
            <a:ext cx="450310" cy="429099"/>
            <a:chOff x="956666" y="3498086"/>
            <a:chExt cx="600413" cy="572132"/>
          </a:xfrm>
        </p:grpSpPr>
        <p:sp>
          <p:nvSpPr>
            <p:cNvPr id="662" name="Google Shape;662;p55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663" name="Google Shape;663;p55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664" name="Google Shape;664;p55"/>
          <p:cNvSpPr txBox="1"/>
          <p:nvPr/>
        </p:nvSpPr>
        <p:spPr>
          <a:xfrm>
            <a:off x="643375" y="816075"/>
            <a:ext cx="8218200" cy="2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INSERT INTO User (user_id, name, phone, role) VALUES</a:t>
            </a:r>
            <a:endParaRPr sz="12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('A0001', '張小明', '0912345678', 'A'),</a:t>
            </a:r>
            <a:endParaRPr sz="12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('T0001', '王老師', '0933111222', 'T'),</a:t>
            </a:r>
            <a:endParaRPr sz="12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('T0002', '陳老師', '0922333444', 'T'),</a:t>
            </a:r>
            <a:endParaRPr sz="12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('S41243101', '李同學', '0987654321', 'S'),</a:t>
            </a:r>
            <a:endParaRPr sz="12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('S41243103', '林同學', '0966123456', 'S'),</a:t>
            </a:r>
            <a:endParaRPr sz="12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2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('S41243107', '潘同學', '0955123456', 'S');</a:t>
            </a:r>
            <a:endParaRPr sz="12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graphicFrame>
        <p:nvGraphicFramePr>
          <p:cNvPr id="665" name="Google Shape;665;p55"/>
          <p:cNvGraphicFramePr/>
          <p:nvPr/>
        </p:nvGraphicFramePr>
        <p:xfrm>
          <a:off x="832563" y="2571750"/>
          <a:ext cx="4364875" cy="219438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912075"/>
                <a:gridCol w="814350"/>
                <a:gridCol w="1259500"/>
                <a:gridCol w="1378950"/>
              </a:tblGrid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user_id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name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phone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role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A0001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張小明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0912345678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T0001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王老師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0933111222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T0002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陳老師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0922333444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S41243101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李同學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0987654321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S41243103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林同學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0966123456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666" name="Google Shape;666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4" name="Google Shape;534;p43"/>
          <p:cNvGraphicFramePr/>
          <p:nvPr/>
        </p:nvGraphicFramePr>
        <p:xfrm>
          <a:off x="236588" y="1766625"/>
          <a:ext cx="8670825" cy="256014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1105075"/>
                <a:gridCol w="1166750"/>
                <a:gridCol w="1467075"/>
                <a:gridCol w="804550"/>
                <a:gridCol w="1079775"/>
                <a:gridCol w="3047600"/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資料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型態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可為空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預設值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其他說明</a:t>
                      </a:r>
                      <a:endParaRPr sz="1200"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教室代碼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主鍵，唯一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room_name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教室名稱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VARCHAR(20)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唯一，完整教室名稱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location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位置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VARCHAR(50)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例如 綜三館6F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capacity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可容人數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INT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 ≤ capacity ≤ 100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status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教室狀態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VARCHAR(20)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Available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Available / UnderMaintenance / Disabled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535" name="Google Shape;535;p43"/>
          <p:cNvSpPr txBox="1"/>
          <p:nvPr/>
        </p:nvSpPr>
        <p:spPr>
          <a:xfrm>
            <a:off x="914400" y="22790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Room（教室）</a:t>
            </a:r>
            <a:endParaRPr sz="23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536" name="Google Shape;536;p43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537" name="Google Shape;537;p43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538" name="Google Shape;538;p43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539" name="Google Shape;539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/>
          <p:cNvSpPr txBox="1"/>
          <p:nvPr/>
        </p:nvSpPr>
        <p:spPr>
          <a:xfrm>
            <a:off x="561475" y="1193150"/>
            <a:ext cx="7810200" cy="4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CREATE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TABLE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795E26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Room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room_id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10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room_name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20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location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50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capacity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INT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status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20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DEFAULT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'Available'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PRIMARY KEY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(room_id),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(capacity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BETWEEN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AND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100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status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'Available'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'UnderMaintenance'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'Disabled'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))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);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0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545" name="Google Shape;545;p44"/>
          <p:cNvSpPr txBox="1"/>
          <p:nvPr/>
        </p:nvSpPr>
        <p:spPr>
          <a:xfrm>
            <a:off x="902375" y="300775"/>
            <a:ext cx="3739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建立 Room 資料表</a:t>
            </a:r>
            <a:endParaRPr sz="2300" b="1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546" name="Google Shape;546;p44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547" name="Google Shape;547;p44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548" name="Google Shape;548;p44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549" name="Google Shape;549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6"/>
          <p:cNvSpPr txBox="1"/>
          <p:nvPr/>
        </p:nvSpPr>
        <p:spPr>
          <a:xfrm>
            <a:off x="889950" y="23180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300"/>
              </a:spcBef>
              <a:spcAft>
                <a:spcPts val="1200"/>
              </a:spcAft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Room 資料範例</a:t>
            </a:r>
            <a:endParaRPr sz="2300"/>
          </a:p>
        </p:txBody>
      </p:sp>
      <p:grpSp>
        <p:nvGrpSpPr>
          <p:cNvPr id="672" name="Google Shape;672;p56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673" name="Google Shape;673;p56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674" name="Google Shape;674;p56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675" name="Google Shape;675;p56"/>
          <p:cNvSpPr txBox="1"/>
          <p:nvPr/>
        </p:nvSpPr>
        <p:spPr>
          <a:xfrm>
            <a:off x="482325" y="901025"/>
            <a:ext cx="79902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INSERT INTO Room (room_id, room_name, location, capacity, status) VALUES</a:t>
            </a: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('BGC0614', '多功能教學實驗室', '綜三館 6F', 60, 'Available'),</a:t>
            </a: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('BGC0513', '一般教室', '綜三館 5F', 60, 'UnderMaintenance'),</a:t>
            </a: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('BGC0501', '討論教室', '綜三館 5F', 40, 'Available'),</a:t>
            </a: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('BGC0701', '專題討論室', '綜三館 7F', 30, 'Available'),</a:t>
            </a: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('BGC0402', '舊設備教室', '綜三館 4F', 50, 'Disabled');</a:t>
            </a: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graphicFrame>
        <p:nvGraphicFramePr>
          <p:cNvPr id="676" name="Google Shape;676;p56"/>
          <p:cNvGraphicFramePr/>
          <p:nvPr/>
        </p:nvGraphicFramePr>
        <p:xfrm>
          <a:off x="832575" y="2571750"/>
          <a:ext cx="7541150" cy="219438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1214125"/>
                <a:gridCol w="1591875"/>
                <a:gridCol w="1322075"/>
                <a:gridCol w="1227625"/>
                <a:gridCol w="2185450"/>
              </a:tblGrid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room_id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room_name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location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capacity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status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BGC0614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多功能教學實驗室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綜三館 6F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60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Available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BGC0513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一般教室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綜三館 5F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60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UnderMaintenance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BGC0501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討論教室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綜三館 5F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40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Available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BGC0701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專題討論室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綜三館 7F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30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Available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BGC0402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舊設備教室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綜三館 4F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50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Disabled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677" name="Google Shape;677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4" name="Google Shape;554;p45"/>
          <p:cNvGraphicFramePr/>
          <p:nvPr/>
        </p:nvGraphicFramePr>
        <p:xfrm>
          <a:off x="413763" y="1689100"/>
          <a:ext cx="8316475" cy="256014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1481525"/>
                <a:gridCol w="1238650"/>
                <a:gridCol w="1164475"/>
                <a:gridCol w="1050075"/>
                <a:gridCol w="1074125"/>
                <a:gridCol w="2307625"/>
              </a:tblGrid>
              <a:tr h="503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資料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型態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是否可為空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預設值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其他說明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610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eq_id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設備識別碼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INT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主鍵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eq_name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設備名稱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VARCHAR(30)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同一教室內不可重複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所屬教室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外鍵，參考 Room.room_id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eq_desc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設備說明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VARCHAR(100)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例如 HDMI 投影機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status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設備狀態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VARCHAR(20)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Available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Available / UnderMaintenance / Disabled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555" name="Google Shape;555;p45"/>
          <p:cNvSpPr txBox="1"/>
          <p:nvPr/>
        </p:nvSpPr>
        <p:spPr>
          <a:xfrm>
            <a:off x="914400" y="227900"/>
            <a:ext cx="3451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Equipment（教室設備）</a:t>
            </a:r>
            <a:endParaRPr sz="23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556" name="Google Shape;556;p45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557" name="Google Shape;557;p45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558" name="Google Shape;558;p45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559" name="Google Shape;559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6"/>
          <p:cNvSpPr txBox="1"/>
          <p:nvPr/>
        </p:nvSpPr>
        <p:spPr>
          <a:xfrm>
            <a:off x="382275" y="880225"/>
            <a:ext cx="8539200" cy="44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CREATE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TABLE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795E26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Equipment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eq_id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INT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AUTO_INCREMENT,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eq_name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30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eq_desc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100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room_id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10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status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6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20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DEFAULT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'Available'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PRIMARY KEY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(eq_id),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UNIQUE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(eq_name, room_id),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FOREIGN KEY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(room_id)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REFERENCES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Room(room_id),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status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6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'Available'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'UnderMaintenance'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16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'Disabled'</a:t>
            </a: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))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);</a:t>
            </a:r>
            <a:endParaRPr sz="16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6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565" name="Google Shape;565;p46"/>
          <p:cNvSpPr txBox="1"/>
          <p:nvPr/>
        </p:nvSpPr>
        <p:spPr>
          <a:xfrm>
            <a:off x="902375" y="300775"/>
            <a:ext cx="3739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建立 Equipment 資料表</a:t>
            </a:r>
            <a:endParaRPr sz="2300" b="1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566" name="Google Shape;566;p46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567" name="Google Shape;567;p46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568" name="Google Shape;568;p46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569" name="Google Shape;56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2" name="Google Shape;682;p57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683" name="Google Shape;683;p57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684" name="Google Shape;684;p57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685" name="Google Shape;685;p57"/>
          <p:cNvSpPr txBox="1"/>
          <p:nvPr/>
        </p:nvSpPr>
        <p:spPr>
          <a:xfrm>
            <a:off x="1054775" y="231800"/>
            <a:ext cx="3000000" cy="763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Equipment 資料範例</a:t>
            </a:r>
            <a:endParaRPr sz="2300" dirty="0"/>
          </a:p>
        </p:txBody>
      </p:sp>
      <p:sp>
        <p:nvSpPr>
          <p:cNvPr id="686" name="Google Shape;686;p57"/>
          <p:cNvSpPr txBox="1"/>
          <p:nvPr/>
        </p:nvSpPr>
        <p:spPr>
          <a:xfrm>
            <a:off x="209550" y="688750"/>
            <a:ext cx="82629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INSERT INTO Equipment (eq_name, eq_desc, room_id, status) VALUES</a:t>
            </a:r>
            <a:endParaRPr sz="16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('投影機', 'HDMI 投影機', 'BGC0614', 'Available'),</a:t>
            </a:r>
            <a:endParaRPr sz="16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('麥克風', '無線麥克風', 'BGC0614', 'Available'),</a:t>
            </a:r>
            <a:endParaRPr sz="16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('白板', '固定式白板', 'BGC0614', 'Available'),</a:t>
            </a:r>
            <a:endParaRPr sz="16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('投影機', 'HDMI 投影機', 'BGC0501', 'Available'),</a:t>
            </a:r>
            <a:endParaRPr sz="16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6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('冷氣', '分離式冷氣', 'BGC0513', 'UnderMaintenance');</a:t>
            </a:r>
            <a:endParaRPr sz="16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graphicFrame>
        <p:nvGraphicFramePr>
          <p:cNvPr id="687" name="Google Shape;687;p57"/>
          <p:cNvGraphicFramePr/>
          <p:nvPr/>
        </p:nvGraphicFramePr>
        <p:xfrm>
          <a:off x="320375" y="2683950"/>
          <a:ext cx="8503250" cy="219438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1348800"/>
                <a:gridCol w="1876550"/>
                <a:gridCol w="1759300"/>
                <a:gridCol w="1759300"/>
                <a:gridCol w="1759300"/>
              </a:tblGrid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eq_id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eq_name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eq_desc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room_id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status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投影機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HDMI 投影機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BGC0614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Available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麥克風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無線麥克風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BGC0614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Available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白板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固定式白板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BGC0614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Available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投影機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HDMI 投影機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BGC0501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Available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冷氣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分離式冷氣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BGC0513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UnderMaintenance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688" name="Google Shape;688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7"/>
          <p:cNvSpPr txBox="1"/>
          <p:nvPr/>
        </p:nvSpPr>
        <p:spPr>
          <a:xfrm>
            <a:off x="914400" y="227900"/>
            <a:ext cx="4043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BorrowRequest（借用申請）</a:t>
            </a:r>
            <a:endParaRPr sz="23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575" name="Google Shape;575;p47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576" name="Google Shape;576;p47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577" name="Google Shape;577;p47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graphicFrame>
        <p:nvGraphicFramePr>
          <p:cNvPr id="578" name="Google Shape;578;p47"/>
          <p:cNvGraphicFramePr/>
          <p:nvPr/>
        </p:nvGraphicFramePr>
        <p:xfrm>
          <a:off x="299288" y="1440975"/>
          <a:ext cx="8545425" cy="301544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1185725"/>
                <a:gridCol w="1196400"/>
                <a:gridCol w="1054250"/>
                <a:gridCol w="942475"/>
                <a:gridCol w="1339575"/>
                <a:gridCol w="2827000"/>
              </a:tblGrid>
              <a:tr h="319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資料型態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是否可為空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預設值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其他說明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581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req_id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申請識別碼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INT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主鍵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user_id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借用者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VARCHAR(15)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外鍵，參考 User.user_id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借用教室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外鍵，參考 Room.room_id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start_date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借用開始日期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DATE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合法日期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0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end_date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借用結束日期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DATE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不可早於 start_date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80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weekday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長期借用星期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INT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1~7；短期借用可為 NULL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579" name="Google Shape;579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4" name="Google Shape;584;p48"/>
          <p:cNvGraphicFramePr/>
          <p:nvPr/>
        </p:nvGraphicFramePr>
        <p:xfrm>
          <a:off x="222375" y="1152925"/>
          <a:ext cx="8485000" cy="3686905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1312425"/>
                <a:gridCol w="1187950"/>
                <a:gridCol w="1140550"/>
                <a:gridCol w="856175"/>
                <a:gridCol w="1113350"/>
                <a:gridCol w="2874550"/>
              </a:tblGrid>
              <a:tr h="526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資料型態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</a:t>
                      </a:r>
                      <a:endParaRPr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可為空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預設值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其他說明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9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start_time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起始時間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TIME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08:10以後，早於 end_time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9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end_time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結束時間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TIME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22:30以前，晚於 start_time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purpose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用途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VARCHAR(100)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借用目的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9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borrow_type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借用類型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ShortTerm / LongTerm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9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status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申請狀態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3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'Pending'</a:t>
                      </a:r>
                      <a:endParaRPr sz="13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Pending / Approved / Rejected / Cancelled</a:t>
                      </a:r>
                      <a:endParaRPr sz="13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created_at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建立時間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DATETIME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系統當前時間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系統自動記錄</a:t>
                      </a:r>
                      <a:endParaRPr sz="13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585" name="Google Shape;585;p48"/>
          <p:cNvSpPr txBox="1"/>
          <p:nvPr/>
        </p:nvSpPr>
        <p:spPr>
          <a:xfrm>
            <a:off x="623625" y="278050"/>
            <a:ext cx="4487400" cy="74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BorrowRequest（借用申請）</a:t>
            </a:r>
            <a:r>
              <a:rPr lang="en-US" alt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</a:t>
            </a:r>
            <a:endParaRPr sz="2300" b="1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586" name="Google Shape;586;p48"/>
          <p:cNvGrpSpPr/>
          <p:nvPr/>
        </p:nvGrpSpPr>
        <p:grpSpPr>
          <a:xfrm>
            <a:off x="91496" y="309805"/>
            <a:ext cx="450310" cy="429099"/>
            <a:chOff x="956666" y="3498086"/>
            <a:chExt cx="600413" cy="572132"/>
          </a:xfrm>
        </p:grpSpPr>
        <p:sp>
          <p:nvSpPr>
            <p:cNvPr id="587" name="Google Shape;587;p48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588" name="Google Shape;588;p48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589" name="Google Shape;589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4" name="Google Shape;594;p49"/>
          <p:cNvGraphicFramePr/>
          <p:nvPr/>
        </p:nvGraphicFramePr>
        <p:xfrm>
          <a:off x="329500" y="1550950"/>
          <a:ext cx="8485000" cy="2638845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1312425"/>
                <a:gridCol w="1187950"/>
                <a:gridCol w="1140550"/>
                <a:gridCol w="856175"/>
                <a:gridCol w="1113350"/>
                <a:gridCol w="2874550"/>
              </a:tblGrid>
              <a:tr h="526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資料型態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</a:t>
                      </a:r>
                      <a:endParaRPr b="1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可為空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預設值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其他說明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reviewed_at</a:t>
                      </a:r>
                      <a:endParaRPr sz="13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審核完成時間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DATETIME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管理員核准或拒絕時記錄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cancelled_at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取消時間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DATETIME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使用者取消借用時記錄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86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is_cleared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是否已清除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CHAR(1)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Y、N 兩者之一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cleared_at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清除時間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DATETIME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清除系統時記錄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595" name="Google Shape;595;p49"/>
          <p:cNvSpPr txBox="1"/>
          <p:nvPr/>
        </p:nvSpPr>
        <p:spPr>
          <a:xfrm>
            <a:off x="623625" y="278050"/>
            <a:ext cx="4518000" cy="74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BorrowRequest（借用申請）</a:t>
            </a:r>
            <a:r>
              <a:rPr lang="en-US" alt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II</a:t>
            </a:r>
            <a:endParaRPr sz="2300" b="1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596" name="Google Shape;596;p49"/>
          <p:cNvGrpSpPr/>
          <p:nvPr/>
        </p:nvGrpSpPr>
        <p:grpSpPr>
          <a:xfrm>
            <a:off x="91496" y="309805"/>
            <a:ext cx="450310" cy="429099"/>
            <a:chOff x="956666" y="3498086"/>
            <a:chExt cx="600413" cy="572132"/>
          </a:xfrm>
        </p:grpSpPr>
        <p:sp>
          <p:nvSpPr>
            <p:cNvPr id="597" name="Google Shape;597;p49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598" name="Google Shape;598;p49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599" name="Google Shape;599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0"/>
          <p:cNvSpPr txBox="1"/>
          <p:nvPr/>
        </p:nvSpPr>
        <p:spPr>
          <a:xfrm>
            <a:off x="503725" y="1020525"/>
            <a:ext cx="3873000" cy="38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CREATE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TABLE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795E26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BorrowRequest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req_id 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INT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AUTO_INCREMENT,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user_id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95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15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room_id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95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10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start_date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DATE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end_date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DATE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weekday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INT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start_time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TIME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end_time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TIME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purpose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95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100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borrow_type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95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10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status 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95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10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DEFAULT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'Pending'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created_at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DATETIME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DEFAULT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CURRENT_TIMESTAMP,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reviewed_at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DATETIME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cancelled_at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DATETIME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is_cleared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CHAR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95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DEFAULT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'N'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cleared_at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DATETIME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605" name="Google Shape;605;p50"/>
          <p:cNvSpPr txBox="1"/>
          <p:nvPr/>
        </p:nvSpPr>
        <p:spPr>
          <a:xfrm>
            <a:off x="892350" y="243350"/>
            <a:ext cx="4228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建立 BorrowRequest 資料表</a:t>
            </a:r>
            <a:endParaRPr sz="2300" b="1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606" name="Google Shape;606;p50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607" name="Google Shape;607;p5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608" name="Google Shape;608;p5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609" name="Google Shape;609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  <p:sp>
        <p:nvSpPr>
          <p:cNvPr id="610" name="Google Shape;610;p50"/>
          <p:cNvSpPr txBox="1"/>
          <p:nvPr/>
        </p:nvSpPr>
        <p:spPr>
          <a:xfrm>
            <a:off x="4065450" y="1020525"/>
            <a:ext cx="4955700" cy="40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PRIMARY KEY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(req_id),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FOREIGN KEY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(user_id)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REFERENCES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User(user_id),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FOREIGN KEY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(room_id)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REFERENCES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Room(room_id),</a:t>
            </a:r>
            <a:endParaRPr sz="950" b="1">
              <a:solidFill>
                <a:srgbClr val="008000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(start_date &lt;= end_date),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(start_time &lt; end_time),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(start_time &gt;=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'08:10:00'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AND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end_time &lt;=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'22:30:00'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),</a:t>
            </a:r>
            <a:endParaRPr sz="950" b="1">
              <a:solidFill>
                <a:srgbClr val="008000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(borrow_type =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'ShortTerm'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AND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weekday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IS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OR</a:t>
            </a:r>
            <a:endParaRPr sz="950" b="1">
              <a:solidFill>
                <a:srgbClr val="0000FF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(borrow_type =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'LongTerm'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AND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weekday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BETWEEN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AND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7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),</a:t>
            </a:r>
            <a:endParaRPr sz="950" b="1">
              <a:solidFill>
                <a:srgbClr val="008000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(borrow_type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'ShortTerm'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'LongTerm'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)),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(status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'Pending'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'Approved'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'Rejected'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'Cancelled'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)),</a:t>
            </a:r>
            <a:endParaRPr sz="950" b="1">
              <a:solidFill>
                <a:srgbClr val="008000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(reviewed_at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IS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OR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reviewed_at &gt;= created_at),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(cancelled_at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IS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OR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cancelled_at &gt;= created_at),</a:t>
            </a:r>
            <a:endParaRPr sz="950" b="1">
              <a:solidFill>
                <a:srgbClr val="008000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(status &lt;&gt;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'Cancelled'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OR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cancelled_at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IS NOT 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),</a:t>
            </a:r>
            <a:endParaRPr sz="950" b="1">
              <a:solidFill>
                <a:srgbClr val="008000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(is_cleared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'Y'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95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'N'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)),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(cleared_at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IS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95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OR</a:t>
            </a: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cleared_at &gt;= created_at)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95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);</a:t>
            </a:r>
            <a:endParaRPr sz="95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cxnSp>
        <p:nvCxnSpPr>
          <p:cNvPr id="611" name="Google Shape;611;p50"/>
          <p:cNvCxnSpPr/>
          <p:nvPr/>
        </p:nvCxnSpPr>
        <p:spPr>
          <a:xfrm flipH="1">
            <a:off x="4085350" y="1226200"/>
            <a:ext cx="9600" cy="37566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8"/>
          <p:cNvSpPr txBox="1"/>
          <p:nvPr/>
        </p:nvSpPr>
        <p:spPr>
          <a:xfrm>
            <a:off x="216950" y="1149550"/>
            <a:ext cx="81705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INSERT INTO BorrowRequest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(req_id, user_id, room_id, start_date, end_date, weekday, start_time, end_time,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purpose, borrow_type, status, created_at, reviewed_at, cancelled_at, is_cleared, cleared_at)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VALUES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(1, 'T0001', 'BGC0614', '2026-06-10', '2026-06-10', NULL, '09:00:00', '12:00:00', '補課', 'ShortTerm', 'Approved', '2026-05-20 10:00:00', '2026-05-21 14:00:00', NULL, 'N', NULL),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(2, 'S41243101', 'BGC0614', '2026-06-10', '2026-06-10', NULL, '09:00:00', '10:00:00', '小組報告練習', 'ShortTerm', 'Rejected', '2026-05-20 10:10:00', '2026-05-21 14:05:00', NULL, 'N', NULL),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(3, 'S41243103', 'BGC0501', '2026-06-15', '2026-06-15', NULL, '10:00:00', '11:00:00', '專題討論', 'ShortTerm', 'Pending', '2026-05-25 09:00:00', NULL, NULL, 'N', NULL);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grpSp>
        <p:nvGrpSpPr>
          <p:cNvPr id="694" name="Google Shape;694;p58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695" name="Google Shape;695;p58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696" name="Google Shape;696;p58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697" name="Google Shape;697;p58"/>
          <p:cNvSpPr txBox="1"/>
          <p:nvPr/>
        </p:nvSpPr>
        <p:spPr>
          <a:xfrm>
            <a:off x="1012675" y="231800"/>
            <a:ext cx="3705300" cy="92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300"/>
              </a:spcBef>
              <a:spcAft>
                <a:spcPts val="1200"/>
              </a:spcAft>
              <a:buNone/>
            </a:pPr>
            <a:r>
              <a:rPr 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BorrowRequest 資料範例</a:t>
            </a:r>
            <a:r>
              <a:rPr lang="en-US" alt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</a:t>
            </a:r>
            <a:endParaRPr sz="2300" dirty="0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698" name="Google Shape;69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9"/>
          <p:cNvSpPr txBox="1"/>
          <p:nvPr/>
        </p:nvSpPr>
        <p:spPr>
          <a:xfrm>
            <a:off x="579350" y="1719113"/>
            <a:ext cx="8342100" cy="19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(4, 'S41243107', 'BGC0501', '2026-06-16', '2026-06-16', NULL,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'13:00:00', '15:00:00', '社團會議', 'ShortTerm', 'Cancelled',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'2026-05-26 11:00:00', NULL, '2026-05-27 09:00:00', 'N', NULL),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(5, 'T0002', 'BGC0701', '2026-07-01', '2026-07-29', 3,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'14:00:00', '16:00:00', '專題指導', 'LongTerm', 'Approved',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300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'2026-06-01 08:30:00', '2026-06-02 10:00:00', NULL, 'N', NULL);</a:t>
            </a: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300"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grpSp>
        <p:nvGrpSpPr>
          <p:cNvPr id="704" name="Google Shape;704;p59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705" name="Google Shape;705;p59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706" name="Google Shape;706;p59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707" name="Google Shape;707;p59"/>
          <p:cNvSpPr txBox="1"/>
          <p:nvPr/>
        </p:nvSpPr>
        <p:spPr>
          <a:xfrm>
            <a:off x="1012675" y="231800"/>
            <a:ext cx="3812100" cy="92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300"/>
              </a:spcBef>
              <a:spcAft>
                <a:spcPts val="1200"/>
              </a:spcAft>
              <a:buNone/>
            </a:pPr>
            <a:r>
              <a:rPr 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BorrowRequest 資料範例</a:t>
            </a:r>
            <a:r>
              <a:rPr lang="en-US" alt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II</a:t>
            </a:r>
            <a:endParaRPr sz="2300" dirty="0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708" name="Google Shape;708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3" name="Google Shape;713;p60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714" name="Google Shape;714;p60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715" name="Google Shape;715;p60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716" name="Google Shape;716;p60"/>
          <p:cNvSpPr txBox="1"/>
          <p:nvPr/>
        </p:nvSpPr>
        <p:spPr>
          <a:xfrm>
            <a:off x="1012675" y="231800"/>
            <a:ext cx="4210800" cy="92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300"/>
              </a:spcBef>
              <a:spcAft>
                <a:spcPts val="1200"/>
              </a:spcAft>
              <a:buNone/>
            </a:pPr>
            <a:r>
              <a:rPr 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BorrowRequest 資料範例</a:t>
            </a:r>
            <a:r>
              <a:rPr lang="en-US" alt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</a:t>
            </a:r>
            <a:endParaRPr sz="2300" dirty="0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717" name="Google Shape;717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  <p:graphicFrame>
        <p:nvGraphicFramePr>
          <p:cNvPr id="718" name="Google Shape;718;p60"/>
          <p:cNvGraphicFramePr/>
          <p:nvPr/>
        </p:nvGraphicFramePr>
        <p:xfrm>
          <a:off x="293675" y="1439925"/>
          <a:ext cx="8727475" cy="3145800"/>
        </p:xfrm>
        <a:graphic>
          <a:graphicData uri="http://schemas.openxmlformats.org/drawingml/2006/table">
            <a:tbl>
              <a:tblPr>
                <a:noFill/>
                <a:tableStyleId>{5E4DF90B-2F7E-462A-BB2A-4B7291B50485}</a:tableStyleId>
              </a:tblPr>
              <a:tblGrid>
                <a:gridCol w="652575"/>
                <a:gridCol w="865900"/>
                <a:gridCol w="790625"/>
                <a:gridCol w="903550"/>
                <a:gridCol w="853350"/>
                <a:gridCol w="828275"/>
                <a:gridCol w="903550"/>
                <a:gridCol w="853350"/>
                <a:gridCol w="1079225"/>
                <a:gridCol w="997075"/>
              </a:tblGrid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req_id</a:t>
                      </a:r>
                      <a:endParaRPr sz="10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user_id</a:t>
                      </a:r>
                      <a:endParaRPr sz="10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room_id</a:t>
                      </a:r>
                      <a:endParaRPr sz="10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start_date</a:t>
                      </a:r>
                      <a:endParaRPr sz="10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end_date</a:t>
                      </a:r>
                      <a:endParaRPr sz="10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weekday</a:t>
                      </a:r>
                      <a:endParaRPr sz="10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start_time</a:t>
                      </a:r>
                      <a:endParaRPr sz="10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end_time</a:t>
                      </a:r>
                      <a:endParaRPr sz="10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purpose</a:t>
                      </a:r>
                      <a:endParaRPr sz="10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borrow_type</a:t>
                      </a:r>
                      <a:endParaRPr sz="10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T0001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BGC0614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2026-06-10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2026-06-10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09:00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12:00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補課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ShortTerm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S41243101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BGC0614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2026-06-10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2026-06-10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09:00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10:00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小組報告練習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ShortTerm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S41243103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BGC0501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2026-06-15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2026-06-15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10:00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11:00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專題討論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ShortTerm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4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S41243107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BGC0501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2026-06-16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2026-06-16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13:00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15:00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社團會議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ShortTerm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5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T0002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BGC0701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2026-07-01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2026-07-29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14:00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16:00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專題指導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LongTerm</a:t>
                      </a:r>
                      <a:endParaRPr sz="10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3" name="Google Shape;723;p61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724" name="Google Shape;724;p61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725" name="Google Shape;725;p61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726" name="Google Shape;726;p61"/>
          <p:cNvSpPr txBox="1"/>
          <p:nvPr/>
        </p:nvSpPr>
        <p:spPr>
          <a:xfrm>
            <a:off x="1012675" y="231800"/>
            <a:ext cx="4248900" cy="92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300"/>
              </a:spcBef>
              <a:spcAft>
                <a:spcPts val="1200"/>
              </a:spcAft>
              <a:buNone/>
            </a:pPr>
            <a:r>
              <a:rPr 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BorrowRequest 資料範例</a:t>
            </a:r>
            <a:r>
              <a:rPr lang="en-US" altLang="zh-TW" sz="2300" b="1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II</a:t>
            </a:r>
            <a:endParaRPr sz="2300" dirty="0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727" name="Google Shape;727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  <p:graphicFrame>
        <p:nvGraphicFramePr>
          <p:cNvPr id="728" name="Google Shape;728;p61"/>
          <p:cNvGraphicFramePr/>
          <p:nvPr/>
        </p:nvGraphicFramePr>
        <p:xfrm>
          <a:off x="267625" y="940775"/>
          <a:ext cx="8369100" cy="3798210"/>
        </p:xfrm>
        <a:graphic>
          <a:graphicData uri="http://schemas.openxmlformats.org/drawingml/2006/table">
            <a:tbl>
              <a:tblPr>
                <a:noFill/>
                <a:tableStyleId>{5E4DF90B-2F7E-462A-BB2A-4B7291B50485}</a:tableStyleId>
              </a:tblPr>
              <a:tblGrid>
                <a:gridCol w="1394850"/>
                <a:gridCol w="1394850"/>
                <a:gridCol w="1394850"/>
                <a:gridCol w="1394850"/>
                <a:gridCol w="1394850"/>
                <a:gridCol w="1394850"/>
              </a:tblGrid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status</a:t>
                      </a:r>
                      <a:endParaRPr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created_at</a:t>
                      </a:r>
                      <a:endParaRPr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reviewed_at</a:t>
                      </a:r>
                      <a:endParaRPr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cancelled_at</a:t>
                      </a:r>
                      <a:endParaRPr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is_cleared</a:t>
                      </a:r>
                      <a:endParaRPr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cleared_at</a:t>
                      </a:r>
                      <a:endParaRPr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Approved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2026-05-20 10:00:00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2026-05-21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14:00:00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Rejected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2026-05-20 10:10:00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2026-05-21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14:05:00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Pending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2026-05-25 09:00:00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Cancelled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2026-05-26 11:00:00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2026-05-27 09:00:00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24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Approved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2026-06-01 08:30:00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2026-06-02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10:00:00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6" name="Google Shape;616;p51"/>
          <p:cNvGraphicFramePr/>
          <p:nvPr/>
        </p:nvGraphicFramePr>
        <p:xfrm>
          <a:off x="285838" y="1344813"/>
          <a:ext cx="8572300" cy="308338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1469025"/>
                <a:gridCol w="1228200"/>
                <a:gridCol w="1168800"/>
                <a:gridCol w="1265175"/>
                <a:gridCol w="1108950"/>
                <a:gridCol w="2332150"/>
              </a:tblGrid>
              <a:tr h="17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欄位名稱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說明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資料型態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是否可為空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預設值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b="1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其他說明</a:t>
                      </a:r>
                      <a:endParaRPr>
                        <a:solidFill>
                          <a:srgbClr val="333333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127000" marR="127000" marT="63500" marB="63500" anchor="ctr">
                    <a:lnL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log_id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紀錄識別碼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INT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主鍵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req_id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對應申請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INT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外鍵，參考 BorrowRequest.req_id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admin_id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審核者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VARCHAR(15)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外鍵，參考 User.user_id，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且 role 必須為 A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action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操作類型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VARCHAR(10)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'Approve'、'Reject'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兩者之一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06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reason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拒絕原因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VARCHAR(200)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是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無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action = 'Reject' 時必填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timestamp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審核完成時間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DATETIME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否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系統當前時間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不早於對應申請的 created_at</a:t>
                      </a:r>
                      <a:endParaRPr sz="1200"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8300" cap="flat" cmpd="sng">
                      <a:solidFill>
                        <a:srgbClr val="0097A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617" name="Google Shape;617;p51"/>
          <p:cNvSpPr txBox="1"/>
          <p:nvPr/>
        </p:nvSpPr>
        <p:spPr>
          <a:xfrm>
            <a:off x="914400" y="227900"/>
            <a:ext cx="3657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AuditLog（審核歷程）</a:t>
            </a:r>
            <a:endParaRPr sz="230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618" name="Google Shape;618;p51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619" name="Google Shape;619;p51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620" name="Google Shape;620;p51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621" name="Google Shape;621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2"/>
          <p:cNvSpPr txBox="1"/>
          <p:nvPr/>
        </p:nvSpPr>
        <p:spPr>
          <a:xfrm>
            <a:off x="224275" y="842250"/>
            <a:ext cx="8550900" cy="42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CREATE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TABLE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100" b="1">
                <a:solidFill>
                  <a:srgbClr val="795E26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AuditLog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log_id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INT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AUTO_INCREMENT,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req_id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INT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admin_id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1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15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action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1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10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reason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VARCHAR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</a:t>
            </a:r>
            <a:r>
              <a:rPr lang="zh-TW" sz="1100" b="1">
                <a:solidFill>
                  <a:srgbClr val="098658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200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NULL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timestamp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DATETIME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NOT NULL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DEFAULT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CURRENT_TIMESTAMP,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PRIMARY KEY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(log_id),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FOREIGN KEY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(req_id)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REFERENCES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BorrowRequest(req_id),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FOREIGN KEY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(admin_id)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REFERENCES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User(user_id),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action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IN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r>
              <a:rPr lang="zh-TW" sz="11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'Approve'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, </a:t>
            </a:r>
            <a:r>
              <a:rPr lang="zh-TW" sz="11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'Reject'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)),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CHECK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(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action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= </a:t>
            </a:r>
            <a:r>
              <a:rPr lang="zh-TW" sz="11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'Approve'</a:t>
            </a:r>
            <a:endParaRPr sz="1100" b="1">
              <a:solidFill>
                <a:srgbClr val="A31515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OR</a:t>
            </a:r>
            <a:endParaRPr sz="1100" b="1">
              <a:solidFill>
                <a:srgbClr val="0000FF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    (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action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= </a:t>
            </a:r>
            <a:r>
              <a:rPr lang="zh-TW" sz="11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'Reject'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AND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reason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IS NOT NULL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100" b="1">
                <a:solidFill>
                  <a:srgbClr val="0000FF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AND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</a:t>
            </a:r>
            <a:r>
              <a:rPr lang="zh-TW" sz="1100" b="1">
                <a:solidFill>
                  <a:srgbClr val="795E26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TRIM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(reason) &lt;&gt; </a:t>
            </a:r>
            <a:r>
              <a:rPr lang="zh-TW" sz="1100" b="1">
                <a:solidFill>
                  <a:srgbClr val="A31515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''</a:t>
            </a: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    )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sz="1100" b="1">
                <a:solidFill>
                  <a:schemeClr val="dk1"/>
                </a:solidFill>
                <a:highlight>
                  <a:srgbClr val="FFFFFF"/>
                </a:highlight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);</a:t>
            </a:r>
            <a:endParaRPr sz="1100" b="1">
              <a:solidFill>
                <a:schemeClr val="dk1"/>
              </a:solidFill>
              <a:highlight>
                <a:srgbClr val="FFFFFF"/>
              </a:highlight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1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sp>
        <p:nvSpPr>
          <p:cNvPr id="627" name="Google Shape;627;p52"/>
          <p:cNvSpPr txBox="1"/>
          <p:nvPr/>
        </p:nvSpPr>
        <p:spPr>
          <a:xfrm>
            <a:off x="902375" y="300775"/>
            <a:ext cx="3739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建立 AuditLog 資料表</a:t>
            </a:r>
            <a:endParaRPr sz="2300" b="1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pSp>
        <p:nvGrpSpPr>
          <p:cNvPr id="628" name="Google Shape;628;p52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629" name="Google Shape;629;p52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630" name="Google Shape;630;p52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631" name="Google Shape;631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3" name="Google Shape;733;p62"/>
          <p:cNvGrpSpPr/>
          <p:nvPr/>
        </p:nvGrpSpPr>
        <p:grpSpPr>
          <a:xfrm>
            <a:off x="382271" y="259655"/>
            <a:ext cx="450310" cy="429099"/>
            <a:chOff x="956666" y="3498086"/>
            <a:chExt cx="600413" cy="572132"/>
          </a:xfrm>
        </p:grpSpPr>
        <p:sp>
          <p:nvSpPr>
            <p:cNvPr id="734" name="Google Shape;734;p62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735" name="Google Shape;735;p62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736" name="Google Shape;736;p62"/>
          <p:cNvSpPr txBox="1"/>
          <p:nvPr/>
        </p:nvSpPr>
        <p:spPr>
          <a:xfrm>
            <a:off x="192500" y="794950"/>
            <a:ext cx="81489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INSERT INTO AuditLog (req_id, admin_id, action, reason, timestamp) VALUES</a:t>
            </a: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(1, 'A0001', 'Approve', NULL, '2026-05-21 14:00:00'),</a:t>
            </a: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TW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(2, 'A0001', 'Reject', '申請時段與已核准之教室借用申請衝突，無法核准借用申請', '2026-05-21 14:05:00'),</a:t>
            </a: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(5, 'A0001', 'Approve', NULL, '2026-06-02 10:00:00');</a:t>
            </a:r>
            <a:endParaRPr b="1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737" name="Google Shape;737;p62"/>
          <p:cNvSpPr txBox="1"/>
          <p:nvPr/>
        </p:nvSpPr>
        <p:spPr>
          <a:xfrm>
            <a:off x="896350" y="231800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300"/>
              </a:spcBef>
              <a:spcAft>
                <a:spcPts val="1200"/>
              </a:spcAft>
              <a:buNone/>
            </a:pPr>
            <a:r>
              <a:rPr lang="zh-TW"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AuditLog 資料範例</a:t>
            </a:r>
            <a:endParaRPr sz="2300"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graphicFrame>
        <p:nvGraphicFramePr>
          <p:cNvPr id="738" name="Google Shape;738;p62"/>
          <p:cNvGraphicFramePr/>
          <p:nvPr/>
        </p:nvGraphicFramePr>
        <p:xfrm>
          <a:off x="539838" y="2384150"/>
          <a:ext cx="7660225" cy="1984980"/>
        </p:xfrm>
        <a:graphic>
          <a:graphicData uri="http://schemas.openxmlformats.org/drawingml/2006/table">
            <a:tbl>
              <a:tblPr>
                <a:noFill/>
                <a:tableStyleId>{AC306F20-B5FA-46C3-8F7C-962CBD427640}</a:tableStyleId>
              </a:tblPr>
              <a:tblGrid>
                <a:gridCol w="766025"/>
                <a:gridCol w="776375"/>
                <a:gridCol w="1004125"/>
                <a:gridCol w="900600"/>
                <a:gridCol w="2096575"/>
                <a:gridCol w="2116525"/>
              </a:tblGrid>
              <a:tr h="29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log_id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req_id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admin_id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action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reason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timestamp</a:t>
                      </a:r>
                      <a:endParaRPr sz="1200" b="1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A0001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Approve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2026-05-21 14:00:00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86B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A0001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Reject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申請時段與已核准申請衝突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2026-05-21 14:05:00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A0001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Approve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NULL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>
                          <a:solidFill>
                            <a:schemeClr val="dk1"/>
                          </a:solidFill>
                          <a:latin typeface="標楷體" panose="03000509000000000000" charset="-120"/>
                          <a:ea typeface="標楷體" panose="03000509000000000000" charset="-120"/>
                          <a:cs typeface="標楷體" panose="03000509000000000000" charset="-120"/>
                          <a:sym typeface="標楷體" panose="03000509000000000000" charset="-120"/>
                        </a:rPr>
                        <a:t>2026-06-02 10:00:00</a:t>
                      </a:r>
                      <a:endParaRPr sz="1200">
                        <a:solidFill>
                          <a:schemeClr val="dk1"/>
                        </a:solidFill>
                        <a:latin typeface="標楷體" panose="03000509000000000000" charset="-120"/>
                        <a:ea typeface="標楷體" panose="03000509000000000000" charset="-120"/>
                        <a:cs typeface="標楷體" panose="03000509000000000000" charset="-120"/>
                        <a:sym typeface="標楷體" panose="03000509000000000000" charset="-12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55C0A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739" name="Google Shape;739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1" name="Google Shape;1081;p94"/>
          <p:cNvGrpSpPr/>
          <p:nvPr/>
        </p:nvGrpSpPr>
        <p:grpSpPr>
          <a:xfrm>
            <a:off x="382271" y="221981"/>
            <a:ext cx="4435935" cy="466772"/>
            <a:chOff x="956666" y="3447855"/>
            <a:chExt cx="5914580" cy="622363"/>
          </a:xfrm>
        </p:grpSpPr>
        <p:sp>
          <p:nvSpPr>
            <p:cNvPr id="1082" name="Google Shape;1082;p94"/>
            <p:cNvSpPr txBox="1"/>
            <p:nvPr/>
          </p:nvSpPr>
          <p:spPr>
            <a:xfrm>
              <a:off x="1581046" y="3447855"/>
              <a:ext cx="52902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資料來源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1083" name="Google Shape;1083;p94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1084" name="Google Shape;1084;p94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1085" name="Google Shape;1085;p94"/>
          <p:cNvSpPr txBox="1"/>
          <p:nvPr/>
        </p:nvSpPr>
        <p:spPr>
          <a:xfrm>
            <a:off x="864150" y="1111594"/>
            <a:ext cx="6961200" cy="367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5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國立虎尾科技大學 資工系教室借用系統</a:t>
            </a:r>
            <a:endParaRPr sz="25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429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2500" u="sng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  <a:hlinkClick r:id="rId1"/>
              </a:rPr>
              <a:t>https://csieoffice1.nfu.edu.tw/</a:t>
            </a:r>
            <a:endParaRPr sz="2500" u="sng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5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逢甲大學體育 室場地借用管理系統.</a:t>
            </a:r>
            <a:r>
              <a:rPr lang="zh-TW" sz="2500" dirty="0">
                <a:solidFill>
                  <a:schemeClr val="dk1"/>
                </a:solidFill>
                <a:uFill>
                  <a:noFill/>
                </a:u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  <a:hlinkClick r:id="rId2"/>
              </a:rPr>
              <a:t> </a:t>
            </a:r>
            <a:endParaRPr sz="1400" dirty="0">
              <a:solidFill>
                <a:schemeClr val="dk1"/>
              </a:solidFill>
            </a:endParaRPr>
          </a:p>
          <a:p>
            <a:pPr marL="3429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2500" u="sng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  <a:hlinkClick r:id="rId2"/>
              </a:rPr>
              <a:t>https://share.google/43ZdNW1RVkHCTsGi8</a:t>
            </a:r>
            <a:endParaRPr sz="2500" u="sng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5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國立清華大學 教室借用系統</a:t>
            </a:r>
            <a:endParaRPr sz="25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429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2500" u="sng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  <a:hlinkClick r:id="rId3"/>
              </a:rPr>
              <a:t>https://share.google/7nEjYTNkDw13sQput</a:t>
            </a:r>
            <a:endParaRPr sz="2500" u="sng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  <a:p>
            <a:pPr marL="3810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zh-TW" sz="2500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中原大學教務處 </a:t>
            </a:r>
            <a:r>
              <a:rPr lang="zh-TW" sz="2500" dirty="0">
                <a:solidFill>
                  <a:schemeClr val="dk1"/>
                </a:solidFill>
                <a:uFill>
                  <a:noFill/>
                </a:u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  <a:hlinkClick r:id="rId4"/>
              </a:rPr>
              <a:t> </a:t>
            </a:r>
            <a:endParaRPr sz="1400" dirty="0">
              <a:solidFill>
                <a:schemeClr val="dk1"/>
              </a:solidFill>
            </a:endParaRPr>
          </a:p>
          <a:p>
            <a:pPr marL="3429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sz="2500" u="sng" dirty="0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  <a:hlinkClick r:id="rId4"/>
              </a:rPr>
              <a:t>https://share.google/Jgz627iK0832tkNwJ</a:t>
            </a:r>
            <a:endParaRPr sz="2200" dirty="0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1" name="Google Shape;1091;p95"/>
          <p:cNvGrpSpPr/>
          <p:nvPr/>
        </p:nvGrpSpPr>
        <p:grpSpPr>
          <a:xfrm>
            <a:off x="382271" y="221981"/>
            <a:ext cx="4435935" cy="466772"/>
            <a:chOff x="956666" y="3447855"/>
            <a:chExt cx="5914580" cy="622363"/>
          </a:xfrm>
        </p:grpSpPr>
        <p:sp>
          <p:nvSpPr>
            <p:cNvPr id="1092" name="Google Shape;1092;p95"/>
            <p:cNvSpPr txBox="1"/>
            <p:nvPr/>
          </p:nvSpPr>
          <p:spPr>
            <a:xfrm>
              <a:off x="1581046" y="3447855"/>
              <a:ext cx="5290200" cy="56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1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300" b="1">
                  <a:solidFill>
                    <a:schemeClr val="dk1"/>
                  </a:solidFill>
                  <a:latin typeface="標楷體" panose="03000509000000000000" charset="-120"/>
                  <a:ea typeface="標楷體" panose="03000509000000000000" charset="-120"/>
                  <a:cs typeface="標楷體" panose="03000509000000000000" charset="-120"/>
                  <a:sym typeface="標楷體" panose="03000509000000000000" charset="-120"/>
                </a:rPr>
                <a:t> Github連結</a:t>
              </a:r>
              <a:endParaRPr sz="2300" b="1">
                <a:solidFill>
                  <a:schemeClr val="dk1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endParaRPr>
            </a:p>
          </p:txBody>
        </p:sp>
        <p:sp>
          <p:nvSpPr>
            <p:cNvPr id="1093" name="Google Shape;1093;p95"/>
            <p:cNvSpPr/>
            <p:nvPr/>
          </p:nvSpPr>
          <p:spPr>
            <a:xfrm>
              <a:off x="956666" y="3498086"/>
              <a:ext cx="448800" cy="448800"/>
            </a:xfrm>
            <a:prstGeom prst="rect">
              <a:avLst/>
            </a:prstGeom>
            <a:solidFill>
              <a:srgbClr val="113F4E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  <p:sp>
          <p:nvSpPr>
            <p:cNvPr id="1094" name="Google Shape;1094;p95"/>
            <p:cNvSpPr/>
            <p:nvPr/>
          </p:nvSpPr>
          <p:spPr>
            <a:xfrm>
              <a:off x="1176679" y="3689818"/>
              <a:ext cx="380400" cy="380400"/>
            </a:xfrm>
            <a:prstGeom prst="rect">
              <a:avLst/>
            </a:prstGeom>
            <a:solidFill>
              <a:srgbClr val="55C0AF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sp>
        <p:nvSpPr>
          <p:cNvPr id="1095" name="Google Shape;1095;p95"/>
          <p:cNvSpPr txBox="1"/>
          <p:nvPr/>
        </p:nvSpPr>
        <p:spPr>
          <a:xfrm>
            <a:off x="382275" y="2571750"/>
            <a:ext cx="8170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3429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 b="1" u="sng">
                <a:solidFill>
                  <a:schemeClr val="hlink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  <a:hlinkClick r:id="rId1"/>
              </a:rPr>
              <a:t>https://github.com/vivian1060290/DB_project_114</a:t>
            </a:r>
            <a:endParaRPr sz="2200" b="1">
              <a:solidFill>
                <a:schemeClr val="dk1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1101;p9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96"/>
          <p:cNvSpPr txBox="1"/>
          <p:nvPr/>
        </p:nvSpPr>
        <p:spPr>
          <a:xfrm>
            <a:off x="4323625" y="2327445"/>
            <a:ext cx="41667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5000" b="1">
                <a:solidFill>
                  <a:srgbClr val="113F4E"/>
                </a:solidFill>
                <a:latin typeface="標楷體" panose="03000509000000000000" charset="-120"/>
                <a:ea typeface="標楷體" panose="03000509000000000000" charset="-120"/>
                <a:cs typeface="標楷體" panose="03000509000000000000" charset="-120"/>
                <a:sym typeface="標楷體" panose="03000509000000000000" charset="-120"/>
              </a:rPr>
              <a:t>謝謝大家</a:t>
            </a:r>
            <a:endParaRPr sz="5000" b="1">
              <a:solidFill>
                <a:srgbClr val="113F4E"/>
              </a:solidFill>
              <a:latin typeface="標楷體" panose="03000509000000000000" charset="-120"/>
              <a:ea typeface="標楷體" panose="03000509000000000000" charset="-120"/>
              <a:cs typeface="標楷體" panose="03000509000000000000" charset="-120"/>
              <a:sym typeface="標楷體" panose="03000509000000000000" charset="-120"/>
            </a:endParaRPr>
          </a:p>
        </p:txBody>
      </p:sp>
      <p:pic>
        <p:nvPicPr>
          <p:cNvPr id="1103" name="Google Shape;1103;p96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-2884277">
            <a:off x="745650" y="1052577"/>
            <a:ext cx="548700" cy="166145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13142</Words>
  <Application>WPS Presentation</Application>
  <PresentationFormat>如螢幕大小 (16:9)</PresentationFormat>
  <Paragraphs>1831</Paragraphs>
  <Slides>52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6" baseType="lpstr">
      <vt:lpstr>Arial</vt:lpstr>
      <vt:lpstr>新細明體</vt:lpstr>
      <vt:lpstr>Wingdings</vt:lpstr>
      <vt:lpstr>Arial</vt:lpstr>
      <vt:lpstr>標楷體</vt:lpstr>
      <vt:lpstr>Microsoft YaHei</vt:lpstr>
      <vt:lpstr>微軟正黑體</vt:lpstr>
      <vt:lpstr>Open Sans</vt:lpstr>
      <vt:lpstr>Times New Roman</vt:lpstr>
      <vt:lpstr>Impact</vt:lpstr>
      <vt:lpstr>Courier New</vt:lpstr>
      <vt:lpstr>SimSun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4</cp:revision>
  <dcterms:created xsi:type="dcterms:W3CDTF">2026-06-21T09:31:59Z</dcterms:created>
  <dcterms:modified xsi:type="dcterms:W3CDTF">2026-06-21T09:39:07Z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