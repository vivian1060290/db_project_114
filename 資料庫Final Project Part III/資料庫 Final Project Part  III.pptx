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40" r:id="rId30"/>
    <p:sldId id="284" r:id="rId31"/>
    <p:sldId id="285" r:id="rId32"/>
    <p:sldId id="341" r:id="rId33"/>
    <p:sldId id="286" r:id="rId34"/>
    <p:sldId id="287" r:id="rId35"/>
    <p:sldId id="342" r:id="rId36"/>
    <p:sldId id="288" r:id="rId37"/>
    <p:sldId id="289" r:id="rId38"/>
    <p:sldId id="343" r:id="rId39"/>
    <p:sldId id="290" r:id="rId40"/>
    <p:sldId id="291" r:id="rId41"/>
    <p:sldId id="292" r:id="rId42"/>
    <p:sldId id="293" r:id="rId43"/>
    <p:sldId id="344" r:id="rId44"/>
    <p:sldId id="345" r:id="rId45"/>
    <p:sldId id="346" r:id="rId46"/>
    <p:sldId id="347" r:id="rId47"/>
    <p:sldId id="294" r:id="rId48"/>
    <p:sldId id="295"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Lst>
  <p:sldSz cx="9144000" cy="5143500" type="screen16x9"/>
  <p:notesSz cx="6858000" cy="9144000"/>
  <p:embeddedFontLst>
    <p:embeddedFont>
      <p:font typeface="Microsoft Yahei" panose="020B0503020204020204" pitchFamily="34" charset="-122"/>
      <p:regular r:id="rId86"/>
      <p:bold r:id="rId87"/>
    </p:embeddedFont>
    <p:embeddedFont>
      <p:font typeface="Microsoft JhengHei" panose="020B0604030504040204" pitchFamily="34" charset="-120"/>
      <p:regular r:id="rId88"/>
      <p:bold r:id="rId89"/>
    </p:embeddedFont>
    <p:embeddedFont>
      <p:font typeface="DFKai-SB" panose="03000509000000000000" pitchFamily="65" charset="-120"/>
      <p:regular r:id="rId90"/>
    </p:embeddedFont>
    <p:embeddedFont>
      <p:font typeface="DFKai-SB" panose="03000509000000000000" pitchFamily="65" charset="-120"/>
      <p:regular r:id="rId90"/>
    </p:embeddedFont>
    <p:embeddedFont>
      <p:font typeface="Impact" panose="020B0806030902050204" pitchFamily="34" charset="0"/>
      <p:regular r:id="rId91"/>
    </p:embeddedFont>
    <p:embeddedFont>
      <p:font typeface="Open Sans" panose="020B0606030504020204" pitchFamily="34" charset="0"/>
      <p:regular r:id="rId92"/>
      <p:bold r:id="rId93"/>
      <p:italic r:id="rId94"/>
      <p:boldItalic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306F20-B5FA-46C3-8F7C-962CBD427640}">
  <a:tblStyle styleId="{AC306F20-B5FA-46C3-8F7C-962CBD427640}" styleName="Table_0">
    <a:wholeTbl>
      <a:tcTxStyle>
        <a:font>
          <a:latin typeface="Arial"/>
          <a:ea typeface="Arial"/>
          <a:cs typeface="Arial"/>
        </a:font>
        <a:srgbClr val="000000"/>
      </a:tcTxStyle>
      <a:tcStyle>
        <a:tcBdr>
          <a:left>
            <a:ln cap="flat" cmpd="sng">
              <a:solidFill>
                <a:srgbClr val="808080"/>
              </a:solidFill>
              <a:prstDash val="solid"/>
              <a:round/>
              <a:headEnd type="none" w="sm" len="sm"/>
              <a:tailEnd type="none" w="sm" len="sm"/>
            </a:ln>
          </a:left>
          <a:right>
            <a:ln cap="flat" cmpd="sng">
              <a:solidFill>
                <a:srgbClr val="808080"/>
              </a:solidFill>
              <a:prstDash val="solid"/>
              <a:round/>
              <a:headEnd type="none" w="sm" len="sm"/>
              <a:tailEnd type="none" w="sm" len="sm"/>
            </a:ln>
          </a:right>
          <a:top>
            <a:ln cap="flat" cmpd="sng">
              <a:solidFill>
                <a:srgbClr val="808080"/>
              </a:solidFill>
              <a:prstDash val="solid"/>
              <a:round/>
              <a:headEnd type="none" w="sm" len="sm"/>
              <a:tailEnd type="none" w="sm" len="sm"/>
            </a:ln>
          </a:top>
          <a:bottom>
            <a:ln cap="flat" cmpd="sng">
              <a:solidFill>
                <a:srgbClr val="808080"/>
              </a:solidFill>
              <a:prstDash val="solid"/>
              <a:round/>
              <a:headEnd type="none" w="sm" len="sm"/>
              <a:tailEnd type="none" w="sm" len="sm"/>
            </a:ln>
          </a:bottom>
          <a:insideH>
            <a:ln cap="flat" cmpd="sng">
              <a:solidFill>
                <a:srgbClr val="808080"/>
              </a:solidFill>
              <a:prstDash val="solid"/>
              <a:round/>
              <a:headEnd type="none" w="sm" len="sm"/>
              <a:tailEnd type="none" w="sm" len="sm"/>
            </a:ln>
          </a:insideH>
          <a:insideV>
            <a:ln cap="flat" cmpd="sng">
              <a:solidFill>
                <a:srgbClr val="808080"/>
              </a:solidFill>
              <a:prstDash val="solid"/>
              <a:round/>
              <a:headEnd type="none" w="sm" len="sm"/>
              <a:tailEnd type="none" w="sm" len="sm"/>
            </a:ln>
          </a:insideV>
        </a:tcBdr>
        <a:fill>
          <a:solidFill>
            <a:srgbClr val="FFFFFF"/>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E4DF90B-2F7E-462A-BB2A-4B7291B504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BF2F82F-1B50-44F7-B909-BC6858CF391A}" styleName="Table_2">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1" d="100"/>
          <a:sy n="131" d="100"/>
        </p:scale>
        <p:origin x="104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ea803a8c1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g3ea803a8c1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g3ea803a8c1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ea803a8c1e_6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g3ea803a8c1e_6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g3ea803a8c1e_6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ea803a8c1e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g3ea803a8c1e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ea803a8c1e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ea803a8c1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g3ea803a8c1e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3ea803a8c1e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ea803a8c1e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g3ea803a8c1e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g3ea803a8c1e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a803a8c1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ea803a8c1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3ea803a8c1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ea803a8c1e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ea803a8c1e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g3ea803a8c1e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a803a8c1e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ea803a8c1e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g3ea803a8c1e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ea803a8c1e_0_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g3ea803a8c1e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g3ea803a8c1e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ea803a8c1e_0_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ea803a8c1e_0_2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3ea803a8c1e_0_2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ea803a8c1e_0_2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ea803a8c1e_0_24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g3ea803a8c1e_0_2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ea803a8c1e_0_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g3ea803a8c1e_0_2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g3ea803a8c1e_0_2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ea803a8c1e_0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ea803a8c1e_0_26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2" name="Google Shape;342;g3ea803a8c1e_0_2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ea803a8c1e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3ea803a8c1e_0_27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g3ea803a8c1e_0_2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ea803a8c1e_0_2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ea803a8c1e_0_28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g3ea803a8c1e_0_2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ea803a8c1e_0_2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ea803a8c1e_0_29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3ea803a8c1e_0_2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ea803a8c1e_0_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ea803a8c1e_0_30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g3ea803a8c1e_0_3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ea803a8c1e_0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ea803a8c1e_0_31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g3ea803a8c1e_0_3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ea803a8c1e_0_3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ea803a8c1e_0_3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g3ea803a8c1e_0_3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ea803a8c1e_0_3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ea803a8c1e_0_33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g3ea803a8c1e_0_3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ea803a8c1e_0_3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3ea803a8c1e_0_34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g3ea803a8c1e_0_3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ea803a8c1e_0_3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ea803a8c1e_0_35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g3ea803a8c1e_0_3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ea803a8c1e_0_3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ea803a8c1e_0_36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g3ea803a8c1e_0_3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ea803a8c1e_0_3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ea803a8c1e_0_37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g3ea803a8c1e_0_3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ltLang="zh-TW"/>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ea803a8c1e_0_3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ea803a8c1e_0_37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9" name="Google Shape;469;g3ea803a8c1e_0_3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ltLang="zh-TW"/>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ea803a8c1e_0_3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g3ea803a8c1e_0_3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g3ea803a8c1e_0_3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ea803a8c1e_0_3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ea803a8c1e_0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ea803a8c1e_0_4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g3ea803a8c1e_0_4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g3ea803a8c1e_0_4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a:extLst>
            <a:ext uri="{FF2B5EF4-FFF2-40B4-BE49-F238E27FC236}">
              <a16:creationId xmlns:a16="http://schemas.microsoft.com/office/drawing/2014/main" id="{455D67F0-6816-AE7D-30B6-39C3298BC0D4}"/>
            </a:ext>
          </a:extLst>
        </p:cNvPr>
        <p:cNvGrpSpPr/>
        <p:nvPr/>
      </p:nvGrpSpPr>
      <p:grpSpPr>
        <a:xfrm>
          <a:off x="0" y="0"/>
          <a:ext cx="0" cy="0"/>
          <a:chOff x="0" y="0"/>
          <a:chExt cx="0" cy="0"/>
        </a:xfrm>
      </p:grpSpPr>
      <p:sp>
        <p:nvSpPr>
          <p:cNvPr id="645" name="Google Shape;645;g3ea803a8c1e_0_529:notes">
            <a:extLst>
              <a:ext uri="{FF2B5EF4-FFF2-40B4-BE49-F238E27FC236}">
                <a16:creationId xmlns:a16="http://schemas.microsoft.com/office/drawing/2014/main" id="{36C33987-2B78-8FF6-62B2-6065712ECB45}"/>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3ea803a8c1e_0_529:notes">
            <a:extLst>
              <a:ext uri="{FF2B5EF4-FFF2-40B4-BE49-F238E27FC236}">
                <a16:creationId xmlns:a16="http://schemas.microsoft.com/office/drawing/2014/main" id="{DCAA81D9-C3FF-9552-016C-75E81615A0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47993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ea803a8c1e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ea803a8c1e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ea803a8c1e_0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ea803a8c1e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B42EA506-516D-B661-0A5E-B02598EA6C67}"/>
            </a:ext>
          </a:extLst>
        </p:cNvPr>
        <p:cNvGrpSpPr/>
        <p:nvPr/>
      </p:nvGrpSpPr>
      <p:grpSpPr>
        <a:xfrm>
          <a:off x="0" y="0"/>
          <a:ext cx="0" cy="0"/>
          <a:chOff x="0" y="0"/>
          <a:chExt cx="0" cy="0"/>
        </a:xfrm>
      </p:grpSpPr>
      <p:sp>
        <p:nvSpPr>
          <p:cNvPr id="657" name="Google Shape;657;g3ea803a8c1e_0_540:notes">
            <a:extLst>
              <a:ext uri="{FF2B5EF4-FFF2-40B4-BE49-F238E27FC236}">
                <a16:creationId xmlns:a16="http://schemas.microsoft.com/office/drawing/2014/main" id="{8739598F-FFE6-0AEE-0237-0686BA1CB3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3ea803a8c1e_0_540:notes">
            <a:extLst>
              <a:ext uri="{FF2B5EF4-FFF2-40B4-BE49-F238E27FC236}">
                <a16:creationId xmlns:a16="http://schemas.microsoft.com/office/drawing/2014/main" id="{37543C3F-8FB1-4DCC-30D2-721973372F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70636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ea803a8c1e_0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ea803a8c1e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ea803a8c1e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ea803a8c1e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a:extLst>
            <a:ext uri="{FF2B5EF4-FFF2-40B4-BE49-F238E27FC236}">
              <a16:creationId xmlns:a16="http://schemas.microsoft.com/office/drawing/2014/main" id="{BE326DA3-5482-A131-0ADE-61FC37796971}"/>
            </a:ext>
          </a:extLst>
        </p:cNvPr>
        <p:cNvGrpSpPr/>
        <p:nvPr/>
      </p:nvGrpSpPr>
      <p:grpSpPr>
        <a:xfrm>
          <a:off x="0" y="0"/>
          <a:ext cx="0" cy="0"/>
          <a:chOff x="0" y="0"/>
          <a:chExt cx="0" cy="0"/>
        </a:xfrm>
      </p:grpSpPr>
      <p:sp>
        <p:nvSpPr>
          <p:cNvPr id="668" name="Google Shape;668;g3ea803a8c1e_0_550:notes">
            <a:extLst>
              <a:ext uri="{FF2B5EF4-FFF2-40B4-BE49-F238E27FC236}">
                <a16:creationId xmlns:a16="http://schemas.microsoft.com/office/drawing/2014/main" id="{AFF04A71-554B-93EE-70DC-67F6B10646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3ea803a8c1e_0_550:notes">
            <a:extLst>
              <a:ext uri="{FF2B5EF4-FFF2-40B4-BE49-F238E27FC236}">
                <a16:creationId xmlns:a16="http://schemas.microsoft.com/office/drawing/2014/main" id="{AD342A33-632F-BD7B-E4FA-B97B62B096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6463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ea803a8c1e_0_4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ea803a8c1e_0_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ea803a8c1e_0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3ea803a8c1e_0_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a:extLst>
            <a:ext uri="{FF2B5EF4-FFF2-40B4-BE49-F238E27FC236}">
              <a16:creationId xmlns:a16="http://schemas.microsoft.com/office/drawing/2014/main" id="{B56A6757-37F7-9D1A-E010-17E8D205C9B4}"/>
            </a:ext>
          </a:extLst>
        </p:cNvPr>
        <p:cNvGrpSpPr/>
        <p:nvPr/>
      </p:nvGrpSpPr>
      <p:grpSpPr>
        <a:xfrm>
          <a:off x="0" y="0"/>
          <a:ext cx="0" cy="0"/>
          <a:chOff x="0" y="0"/>
          <a:chExt cx="0" cy="0"/>
        </a:xfrm>
      </p:grpSpPr>
      <p:sp>
        <p:nvSpPr>
          <p:cNvPr id="679" name="Google Shape;679;g3ea803a8c1e_0_560:notes">
            <a:extLst>
              <a:ext uri="{FF2B5EF4-FFF2-40B4-BE49-F238E27FC236}">
                <a16:creationId xmlns:a16="http://schemas.microsoft.com/office/drawing/2014/main" id="{CFC1A507-B108-3145-4B74-29AF10132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3ea803a8c1e_0_560:notes">
            <a:extLst>
              <a:ext uri="{FF2B5EF4-FFF2-40B4-BE49-F238E27FC236}">
                <a16:creationId xmlns:a16="http://schemas.microsoft.com/office/drawing/2014/main" id="{8C71AEC8-E36C-F482-F5CC-9D2906FD1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3104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ea803a8c1e_0_4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3ea803a8c1e_0_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ea803a8c1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3ea803a8c1e_0_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ee059abe0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3ee059abe0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ea803a8c1e_0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ea803a8c1e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a:extLst>
            <a:ext uri="{FF2B5EF4-FFF2-40B4-BE49-F238E27FC236}">
              <a16:creationId xmlns:a16="http://schemas.microsoft.com/office/drawing/2014/main" id="{18FD0B2F-552F-F2BA-AB6F-E33F2945E915}"/>
            </a:ext>
          </a:extLst>
        </p:cNvPr>
        <p:cNvGrpSpPr/>
        <p:nvPr/>
      </p:nvGrpSpPr>
      <p:grpSpPr>
        <a:xfrm>
          <a:off x="0" y="0"/>
          <a:ext cx="0" cy="0"/>
          <a:chOff x="0" y="0"/>
          <a:chExt cx="0" cy="0"/>
        </a:xfrm>
      </p:grpSpPr>
      <p:sp>
        <p:nvSpPr>
          <p:cNvPr id="690" name="Google Shape;690;g3ea803a8c1e_0_570:notes">
            <a:extLst>
              <a:ext uri="{FF2B5EF4-FFF2-40B4-BE49-F238E27FC236}">
                <a16:creationId xmlns:a16="http://schemas.microsoft.com/office/drawing/2014/main" id="{7BEFF400-C542-87C3-D53C-5708B375ED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3ea803a8c1e_0_570:notes">
            <a:extLst>
              <a:ext uri="{FF2B5EF4-FFF2-40B4-BE49-F238E27FC236}">
                <a16:creationId xmlns:a16="http://schemas.microsoft.com/office/drawing/2014/main" id="{6CDF6CBE-F358-DEA0-A744-C7B28B72C5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55454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80002B0E-C274-E7EB-6703-D6A9C651FA02}"/>
            </a:ext>
          </a:extLst>
        </p:cNvPr>
        <p:cNvGrpSpPr/>
        <p:nvPr/>
      </p:nvGrpSpPr>
      <p:grpSpPr>
        <a:xfrm>
          <a:off x="0" y="0"/>
          <a:ext cx="0" cy="0"/>
          <a:chOff x="0" y="0"/>
          <a:chExt cx="0" cy="0"/>
        </a:xfrm>
      </p:grpSpPr>
      <p:sp>
        <p:nvSpPr>
          <p:cNvPr id="700" name="Google Shape;700;g3ee059abe0b_0_14:notes">
            <a:extLst>
              <a:ext uri="{FF2B5EF4-FFF2-40B4-BE49-F238E27FC236}">
                <a16:creationId xmlns:a16="http://schemas.microsoft.com/office/drawing/2014/main" id="{97A16BAF-4CB3-FE16-6521-E51D84663F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3ee059abe0b_0_14:notes">
            <a:extLst>
              <a:ext uri="{FF2B5EF4-FFF2-40B4-BE49-F238E27FC236}">
                <a16:creationId xmlns:a16="http://schemas.microsoft.com/office/drawing/2014/main" id="{4E458D4C-2046-F69E-53AA-95B14C3F95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4170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a:extLst>
            <a:ext uri="{FF2B5EF4-FFF2-40B4-BE49-F238E27FC236}">
              <a16:creationId xmlns:a16="http://schemas.microsoft.com/office/drawing/2014/main" id="{09E3F389-5E82-703F-6EC2-310BE339B752}"/>
            </a:ext>
          </a:extLst>
        </p:cNvPr>
        <p:cNvGrpSpPr/>
        <p:nvPr/>
      </p:nvGrpSpPr>
      <p:grpSpPr>
        <a:xfrm>
          <a:off x="0" y="0"/>
          <a:ext cx="0" cy="0"/>
          <a:chOff x="0" y="0"/>
          <a:chExt cx="0" cy="0"/>
        </a:xfrm>
      </p:grpSpPr>
      <p:sp>
        <p:nvSpPr>
          <p:cNvPr id="710" name="Google Shape;710;g3eda7c87dc9_1_38:notes">
            <a:extLst>
              <a:ext uri="{FF2B5EF4-FFF2-40B4-BE49-F238E27FC236}">
                <a16:creationId xmlns:a16="http://schemas.microsoft.com/office/drawing/2014/main" id="{6D04FFF5-DEB4-7D6F-7FD3-9F35B0C71A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3eda7c87dc9_1_38:notes">
            <a:extLst>
              <a:ext uri="{FF2B5EF4-FFF2-40B4-BE49-F238E27FC236}">
                <a16:creationId xmlns:a16="http://schemas.microsoft.com/office/drawing/2014/main" id="{78B4E26A-439E-CCA1-0CB2-C8FFCA951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15939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a:extLst>
            <a:ext uri="{FF2B5EF4-FFF2-40B4-BE49-F238E27FC236}">
              <a16:creationId xmlns:a16="http://schemas.microsoft.com/office/drawing/2014/main" id="{B2019E1C-0383-992C-9C1A-E68A6F228639}"/>
            </a:ext>
          </a:extLst>
        </p:cNvPr>
        <p:cNvGrpSpPr/>
        <p:nvPr/>
      </p:nvGrpSpPr>
      <p:grpSpPr>
        <a:xfrm>
          <a:off x="0" y="0"/>
          <a:ext cx="0" cy="0"/>
          <a:chOff x="0" y="0"/>
          <a:chExt cx="0" cy="0"/>
        </a:xfrm>
      </p:grpSpPr>
      <p:sp>
        <p:nvSpPr>
          <p:cNvPr id="720" name="Google Shape;720;g3ee059abe0b_0_23:notes">
            <a:extLst>
              <a:ext uri="{FF2B5EF4-FFF2-40B4-BE49-F238E27FC236}">
                <a16:creationId xmlns:a16="http://schemas.microsoft.com/office/drawing/2014/main" id="{099DC2AA-54C2-9CC2-3961-EBD2DE4D69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3ee059abe0b_0_23:notes">
            <a:extLst>
              <a:ext uri="{FF2B5EF4-FFF2-40B4-BE49-F238E27FC236}">
                <a16:creationId xmlns:a16="http://schemas.microsoft.com/office/drawing/2014/main" id="{5F61F85D-6635-7DE4-A664-95034933C7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0801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ea803a8c1e_0_5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ea803a8c1e_0_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ea803a8c1e_0_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3ea803a8c1e_0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ea803a8c1e_0_5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ea803a8c1e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00538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ea803a8c1e_5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3ea803a8c1e_5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3" name="Google Shape;743;g3ea803a8c1e_5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3eda7c87dc9_1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3eda7c87dc9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3eda7c87dc9_1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3eda7c87dc9_1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eda7c87dc9_1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3eda7c87dc9_1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3eda7c87dc9_1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3eda7c87dc9_1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eda7c87dc9_1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3eda7c87dc9_1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3ea803a8c1e_6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3ea803a8c1e_6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4" name="Google Shape;814;g3ea803a8c1e_6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3eda7c87dc9_1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3eda7c87dc9_1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eda7c87dc9_1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3eda7c87dc9_1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eda7c87dc9_1_2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5" name="Google Shape;845;g3eda7c87dc9_1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eda7c87dc9_1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3eda7c87dc9_1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3ea803a8c1e_5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3ea803a8c1e_5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6" name="Google Shape;866;g3ea803a8c1e_5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3ea803a8c1e_2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3ea803a8c1e_2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3f176544e57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3f176544e57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3f176544e57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3f176544e5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3eda7c87dc9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8" name="Google Shape;908;g3eda7c87dc9_1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3eda7c87dc9_1_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9" name="Google Shape;919;g3eda7c87dc9_1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3eda7c87dc9_1_3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eda7c87dc9_1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3eda7c87dc9_1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3eda7c87dc9_1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3eda7c87dc9_1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3eda7c87dc9_1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3eda7c87dc9_1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3eda7c87dc9_1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3f176544e57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3f176544e57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3eda7c87dc9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3eda7c87dc9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3eda7c87dc9_1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3eda7c87dc9_1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3eda7c87dc9_1_4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6" name="Google Shape;1006;g3eda7c87dc9_1_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3eda7c87dc9_1_4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3eda7c87dc9_1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3ea803a8c1e_0_6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2" name="Google Shape;1032;g3ea803a8c1e_0_6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3ea803a8c1e_6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2" name="Google Shape;1042;g3ea803a8c1e_6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3ea803a8c1e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3ea803a8c1e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3ea803a8c1e_7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0" name="Google Shape;1060;g3ea803a8c1e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3ea803a8c1e_2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3ea803a8c1e_2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3ea803a8c1e_0_5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8" name="Google Shape;1078;g3ea803a8c1e_0_59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9" name="Google Shape;1079;g3ea803a8c1e_0_5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3ea803a8c1e_0_5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8" name="Google Shape;1088;g3ea803a8c1e_0_59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9" name="Google Shape;1089;g3ea803a8c1e_0_5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ltLang="zh-TW"/>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3ea803a8c1e_0_6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8" name="Google Shape;1098;g3ea803a8c1e_0_6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g3ea803a8c1e_0_6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83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5.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5.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0.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7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1.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2.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4.xml"/><Relationship Id="rId1" Type="http://schemas.openxmlformats.org/officeDocument/2006/relationships/slideLayout" Target="../slideLayouts/slideLayout11.xml"/><Relationship Id="rId4" Type="http://schemas.openxmlformats.org/officeDocument/2006/relationships/image" Target="../media/image39.png"/></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5.xml"/><Relationship Id="rId1" Type="http://schemas.openxmlformats.org/officeDocument/2006/relationships/slideLayout" Target="../slideLayouts/slideLayout11.xml"/><Relationship Id="rId4" Type="http://schemas.openxmlformats.org/officeDocument/2006/relationships/image" Target="../media/image41.png"/></Relationships>
</file>

<file path=ppt/slides/_rels/slide76.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76.xml"/><Relationship Id="rId1" Type="http://schemas.openxmlformats.org/officeDocument/2006/relationships/slideLayout" Target="../slideLayouts/slideLayout11.xml"/><Relationship Id="rId4" Type="http://schemas.openxmlformats.org/officeDocument/2006/relationships/hyperlink" Target="https://www.youtube.com/watch?v=nglybqouEbM"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3" Type="http://schemas.openxmlformats.org/officeDocument/2006/relationships/hyperlink" Target="https://csieoffice1.nfu.edu.tw/" TargetMode="External"/><Relationship Id="rId2" Type="http://schemas.openxmlformats.org/officeDocument/2006/relationships/notesSlide" Target="../notesSlides/notesSlide81.xml"/><Relationship Id="rId1" Type="http://schemas.openxmlformats.org/officeDocument/2006/relationships/slideLayout" Target="../slideLayouts/slideLayout11.xml"/><Relationship Id="rId6" Type="http://schemas.openxmlformats.org/officeDocument/2006/relationships/hyperlink" Target="https://share.google/Jgz627iK0832tkNwJ" TargetMode="External"/><Relationship Id="rId5" Type="http://schemas.openxmlformats.org/officeDocument/2006/relationships/hyperlink" Target="https://share.google/7nEjYTNkDw13sQput" TargetMode="External"/><Relationship Id="rId4" Type="http://schemas.openxmlformats.org/officeDocument/2006/relationships/hyperlink" Target="https://share.google/43ZdNW1RVkHCTsGi8"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github.com/vivian1060290/DB_project_114" TargetMode="External"/><Relationship Id="rId2" Type="http://schemas.openxmlformats.org/officeDocument/2006/relationships/notesSlide" Target="../notesSlides/notesSlide82.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3.xml"/><Relationship Id="rId1" Type="http://schemas.openxmlformats.org/officeDocument/2006/relationships/slideLayout" Target="../slideLayouts/slideLayout11.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sp>
        <p:nvSpPr>
          <p:cNvPr id="55" name="Google Shape;55;p13"/>
          <p:cNvSpPr txBox="1"/>
          <p:nvPr/>
        </p:nvSpPr>
        <p:spPr>
          <a:xfrm>
            <a:off x="2757206" y="892575"/>
            <a:ext cx="6081900" cy="962100"/>
          </a:xfrm>
          <a:prstGeom prst="rect">
            <a:avLst/>
          </a:prstGeom>
          <a:noFill/>
          <a:ln>
            <a:noFill/>
          </a:ln>
        </p:spPr>
        <p:txBody>
          <a:bodyPr spcFirstLastPara="1" wrap="square" lIns="68575" tIns="34275" rIns="68575" bIns="34275" anchor="t" anchorCtr="0">
            <a:spAutoFit/>
          </a:bodyPr>
          <a:lstStyle/>
          <a:p>
            <a:pPr marL="0" lvl="0" indent="0" algn="ctr" rtl="0">
              <a:lnSpc>
                <a:spcPct val="115000"/>
              </a:lnSpc>
              <a:spcBef>
                <a:spcPts val="1500"/>
              </a:spcBef>
              <a:spcAft>
                <a:spcPts val="500"/>
              </a:spcAft>
              <a:buSzPts val="800"/>
              <a:buNone/>
            </a:pPr>
            <a:r>
              <a:rPr lang="zh-TW" sz="5800" b="1">
                <a:solidFill>
                  <a:schemeClr val="dk1"/>
                </a:solidFill>
                <a:latin typeface="DFKai-SB"/>
                <a:ea typeface="DFKai-SB"/>
                <a:cs typeface="DFKai-SB"/>
                <a:sym typeface="DFKai-SB"/>
              </a:rPr>
              <a:t>教室借用管理系統</a:t>
            </a:r>
            <a:endParaRPr sz="7100" b="1">
              <a:solidFill>
                <a:schemeClr val="dk1"/>
              </a:solidFill>
              <a:latin typeface="Microsoft Yahei"/>
              <a:ea typeface="Microsoft Yahei"/>
              <a:cs typeface="Microsoft Yahei"/>
              <a:sym typeface="Microsoft Yahei"/>
            </a:endParaRPr>
          </a:p>
        </p:txBody>
      </p:sp>
      <p:sp>
        <p:nvSpPr>
          <p:cNvPr id="56" name="Google Shape;56;p13"/>
          <p:cNvSpPr txBox="1"/>
          <p:nvPr/>
        </p:nvSpPr>
        <p:spPr>
          <a:xfrm>
            <a:off x="3878550" y="2425500"/>
            <a:ext cx="5192100" cy="2017200"/>
          </a:xfrm>
          <a:prstGeom prst="rect">
            <a:avLst/>
          </a:prstGeom>
          <a:noFill/>
          <a:ln>
            <a:noFill/>
          </a:ln>
        </p:spPr>
        <p:txBody>
          <a:bodyPr spcFirstLastPara="1" wrap="square" lIns="68575" tIns="68575" rIns="68575" bIns="68575" anchor="t" anchorCtr="0">
            <a:spAutoFit/>
          </a:bodyPr>
          <a:lstStyle/>
          <a:p>
            <a:pPr marL="0" lvl="0" indent="0" algn="l" rtl="0">
              <a:lnSpc>
                <a:spcPct val="115000"/>
              </a:lnSpc>
              <a:spcBef>
                <a:spcPts val="1500"/>
              </a:spcBef>
              <a:spcAft>
                <a:spcPts val="0"/>
              </a:spcAft>
              <a:buNone/>
            </a:pPr>
            <a:r>
              <a:rPr lang="zh-TW" sz="1900" b="1">
                <a:solidFill>
                  <a:schemeClr val="dk1"/>
                </a:solidFill>
                <a:latin typeface="DFKai-SB"/>
                <a:ea typeface="DFKai-SB"/>
                <a:cs typeface="DFKai-SB"/>
                <a:sym typeface="DFKai-SB"/>
              </a:rPr>
              <a:t>班級:四資工三甲</a:t>
            </a:r>
            <a:endParaRPr sz="1900" b="1">
              <a:solidFill>
                <a:schemeClr val="dk1"/>
              </a:solidFill>
              <a:latin typeface="DFKai-SB"/>
              <a:ea typeface="DFKai-SB"/>
              <a:cs typeface="DFKai-SB"/>
              <a:sym typeface="DFKai-SB"/>
            </a:endParaRPr>
          </a:p>
          <a:p>
            <a:pPr marL="0" lvl="0" indent="0" algn="l" rtl="0">
              <a:lnSpc>
                <a:spcPct val="115000"/>
              </a:lnSpc>
              <a:spcBef>
                <a:spcPts val="1500"/>
              </a:spcBef>
              <a:spcAft>
                <a:spcPts val="0"/>
              </a:spcAft>
              <a:buNone/>
            </a:pPr>
            <a:r>
              <a:rPr lang="zh-TW" sz="1900" b="1">
                <a:solidFill>
                  <a:schemeClr val="dk1"/>
                </a:solidFill>
                <a:latin typeface="DFKai-SB"/>
                <a:ea typeface="DFKai-SB"/>
                <a:cs typeface="DFKai-SB"/>
                <a:sym typeface="DFKai-SB"/>
              </a:rPr>
              <a:t>組別:第三組</a:t>
            </a:r>
            <a:endParaRPr sz="1900" b="1">
              <a:solidFill>
                <a:schemeClr val="dk1"/>
              </a:solidFill>
              <a:latin typeface="DFKai-SB"/>
              <a:ea typeface="DFKai-SB"/>
              <a:cs typeface="DFKai-SB"/>
              <a:sym typeface="DFKai-SB"/>
            </a:endParaRPr>
          </a:p>
          <a:p>
            <a:pPr marL="0" lvl="0" indent="0" algn="l" rtl="0">
              <a:lnSpc>
                <a:spcPct val="115000"/>
              </a:lnSpc>
              <a:spcBef>
                <a:spcPts val="1500"/>
              </a:spcBef>
              <a:spcAft>
                <a:spcPts val="0"/>
              </a:spcAft>
              <a:buNone/>
            </a:pPr>
            <a:r>
              <a:rPr lang="zh-TW" sz="1900" b="1">
                <a:solidFill>
                  <a:schemeClr val="dk1"/>
                </a:solidFill>
                <a:latin typeface="DFKai-SB"/>
                <a:ea typeface="DFKai-SB"/>
                <a:cs typeface="DFKai-SB"/>
                <a:sym typeface="DFKai-SB"/>
              </a:rPr>
              <a:t>組員: 41243101 伍翊瑄  41243103 林采儀</a:t>
            </a:r>
            <a:endParaRPr sz="1900" b="1">
              <a:solidFill>
                <a:schemeClr val="dk1"/>
              </a:solidFill>
              <a:latin typeface="DFKai-SB"/>
              <a:ea typeface="DFKai-SB"/>
              <a:cs typeface="DFKai-SB"/>
              <a:sym typeface="DFKai-SB"/>
            </a:endParaRPr>
          </a:p>
          <a:p>
            <a:pPr marL="342900" lvl="0" indent="342900" algn="l" rtl="0">
              <a:lnSpc>
                <a:spcPct val="115000"/>
              </a:lnSpc>
              <a:spcBef>
                <a:spcPts val="1500"/>
              </a:spcBef>
              <a:spcAft>
                <a:spcPts val="500"/>
              </a:spcAft>
              <a:buNone/>
            </a:pPr>
            <a:r>
              <a:rPr lang="zh-TW" sz="1900" b="1">
                <a:solidFill>
                  <a:schemeClr val="dk1"/>
                </a:solidFill>
                <a:latin typeface="DFKai-SB"/>
                <a:ea typeface="DFKai-SB"/>
                <a:cs typeface="DFKai-SB"/>
                <a:sym typeface="DFKai-SB"/>
              </a:rPr>
              <a:t>41243104 范芷紜	41243107 潘怡潔</a:t>
            </a:r>
            <a:endParaRPr sz="2500" b="1">
              <a:solidFill>
                <a:schemeClr val="dk1"/>
              </a:solidFill>
              <a:latin typeface="Microsoft JhengHei"/>
              <a:ea typeface="Microsoft JhengHei"/>
              <a:cs typeface="Microsoft JhengHei"/>
              <a:sym typeface="Microsoft JhengHei"/>
            </a:endParaRPr>
          </a:p>
        </p:txBody>
      </p:sp>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p:nvPr/>
        </p:nvSpPr>
        <p:spPr>
          <a:xfrm>
            <a:off x="511173" y="502278"/>
            <a:ext cx="1523400" cy="762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500" b="1">
                <a:solidFill>
                  <a:srgbClr val="113F4E"/>
                </a:solidFill>
                <a:latin typeface="DFKai-SB"/>
                <a:ea typeface="DFKai-SB"/>
                <a:cs typeface="DFKai-SB"/>
                <a:sym typeface="DFKai-SB"/>
              </a:rPr>
              <a:t>目錄</a:t>
            </a:r>
            <a:endParaRPr sz="4500">
              <a:latin typeface="DFKai-SB"/>
              <a:ea typeface="DFKai-SB"/>
              <a:cs typeface="DFKai-SB"/>
              <a:sym typeface="DFKai-SB"/>
            </a:endParaRPr>
          </a:p>
        </p:txBody>
      </p:sp>
      <p:cxnSp>
        <p:nvCxnSpPr>
          <p:cNvPr id="64" name="Google Shape;64;p14"/>
          <p:cNvCxnSpPr/>
          <p:nvPr/>
        </p:nvCxnSpPr>
        <p:spPr>
          <a:xfrm rot="10800000" flipH="1">
            <a:off x="511174" y="1281505"/>
            <a:ext cx="1359300" cy="19200"/>
          </a:xfrm>
          <a:prstGeom prst="straightConnector1">
            <a:avLst/>
          </a:prstGeom>
          <a:noFill/>
          <a:ln w="21425" cap="rnd" cmpd="sng">
            <a:solidFill>
              <a:srgbClr val="55C0AF"/>
            </a:solidFill>
            <a:prstDash val="solid"/>
            <a:round/>
            <a:headEnd type="none" w="sm" len="sm"/>
            <a:tailEnd type="none" w="sm" len="sm"/>
          </a:ln>
        </p:spPr>
      </p:cxnSp>
      <p:sp>
        <p:nvSpPr>
          <p:cNvPr id="66" name="Google Shape;66;p14"/>
          <p:cNvSpPr txBox="1"/>
          <p:nvPr/>
        </p:nvSpPr>
        <p:spPr>
          <a:xfrm>
            <a:off x="1053178" y="1824626"/>
            <a:ext cx="3433963" cy="520854"/>
          </a:xfrm>
          <a:prstGeom prst="rect">
            <a:avLst/>
          </a:prstGeom>
          <a:noFill/>
          <a:ln>
            <a:noFill/>
          </a:ln>
        </p:spPr>
        <p:txBody>
          <a:bodyPr spcFirstLastPara="1" wrap="square" lIns="104075" tIns="52025" rIns="104075" bIns="52025" anchor="t" anchorCtr="1">
            <a:spAutoFit/>
          </a:bodyPr>
          <a:lstStyle/>
          <a:p>
            <a:pPr marL="0" lvl="0" indent="0" algn="ctr" rtl="0">
              <a:spcBef>
                <a:spcPts val="0"/>
              </a:spcBef>
              <a:spcAft>
                <a:spcPts val="0"/>
              </a:spcAft>
              <a:buNone/>
            </a:pPr>
            <a:r>
              <a:rPr lang="zh-TW" sz="2700" dirty="0">
                <a:solidFill>
                  <a:schemeClr val="dk1"/>
                </a:solidFill>
                <a:latin typeface="DFKai-SB"/>
                <a:ea typeface="DFKai-SB"/>
                <a:cs typeface="DFKai-SB"/>
                <a:sym typeface="DFKai-SB"/>
              </a:rPr>
              <a:t>應用情境與使用案例</a:t>
            </a:r>
            <a:endParaRPr sz="2700" b="1" dirty="0">
              <a:solidFill>
                <a:schemeClr val="dk1"/>
              </a:solidFill>
              <a:latin typeface="Microsoft Yahei"/>
              <a:ea typeface="Microsoft Yahei"/>
              <a:cs typeface="Microsoft Yahei"/>
              <a:sym typeface="Microsoft Yahei"/>
            </a:endParaRPr>
          </a:p>
        </p:txBody>
      </p:sp>
      <p:sp>
        <p:nvSpPr>
          <p:cNvPr id="67" name="Google Shape;67;p14"/>
          <p:cNvSpPr/>
          <p:nvPr/>
        </p:nvSpPr>
        <p:spPr>
          <a:xfrm>
            <a:off x="511183" y="1690853"/>
            <a:ext cx="400374" cy="507952"/>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68" name="Google Shape;68;p14"/>
          <p:cNvSpPr/>
          <p:nvPr/>
        </p:nvSpPr>
        <p:spPr>
          <a:xfrm>
            <a:off x="707457" y="1907855"/>
            <a:ext cx="339355" cy="43053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1</a:t>
            </a:r>
            <a:endParaRPr sz="2000">
              <a:solidFill>
                <a:schemeClr val="lt1"/>
              </a:solidFill>
              <a:latin typeface="Microsoft Yahei"/>
              <a:ea typeface="Microsoft Yahei"/>
              <a:cs typeface="Microsoft Yahei"/>
              <a:sym typeface="Microsoft Yahei"/>
            </a:endParaRPr>
          </a:p>
        </p:txBody>
      </p:sp>
      <p:sp>
        <p:nvSpPr>
          <p:cNvPr id="70" name="Google Shape;70;p14"/>
          <p:cNvSpPr txBox="1"/>
          <p:nvPr/>
        </p:nvSpPr>
        <p:spPr>
          <a:xfrm>
            <a:off x="1053178" y="3555857"/>
            <a:ext cx="3433962" cy="520818"/>
          </a:xfrm>
          <a:prstGeom prst="rect">
            <a:avLst/>
          </a:prstGeom>
          <a:noFill/>
          <a:ln>
            <a:noFill/>
          </a:ln>
        </p:spPr>
        <p:txBody>
          <a:bodyPr spcFirstLastPara="1" wrap="square" lIns="104075" tIns="52025" rIns="104075" bIns="52025" anchor="t" anchorCtr="1">
            <a:spAutoFit/>
          </a:bodyPr>
          <a:lstStyle/>
          <a:p>
            <a:pPr marL="0" lvl="0" indent="0" algn="ctr" rtl="0">
              <a:spcBef>
                <a:spcPts val="0"/>
              </a:spcBef>
              <a:spcAft>
                <a:spcPts val="0"/>
              </a:spcAft>
              <a:buClr>
                <a:schemeClr val="dk1"/>
              </a:buClr>
              <a:buFont typeface="Arial"/>
              <a:buNone/>
            </a:pPr>
            <a:r>
              <a:rPr lang="zh-TW" sz="2700" dirty="0">
                <a:solidFill>
                  <a:schemeClr val="dk1"/>
                </a:solidFill>
                <a:latin typeface="DFKai-SB"/>
                <a:ea typeface="DFKai-SB"/>
                <a:cs typeface="DFKai-SB"/>
                <a:sym typeface="DFKai-SB"/>
              </a:rPr>
              <a:t>ER Diagram</a:t>
            </a:r>
            <a:endParaRPr sz="2700" b="1" dirty="0">
              <a:solidFill>
                <a:schemeClr val="dk1"/>
              </a:solidFill>
              <a:latin typeface="Microsoft Yahei"/>
              <a:ea typeface="Microsoft Yahei"/>
              <a:cs typeface="Microsoft Yahei"/>
              <a:sym typeface="Microsoft Yahei"/>
            </a:endParaRPr>
          </a:p>
        </p:txBody>
      </p:sp>
      <p:sp>
        <p:nvSpPr>
          <p:cNvPr id="71" name="Google Shape;71;p14"/>
          <p:cNvSpPr/>
          <p:nvPr/>
        </p:nvSpPr>
        <p:spPr>
          <a:xfrm>
            <a:off x="511174" y="3439860"/>
            <a:ext cx="400374" cy="510914"/>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72" name="Google Shape;72;p14"/>
          <p:cNvSpPr/>
          <p:nvPr/>
        </p:nvSpPr>
        <p:spPr>
          <a:xfrm>
            <a:off x="707448" y="3658128"/>
            <a:ext cx="339355" cy="43304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3</a:t>
            </a:r>
            <a:endParaRPr sz="2000">
              <a:solidFill>
                <a:schemeClr val="lt1"/>
              </a:solidFill>
              <a:latin typeface="Microsoft Yahei"/>
              <a:ea typeface="Microsoft Yahei"/>
              <a:cs typeface="Microsoft Yahei"/>
              <a:sym typeface="Microsoft Yahei"/>
            </a:endParaRPr>
          </a:p>
        </p:txBody>
      </p:sp>
      <p:sp>
        <p:nvSpPr>
          <p:cNvPr id="74" name="Google Shape;74;p14"/>
          <p:cNvSpPr txBox="1"/>
          <p:nvPr/>
        </p:nvSpPr>
        <p:spPr>
          <a:xfrm>
            <a:off x="1053177" y="4421435"/>
            <a:ext cx="3433961" cy="520818"/>
          </a:xfrm>
          <a:prstGeom prst="rect">
            <a:avLst/>
          </a:prstGeom>
          <a:noFill/>
          <a:ln>
            <a:noFill/>
          </a:ln>
        </p:spPr>
        <p:txBody>
          <a:bodyPr spcFirstLastPara="1" wrap="square" lIns="104075" tIns="52025" rIns="104075" bIns="52025" anchor="t" anchorCtr="1">
            <a:spAutoFit/>
          </a:bodyPr>
          <a:lstStyle/>
          <a:p>
            <a:pPr marL="0" lvl="0" indent="0" algn="ctr" rtl="0">
              <a:spcBef>
                <a:spcPts val="0"/>
              </a:spcBef>
              <a:spcAft>
                <a:spcPts val="0"/>
              </a:spcAft>
              <a:buNone/>
            </a:pPr>
            <a:r>
              <a:rPr lang="zh-TW" sz="2700" dirty="0">
                <a:solidFill>
                  <a:schemeClr val="dk1"/>
                </a:solidFill>
                <a:latin typeface="DFKai-SB"/>
                <a:ea typeface="DFKai-SB"/>
                <a:cs typeface="DFKai-SB"/>
                <a:sym typeface="DFKai-SB"/>
              </a:rPr>
              <a:t>完整性限制</a:t>
            </a:r>
            <a:endParaRPr sz="2700" b="1" dirty="0">
              <a:solidFill>
                <a:schemeClr val="dk1"/>
              </a:solidFill>
              <a:latin typeface="Microsoft Yahei"/>
              <a:ea typeface="Microsoft Yahei"/>
              <a:cs typeface="Microsoft Yahei"/>
              <a:sym typeface="Microsoft Yahei"/>
            </a:endParaRPr>
          </a:p>
        </p:txBody>
      </p:sp>
      <p:sp>
        <p:nvSpPr>
          <p:cNvPr id="75" name="Google Shape;75;p14"/>
          <p:cNvSpPr/>
          <p:nvPr/>
        </p:nvSpPr>
        <p:spPr>
          <a:xfrm>
            <a:off x="511185" y="4228026"/>
            <a:ext cx="400375" cy="510914"/>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76" name="Google Shape;76;p14"/>
          <p:cNvSpPr/>
          <p:nvPr/>
        </p:nvSpPr>
        <p:spPr>
          <a:xfrm>
            <a:off x="707459" y="4446294"/>
            <a:ext cx="339355" cy="43304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4</a:t>
            </a:r>
            <a:endParaRPr sz="2000">
              <a:solidFill>
                <a:schemeClr val="lt1"/>
              </a:solidFill>
              <a:latin typeface="Microsoft Yahei"/>
              <a:ea typeface="Microsoft Yahei"/>
              <a:cs typeface="Microsoft Yahei"/>
              <a:sym typeface="Microsoft Yahei"/>
            </a:endParaRPr>
          </a:p>
        </p:txBody>
      </p:sp>
      <p:sp>
        <p:nvSpPr>
          <p:cNvPr id="78" name="Google Shape;78;p14"/>
          <p:cNvSpPr txBox="1"/>
          <p:nvPr/>
        </p:nvSpPr>
        <p:spPr>
          <a:xfrm>
            <a:off x="1053177" y="2690241"/>
            <a:ext cx="3433963" cy="520855"/>
          </a:xfrm>
          <a:prstGeom prst="rect">
            <a:avLst/>
          </a:prstGeom>
          <a:noFill/>
          <a:ln>
            <a:noFill/>
          </a:ln>
        </p:spPr>
        <p:txBody>
          <a:bodyPr spcFirstLastPara="1" wrap="square" lIns="104075" tIns="52025" rIns="104075" bIns="52025" anchor="t" anchorCtr="1">
            <a:spAutoFit/>
          </a:bodyPr>
          <a:lstStyle/>
          <a:p>
            <a:pPr marL="0" lvl="0" indent="0" rtl="0">
              <a:spcBef>
                <a:spcPts val="0"/>
              </a:spcBef>
              <a:spcAft>
                <a:spcPts val="0"/>
              </a:spcAft>
              <a:buNone/>
            </a:pPr>
            <a:r>
              <a:rPr lang="zh-TW" sz="2700" dirty="0">
                <a:solidFill>
                  <a:schemeClr val="dk1"/>
                </a:solidFill>
                <a:latin typeface="DFKai-SB"/>
                <a:ea typeface="DFKai-SB"/>
                <a:cs typeface="DFKai-SB"/>
                <a:sym typeface="DFKai-SB"/>
              </a:rPr>
              <a:t>系統需求說明</a:t>
            </a:r>
            <a:endParaRPr sz="2700" b="1" dirty="0">
              <a:solidFill>
                <a:schemeClr val="dk1"/>
              </a:solidFill>
              <a:latin typeface="Microsoft Yahei"/>
              <a:ea typeface="Microsoft Yahei"/>
              <a:cs typeface="Microsoft Yahei"/>
              <a:sym typeface="Microsoft Yahei"/>
            </a:endParaRPr>
          </a:p>
        </p:txBody>
      </p:sp>
      <p:sp>
        <p:nvSpPr>
          <p:cNvPr id="79" name="Google Shape;79;p14"/>
          <p:cNvSpPr/>
          <p:nvPr/>
        </p:nvSpPr>
        <p:spPr>
          <a:xfrm>
            <a:off x="511175" y="2598283"/>
            <a:ext cx="400374" cy="507952"/>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80" name="Google Shape;80;p14"/>
          <p:cNvSpPr/>
          <p:nvPr/>
        </p:nvSpPr>
        <p:spPr>
          <a:xfrm>
            <a:off x="707449" y="2815285"/>
            <a:ext cx="339355" cy="43053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2</a:t>
            </a:r>
            <a:endParaRPr sz="2000">
              <a:solidFill>
                <a:schemeClr val="lt1"/>
              </a:solidFill>
              <a:latin typeface="Microsoft Yahei"/>
              <a:ea typeface="Microsoft Yahei"/>
              <a:cs typeface="Microsoft Yahei"/>
              <a:sym typeface="Microsoft Yahei"/>
            </a:endParaRPr>
          </a:p>
        </p:txBody>
      </p:sp>
      <p:sp>
        <p:nvSpPr>
          <p:cNvPr id="82" name="Google Shape;82;p14"/>
          <p:cNvSpPr txBox="1"/>
          <p:nvPr/>
        </p:nvSpPr>
        <p:spPr>
          <a:xfrm>
            <a:off x="5275622" y="1200719"/>
            <a:ext cx="3797402" cy="520818"/>
          </a:xfrm>
          <a:prstGeom prst="rect">
            <a:avLst/>
          </a:prstGeom>
          <a:noFill/>
          <a:ln>
            <a:noFill/>
          </a:ln>
        </p:spPr>
        <p:txBody>
          <a:bodyPr spcFirstLastPara="1" wrap="square" lIns="104075" tIns="52025" rIns="104075" bIns="52025" anchor="t" anchorCtr="1">
            <a:spAutoFit/>
          </a:bodyPr>
          <a:lstStyle/>
          <a:p>
            <a:pPr marL="0" lvl="0" indent="0" algn="l" rtl="0">
              <a:spcBef>
                <a:spcPts val="0"/>
              </a:spcBef>
              <a:spcAft>
                <a:spcPts val="0"/>
              </a:spcAft>
              <a:buNone/>
            </a:pPr>
            <a:r>
              <a:rPr lang="zh-TW" sz="2700">
                <a:solidFill>
                  <a:srgbClr val="262833"/>
                </a:solidFill>
                <a:highlight>
                  <a:srgbClr val="FFFFFF"/>
                </a:highlight>
                <a:latin typeface="DFKai-SB"/>
                <a:ea typeface="DFKai-SB"/>
                <a:cs typeface="DFKai-SB"/>
                <a:sym typeface="DFKai-SB"/>
              </a:rPr>
              <a:t>資料庫 </a:t>
            </a:r>
            <a:r>
              <a:rPr lang="zh-TW" sz="2600">
                <a:solidFill>
                  <a:srgbClr val="262833"/>
                </a:solidFill>
                <a:highlight>
                  <a:srgbClr val="FFFFFF"/>
                </a:highlight>
                <a:latin typeface="DFKai-SB"/>
                <a:ea typeface="DFKai-SB"/>
                <a:cs typeface="DFKai-SB"/>
                <a:sym typeface="DFKai-SB"/>
              </a:rPr>
              <a:t>Schema Diagram</a:t>
            </a:r>
            <a:endParaRPr sz="2600">
              <a:solidFill>
                <a:schemeClr val="dk1"/>
              </a:solidFill>
              <a:latin typeface="DFKai-SB"/>
              <a:ea typeface="DFKai-SB"/>
              <a:cs typeface="DFKai-SB"/>
              <a:sym typeface="DFKai-SB"/>
            </a:endParaRPr>
          </a:p>
        </p:txBody>
      </p:sp>
      <p:sp>
        <p:nvSpPr>
          <p:cNvPr id="83" name="Google Shape;83;p14"/>
          <p:cNvSpPr/>
          <p:nvPr/>
        </p:nvSpPr>
        <p:spPr>
          <a:xfrm>
            <a:off x="4721756" y="1099053"/>
            <a:ext cx="400374" cy="510914"/>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84" name="Google Shape;84;p14"/>
          <p:cNvSpPr/>
          <p:nvPr/>
        </p:nvSpPr>
        <p:spPr>
          <a:xfrm>
            <a:off x="4918030" y="1317321"/>
            <a:ext cx="339355" cy="43304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5</a:t>
            </a:r>
            <a:endParaRPr sz="2000">
              <a:solidFill>
                <a:schemeClr val="lt1"/>
              </a:solidFill>
              <a:latin typeface="Microsoft Yahei"/>
              <a:ea typeface="Microsoft Yahei"/>
              <a:cs typeface="Microsoft Yahei"/>
              <a:sym typeface="Microsoft Yahei"/>
            </a:endParaRPr>
          </a:p>
        </p:txBody>
      </p:sp>
      <p:sp>
        <p:nvSpPr>
          <p:cNvPr id="86" name="Google Shape;86;p14"/>
          <p:cNvSpPr txBox="1"/>
          <p:nvPr/>
        </p:nvSpPr>
        <p:spPr>
          <a:xfrm>
            <a:off x="5275622" y="1916361"/>
            <a:ext cx="2883300" cy="936063"/>
          </a:xfrm>
          <a:prstGeom prst="rect">
            <a:avLst/>
          </a:prstGeom>
          <a:noFill/>
          <a:ln>
            <a:noFill/>
          </a:ln>
        </p:spPr>
        <p:txBody>
          <a:bodyPr spcFirstLastPara="1" wrap="square" lIns="104075" tIns="52025" rIns="104075" bIns="52025" anchor="t" anchorCtr="1">
            <a:spAutoFit/>
          </a:bodyPr>
          <a:lstStyle/>
          <a:p>
            <a:pPr algn="ctr"/>
            <a:r>
              <a:rPr lang="zh-TW" sz="2700" dirty="0">
                <a:solidFill>
                  <a:srgbClr val="262833"/>
                </a:solidFill>
                <a:highlight>
                  <a:srgbClr val="FFFFFF"/>
                </a:highlight>
                <a:latin typeface="DFKai-SB"/>
                <a:ea typeface="DFKai-SB"/>
                <a:cs typeface="DFKai-SB"/>
                <a:sym typeface="DFKai-SB"/>
              </a:rPr>
              <a:t>SQL語法+概念層</a:t>
            </a:r>
            <a:r>
              <a:rPr lang="zh-TW" altLang="en-US" sz="2700" dirty="0">
                <a:solidFill>
                  <a:srgbClr val="262833"/>
                </a:solidFill>
                <a:highlight>
                  <a:srgbClr val="FFFFFF"/>
                </a:highlight>
                <a:latin typeface="DFKai-SB"/>
                <a:ea typeface="DFKai-SB"/>
                <a:cs typeface="DFKai-SB"/>
                <a:sym typeface="DFKai-SB"/>
              </a:rPr>
              <a:t>與舉例說明</a:t>
            </a:r>
            <a:endParaRPr lang="zh-TW" altLang="en-US" sz="2700" dirty="0">
              <a:solidFill>
                <a:schemeClr val="dk1"/>
              </a:solidFill>
              <a:highlight>
                <a:srgbClr val="FFFFFF"/>
              </a:highlight>
              <a:latin typeface="DFKai-SB"/>
              <a:ea typeface="DFKai-SB"/>
              <a:cs typeface="DFKai-SB"/>
              <a:sym typeface="DFKai-SB"/>
            </a:endParaRPr>
          </a:p>
        </p:txBody>
      </p:sp>
      <p:sp>
        <p:nvSpPr>
          <p:cNvPr id="87" name="Google Shape;87;p14"/>
          <p:cNvSpPr/>
          <p:nvPr/>
        </p:nvSpPr>
        <p:spPr>
          <a:xfrm>
            <a:off x="4721756" y="1870790"/>
            <a:ext cx="400375" cy="510914"/>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88" name="Google Shape;88;p14"/>
          <p:cNvSpPr/>
          <p:nvPr/>
        </p:nvSpPr>
        <p:spPr>
          <a:xfrm>
            <a:off x="4918030" y="2089058"/>
            <a:ext cx="339355" cy="43304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6</a:t>
            </a:r>
            <a:endParaRPr sz="2000">
              <a:solidFill>
                <a:schemeClr val="lt1"/>
              </a:solidFill>
              <a:latin typeface="Microsoft Yahei"/>
              <a:ea typeface="Microsoft Yahei"/>
              <a:cs typeface="Microsoft Yahei"/>
              <a:sym typeface="Microsoft Yahei"/>
            </a:endParaRPr>
          </a:p>
        </p:txBody>
      </p:sp>
      <p:sp>
        <p:nvSpPr>
          <p:cNvPr id="89" name="Google Shape;89;p14"/>
          <p:cNvSpPr txBox="1">
            <a:spLocks noGrp="1"/>
          </p:cNvSpPr>
          <p:nvPr>
            <p:ph type="sldNum" idx="12"/>
          </p:nvPr>
        </p:nvSpPr>
        <p:spPr>
          <a:xfrm>
            <a:off x="8203808" y="46387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a:t>
            </a:fld>
            <a:endParaRPr/>
          </a:p>
        </p:txBody>
      </p:sp>
      <p:sp>
        <p:nvSpPr>
          <p:cNvPr id="91" name="Google Shape;91;p14"/>
          <p:cNvSpPr txBox="1"/>
          <p:nvPr/>
        </p:nvSpPr>
        <p:spPr>
          <a:xfrm>
            <a:off x="5257397" y="2709814"/>
            <a:ext cx="2815200" cy="520818"/>
          </a:xfrm>
          <a:prstGeom prst="rect">
            <a:avLst/>
          </a:prstGeom>
          <a:noFill/>
          <a:ln>
            <a:noFill/>
          </a:ln>
        </p:spPr>
        <p:txBody>
          <a:bodyPr spcFirstLastPara="1" wrap="square" lIns="104075" tIns="52025" rIns="104075" bIns="52025" anchor="t" anchorCtr="1">
            <a:spAutoFit/>
          </a:bodyPr>
          <a:lstStyle/>
          <a:p>
            <a:pPr marL="0" lvl="0" indent="0" algn="l" rtl="0">
              <a:spcBef>
                <a:spcPts val="0"/>
              </a:spcBef>
              <a:spcAft>
                <a:spcPts val="0"/>
              </a:spcAft>
              <a:buNone/>
            </a:pPr>
            <a:endParaRPr sz="2700" dirty="0">
              <a:solidFill>
                <a:schemeClr val="dk1"/>
              </a:solidFill>
              <a:latin typeface="DFKai-SB"/>
              <a:ea typeface="DFKai-SB"/>
              <a:cs typeface="DFKai-SB"/>
              <a:sym typeface="DFKai-SB"/>
            </a:endParaRPr>
          </a:p>
        </p:txBody>
      </p:sp>
      <p:sp>
        <p:nvSpPr>
          <p:cNvPr id="92" name="Google Shape;92;p14"/>
          <p:cNvSpPr/>
          <p:nvPr/>
        </p:nvSpPr>
        <p:spPr>
          <a:xfrm>
            <a:off x="4721756" y="2642528"/>
            <a:ext cx="400374" cy="510914"/>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93" name="Google Shape;93;p14"/>
          <p:cNvSpPr/>
          <p:nvPr/>
        </p:nvSpPr>
        <p:spPr>
          <a:xfrm>
            <a:off x="4918030" y="2860796"/>
            <a:ext cx="339355" cy="43304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7</a:t>
            </a:r>
            <a:endParaRPr sz="2000">
              <a:solidFill>
                <a:schemeClr val="lt1"/>
              </a:solidFill>
              <a:latin typeface="Microsoft Yahei"/>
              <a:ea typeface="Microsoft Yahei"/>
              <a:cs typeface="Microsoft Yahei"/>
              <a:sym typeface="Microsoft Yahei"/>
            </a:endParaRPr>
          </a:p>
        </p:txBody>
      </p:sp>
      <p:sp>
        <p:nvSpPr>
          <p:cNvPr id="95" name="Google Shape;95;p14"/>
          <p:cNvSpPr txBox="1"/>
          <p:nvPr/>
        </p:nvSpPr>
        <p:spPr>
          <a:xfrm>
            <a:off x="5275622" y="3047248"/>
            <a:ext cx="3797402" cy="520818"/>
          </a:xfrm>
          <a:prstGeom prst="rect">
            <a:avLst/>
          </a:prstGeom>
          <a:noFill/>
          <a:ln>
            <a:noFill/>
          </a:ln>
        </p:spPr>
        <p:txBody>
          <a:bodyPr spcFirstLastPara="1" wrap="square" lIns="104075" tIns="52025" rIns="104075" bIns="52025" anchor="t" anchorCtr="1">
            <a:spAutoFit/>
          </a:bodyPr>
          <a:lstStyle/>
          <a:p>
            <a:pPr marL="0" lvl="0" indent="0" algn="l" rtl="0">
              <a:spcBef>
                <a:spcPts val="0"/>
              </a:spcBef>
              <a:spcAft>
                <a:spcPts val="0"/>
              </a:spcAft>
              <a:buNone/>
            </a:pPr>
            <a:r>
              <a:rPr lang="zh-TW" sz="2700" dirty="0">
                <a:solidFill>
                  <a:srgbClr val="262833"/>
                </a:solidFill>
                <a:highlight>
                  <a:schemeClr val="lt1"/>
                </a:highlight>
                <a:latin typeface="DFKai-SB"/>
                <a:ea typeface="DFKai-SB"/>
                <a:cs typeface="DFKai-SB"/>
                <a:sym typeface="DFKai-SB"/>
              </a:rPr>
              <a:t>系統實作成果</a:t>
            </a:r>
            <a:endParaRPr sz="2700" dirty="0">
              <a:solidFill>
                <a:srgbClr val="262833"/>
              </a:solidFill>
              <a:highlight>
                <a:srgbClr val="FFFFFF"/>
              </a:highlight>
              <a:latin typeface="DFKai-SB"/>
              <a:ea typeface="DFKai-SB"/>
              <a:cs typeface="DFKai-SB"/>
              <a:sym typeface="DFKai-SB"/>
            </a:endParaRPr>
          </a:p>
        </p:txBody>
      </p:sp>
      <p:sp>
        <p:nvSpPr>
          <p:cNvPr id="96" name="Google Shape;96;p14"/>
          <p:cNvSpPr/>
          <p:nvPr/>
        </p:nvSpPr>
        <p:spPr>
          <a:xfrm>
            <a:off x="4721756" y="3512377"/>
            <a:ext cx="400374" cy="510914"/>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97" name="Google Shape;97;p14"/>
          <p:cNvSpPr/>
          <p:nvPr/>
        </p:nvSpPr>
        <p:spPr>
          <a:xfrm>
            <a:off x="4918030" y="3730645"/>
            <a:ext cx="339355" cy="43304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8</a:t>
            </a:r>
            <a:endParaRPr sz="2000">
              <a:solidFill>
                <a:schemeClr val="lt1"/>
              </a:solidFill>
              <a:latin typeface="Microsoft Yahei"/>
              <a:ea typeface="Microsoft Yahei"/>
              <a:cs typeface="Microsoft Yahei"/>
              <a:sym typeface="Microsoft Yahei"/>
            </a:endParaRPr>
          </a:p>
        </p:txBody>
      </p:sp>
      <p:sp>
        <p:nvSpPr>
          <p:cNvPr id="99" name="Google Shape;99;p14"/>
          <p:cNvSpPr txBox="1"/>
          <p:nvPr/>
        </p:nvSpPr>
        <p:spPr>
          <a:xfrm>
            <a:off x="5275622" y="3762890"/>
            <a:ext cx="3797402" cy="520818"/>
          </a:xfrm>
          <a:prstGeom prst="rect">
            <a:avLst/>
          </a:prstGeom>
          <a:noFill/>
          <a:ln>
            <a:noFill/>
          </a:ln>
        </p:spPr>
        <p:txBody>
          <a:bodyPr spcFirstLastPara="1" wrap="square" lIns="104075" tIns="52025" rIns="104075" bIns="52025" anchor="t" anchorCtr="1">
            <a:spAutoFit/>
          </a:bodyPr>
          <a:lstStyle/>
          <a:p>
            <a:pPr marL="0" lvl="0" indent="0" algn="l" rtl="0">
              <a:spcBef>
                <a:spcPts val="0"/>
              </a:spcBef>
              <a:spcAft>
                <a:spcPts val="0"/>
              </a:spcAft>
              <a:buClr>
                <a:schemeClr val="dk1"/>
              </a:buClr>
              <a:buFont typeface="Arial"/>
              <a:buNone/>
            </a:pPr>
            <a:r>
              <a:rPr lang="zh-TW" sz="2700" dirty="0">
                <a:solidFill>
                  <a:srgbClr val="262833"/>
                </a:solidFill>
                <a:highlight>
                  <a:schemeClr val="lt1"/>
                </a:highlight>
                <a:latin typeface="DFKai-SB"/>
                <a:ea typeface="DFKai-SB"/>
                <a:cs typeface="DFKai-SB"/>
                <a:sym typeface="DFKai-SB"/>
              </a:rPr>
              <a:t>每一資料表之10筆資料</a:t>
            </a:r>
            <a:endParaRPr sz="2700" dirty="0">
              <a:solidFill>
                <a:srgbClr val="262833"/>
              </a:solidFill>
              <a:highlight>
                <a:srgbClr val="FFFFFF"/>
              </a:highlight>
              <a:latin typeface="DFKai-SB"/>
              <a:ea typeface="DFKai-SB"/>
              <a:cs typeface="DFKai-SB"/>
              <a:sym typeface="DFKai-SB"/>
            </a:endParaRPr>
          </a:p>
        </p:txBody>
      </p:sp>
      <p:sp>
        <p:nvSpPr>
          <p:cNvPr id="100" name="Google Shape;100;p14"/>
          <p:cNvSpPr/>
          <p:nvPr/>
        </p:nvSpPr>
        <p:spPr>
          <a:xfrm>
            <a:off x="4721756" y="4382216"/>
            <a:ext cx="400374" cy="510914"/>
          </a:xfrm>
          <a:prstGeom prst="rect">
            <a:avLst/>
          </a:prstGeom>
          <a:solidFill>
            <a:srgbClr val="113F4E"/>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endParaRPr sz="2000">
              <a:solidFill>
                <a:schemeClr val="lt1"/>
              </a:solidFill>
              <a:latin typeface="Microsoft Yahei"/>
              <a:ea typeface="Microsoft Yahei"/>
              <a:cs typeface="Microsoft Yahei"/>
              <a:sym typeface="Microsoft Yahei"/>
            </a:endParaRPr>
          </a:p>
        </p:txBody>
      </p:sp>
      <p:sp>
        <p:nvSpPr>
          <p:cNvPr id="101" name="Google Shape;101;p14"/>
          <p:cNvSpPr/>
          <p:nvPr/>
        </p:nvSpPr>
        <p:spPr>
          <a:xfrm>
            <a:off x="4918030" y="4600484"/>
            <a:ext cx="339355" cy="433047"/>
          </a:xfrm>
          <a:prstGeom prst="rect">
            <a:avLst/>
          </a:prstGeom>
          <a:solidFill>
            <a:srgbClr val="55C0AF"/>
          </a:solidFill>
          <a:ln>
            <a:noFill/>
          </a:ln>
        </p:spPr>
        <p:txBody>
          <a:bodyPr spcFirstLastPara="1" wrap="square" lIns="104075" tIns="52025" rIns="104075" bIns="52025" anchor="ctr" anchorCtr="0">
            <a:noAutofit/>
          </a:bodyPr>
          <a:lstStyle/>
          <a:p>
            <a:pPr marL="0" marR="0" lvl="0" indent="0" algn="ctr" rtl="0">
              <a:spcBef>
                <a:spcPts val="0"/>
              </a:spcBef>
              <a:spcAft>
                <a:spcPts val="0"/>
              </a:spcAft>
              <a:buNone/>
            </a:pPr>
            <a:r>
              <a:rPr lang="zh-TW" sz="2000">
                <a:solidFill>
                  <a:schemeClr val="lt1"/>
                </a:solidFill>
                <a:latin typeface="Microsoft Yahei"/>
                <a:ea typeface="Microsoft Yahei"/>
                <a:cs typeface="Microsoft Yahei"/>
                <a:sym typeface="Microsoft Yahei"/>
              </a:rPr>
              <a:t>9</a:t>
            </a:r>
            <a:endParaRPr sz="2000">
              <a:solidFill>
                <a:schemeClr val="lt1"/>
              </a:solidFill>
              <a:latin typeface="Microsoft Yahei"/>
              <a:ea typeface="Microsoft Yahei"/>
              <a:cs typeface="Microsoft Yahei"/>
              <a:sym typeface="Microsoft Yahei"/>
            </a:endParaRPr>
          </a:p>
        </p:txBody>
      </p:sp>
      <p:sp>
        <p:nvSpPr>
          <p:cNvPr id="103" name="Google Shape;103;p14"/>
          <p:cNvSpPr txBox="1"/>
          <p:nvPr/>
        </p:nvSpPr>
        <p:spPr>
          <a:xfrm>
            <a:off x="5275622" y="4478531"/>
            <a:ext cx="2815200" cy="520818"/>
          </a:xfrm>
          <a:prstGeom prst="rect">
            <a:avLst/>
          </a:prstGeom>
          <a:noFill/>
          <a:ln>
            <a:noFill/>
          </a:ln>
        </p:spPr>
        <p:txBody>
          <a:bodyPr spcFirstLastPara="1" wrap="square" lIns="104075" tIns="52025" rIns="104075" bIns="52025" anchor="t" anchorCtr="1">
            <a:spAutoFit/>
          </a:bodyPr>
          <a:lstStyle/>
          <a:p>
            <a:pPr marL="0" lvl="0" indent="0" algn="l" rtl="0">
              <a:spcBef>
                <a:spcPts val="0"/>
              </a:spcBef>
              <a:spcAft>
                <a:spcPts val="0"/>
              </a:spcAft>
              <a:buClr>
                <a:schemeClr val="dk1"/>
              </a:buClr>
              <a:buFont typeface="Arial"/>
              <a:buNone/>
            </a:pPr>
            <a:r>
              <a:rPr lang="zh-TW" sz="2700" dirty="0">
                <a:solidFill>
                  <a:srgbClr val="262833"/>
                </a:solidFill>
                <a:highlight>
                  <a:schemeClr val="lt1"/>
                </a:highlight>
                <a:latin typeface="DFKai-SB"/>
                <a:ea typeface="DFKai-SB"/>
                <a:cs typeface="DFKai-SB"/>
                <a:sym typeface="DFKai-SB"/>
              </a:rPr>
              <a:t>View</a:t>
            </a:r>
            <a:endParaRPr sz="2700" dirty="0">
              <a:solidFill>
                <a:schemeClr val="dk1"/>
              </a:solidFill>
              <a:latin typeface="DFKai-SB"/>
              <a:ea typeface="DFKai-SB"/>
              <a:cs typeface="DFKai-SB"/>
              <a:sym typeface="DFKai-S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
        <p:nvSpPr>
          <p:cNvPr id="111" name="Google Shape;111;p15"/>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zh-TW" sz="2700" b="1">
                <a:solidFill>
                  <a:schemeClr val="dk1"/>
                </a:solidFill>
                <a:latin typeface="DFKai-SB"/>
                <a:ea typeface="DFKai-SB"/>
                <a:cs typeface="DFKai-SB"/>
                <a:sym typeface="DFKai-SB"/>
              </a:rPr>
              <a:t>應用情境與使用案例</a:t>
            </a:r>
            <a:endParaRPr sz="2700" b="1">
              <a:solidFill>
                <a:schemeClr val="dk1"/>
              </a:solidFill>
              <a:latin typeface="DFKai-SB"/>
              <a:ea typeface="DFKai-SB"/>
              <a:cs typeface="DFKai-SB"/>
              <a:sym typeface="DFKai-SB"/>
            </a:endParaRPr>
          </a:p>
        </p:txBody>
      </p:sp>
      <p:grpSp>
        <p:nvGrpSpPr>
          <p:cNvPr id="112" name="Google Shape;112;p15"/>
          <p:cNvGrpSpPr/>
          <p:nvPr/>
        </p:nvGrpSpPr>
        <p:grpSpPr>
          <a:xfrm>
            <a:off x="3502220" y="2918232"/>
            <a:ext cx="844541" cy="932257"/>
            <a:chOff x="589141" y="2173776"/>
            <a:chExt cx="1126055" cy="1243010"/>
          </a:xfrm>
        </p:grpSpPr>
        <p:grpSp>
          <p:nvGrpSpPr>
            <p:cNvPr id="113" name="Google Shape;113;p15"/>
            <p:cNvGrpSpPr/>
            <p:nvPr/>
          </p:nvGrpSpPr>
          <p:grpSpPr>
            <a:xfrm>
              <a:off x="589141" y="2173776"/>
              <a:ext cx="1126055" cy="1243010"/>
              <a:chOff x="1950418" y="3368985"/>
              <a:chExt cx="432101" cy="476980"/>
            </a:xfrm>
          </p:grpSpPr>
          <p:sp>
            <p:nvSpPr>
              <p:cNvPr id="114" name="Google Shape;114;p15"/>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15" name="Google Shape;115;p15"/>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16" name="Google Shape;116;p15"/>
            <p:cNvSpPr txBox="1"/>
            <p:nvPr/>
          </p:nvSpPr>
          <p:spPr>
            <a:xfrm>
              <a:off x="907668" y="2220553"/>
              <a:ext cx="6111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100" b="1">
                  <a:solidFill>
                    <a:schemeClr val="lt1"/>
                  </a:solidFill>
                  <a:latin typeface="Microsoft Yahei"/>
                  <a:ea typeface="Microsoft Yahei"/>
                  <a:cs typeface="Microsoft Yahei"/>
                  <a:sym typeface="Microsoft Yahei"/>
                </a:rPr>
                <a:t>1</a:t>
              </a:r>
              <a:endParaRPr sz="4100" b="1">
                <a:solidFill>
                  <a:schemeClr val="lt1"/>
                </a:solidFill>
                <a:latin typeface="Microsoft Yahei"/>
                <a:ea typeface="Microsoft Yahei"/>
                <a:cs typeface="Microsoft Yahei"/>
                <a:sym typeface="Microsoft Yahei"/>
              </a:endParaRPr>
            </a:p>
          </p:txBody>
        </p:sp>
      </p:grpSp>
      <p:sp>
        <p:nvSpPr>
          <p:cNvPr id="117" name="Google Shape;11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grpSp>
        <p:nvGrpSpPr>
          <p:cNvPr id="123" name="Google Shape;123;p16"/>
          <p:cNvGrpSpPr/>
          <p:nvPr/>
        </p:nvGrpSpPr>
        <p:grpSpPr>
          <a:xfrm>
            <a:off x="382271" y="221981"/>
            <a:ext cx="2568885" cy="466773"/>
            <a:chOff x="956666" y="3447854"/>
            <a:chExt cx="3425180" cy="622364"/>
          </a:xfrm>
        </p:grpSpPr>
        <p:sp>
          <p:nvSpPr>
            <p:cNvPr id="124" name="Google Shape;124;p16"/>
            <p:cNvSpPr txBox="1"/>
            <p:nvPr/>
          </p:nvSpPr>
          <p:spPr>
            <a:xfrm>
              <a:off x="1581046" y="3447854"/>
              <a:ext cx="28008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應用情境</a:t>
              </a:r>
              <a:endParaRPr sz="2300" b="1">
                <a:solidFill>
                  <a:schemeClr val="dk1"/>
                </a:solidFill>
                <a:latin typeface="DFKai-SB"/>
                <a:ea typeface="DFKai-SB"/>
                <a:cs typeface="DFKai-SB"/>
                <a:sym typeface="DFKai-SB"/>
              </a:endParaRPr>
            </a:p>
          </p:txBody>
        </p:sp>
        <p:sp>
          <p:nvSpPr>
            <p:cNvPr id="125" name="Google Shape;125;p16"/>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26" name="Google Shape;126;p16"/>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27" name="Google Shape;127;p16"/>
          <p:cNvSpPr/>
          <p:nvPr/>
        </p:nvSpPr>
        <p:spPr>
          <a:xfrm>
            <a:off x="1232231" y="1180852"/>
            <a:ext cx="798000" cy="798000"/>
          </a:xfrm>
          <a:prstGeom prst="ellipse">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nvGrpSpPr>
          <p:cNvPr id="128" name="Google Shape;128;p16"/>
          <p:cNvGrpSpPr/>
          <p:nvPr/>
        </p:nvGrpSpPr>
        <p:grpSpPr>
          <a:xfrm>
            <a:off x="1798876" y="1180875"/>
            <a:ext cx="6786642" cy="927620"/>
            <a:chOff x="6183501" y="2146578"/>
            <a:chExt cx="5627398" cy="769171"/>
          </a:xfrm>
        </p:grpSpPr>
        <p:sp>
          <p:nvSpPr>
            <p:cNvPr id="129" name="Google Shape;129;p16"/>
            <p:cNvSpPr txBox="1"/>
            <p:nvPr/>
          </p:nvSpPr>
          <p:spPr>
            <a:xfrm>
              <a:off x="6183501" y="2146578"/>
              <a:ext cx="1457100" cy="567900"/>
            </a:xfrm>
            <a:prstGeom prst="rect">
              <a:avLst/>
            </a:prstGeom>
            <a:noFill/>
            <a:ln>
              <a:noFill/>
            </a:ln>
          </p:spPr>
          <p:txBody>
            <a:bodyPr spcFirstLastPara="1" wrap="square" lIns="68575" tIns="34275" rIns="68575" bIns="34275" anchor="t" anchorCtr="0">
              <a:spAutoFit/>
            </a:bodyPr>
            <a:lstStyle/>
            <a:p>
              <a:pPr marL="0" lvl="0" indent="0" algn="ctr" rtl="0">
                <a:spcBef>
                  <a:spcPts val="0"/>
                </a:spcBef>
                <a:spcAft>
                  <a:spcPts val="0"/>
                </a:spcAft>
                <a:buClr>
                  <a:schemeClr val="dk1"/>
                </a:buClr>
                <a:buFont typeface="Arial"/>
                <a:buNone/>
              </a:pPr>
              <a:r>
                <a:rPr lang="zh-TW" sz="2500" b="1">
                  <a:solidFill>
                    <a:schemeClr val="dk1"/>
                  </a:solidFill>
                  <a:latin typeface="DFKai-SB"/>
                  <a:ea typeface="DFKai-SB"/>
                  <a:cs typeface="DFKai-SB"/>
                  <a:sym typeface="DFKai-SB"/>
                </a:rPr>
                <a:t>學生</a:t>
              </a:r>
              <a:endParaRPr sz="2500" b="1">
                <a:solidFill>
                  <a:schemeClr val="dk1"/>
                </a:solidFill>
                <a:latin typeface="DFKai-SB"/>
                <a:ea typeface="DFKai-SB"/>
                <a:cs typeface="DFKai-SB"/>
                <a:sym typeface="DFKai-SB"/>
              </a:endParaRPr>
            </a:p>
            <a:p>
              <a:pPr marL="0" marR="0" lvl="0" indent="0" algn="l" rtl="0">
                <a:spcBef>
                  <a:spcPts val="0"/>
                </a:spcBef>
                <a:spcAft>
                  <a:spcPts val="0"/>
                </a:spcAft>
                <a:buNone/>
              </a:pPr>
              <a:endParaRPr sz="1500">
                <a:solidFill>
                  <a:schemeClr val="dk1"/>
                </a:solidFill>
              </a:endParaRPr>
            </a:p>
          </p:txBody>
        </p:sp>
        <p:sp>
          <p:nvSpPr>
            <p:cNvPr id="130" name="Google Shape;130;p16"/>
            <p:cNvSpPr/>
            <p:nvPr/>
          </p:nvSpPr>
          <p:spPr>
            <a:xfrm>
              <a:off x="6568699" y="2456449"/>
              <a:ext cx="5242200" cy="459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800"/>
                <a:buFont typeface="Arial"/>
                <a:buNone/>
              </a:pPr>
              <a:r>
                <a:rPr lang="zh-TW" sz="1700">
                  <a:solidFill>
                    <a:schemeClr val="dk1"/>
                  </a:solidFill>
                  <a:latin typeface="DFKai-SB"/>
                  <a:ea typeface="DFKai-SB"/>
                  <a:cs typeface="DFKai-SB"/>
                  <a:sym typeface="DFKai-SB"/>
                </a:rPr>
                <a:t>需要進行小組討論、專題製作或活動練習時，可透過系統查詢教室空閒時段，並提出借用申請，經審核通過後即可使用，避免找不到空間或人工登記錯誤的問題。</a:t>
              </a:r>
              <a:endParaRPr sz="1700">
                <a:solidFill>
                  <a:schemeClr val="dk1"/>
                </a:solidFill>
                <a:latin typeface="DFKai-SB"/>
                <a:ea typeface="DFKai-SB"/>
                <a:cs typeface="DFKai-SB"/>
                <a:sym typeface="DFKai-SB"/>
              </a:endParaRPr>
            </a:p>
            <a:p>
              <a:pPr marL="342900" lvl="0" indent="0" algn="l" rtl="0">
                <a:spcBef>
                  <a:spcPts val="0"/>
                </a:spcBef>
                <a:spcAft>
                  <a:spcPts val="0"/>
                </a:spcAft>
                <a:buClr>
                  <a:schemeClr val="dk1"/>
                </a:buClr>
                <a:buSzPts val="800"/>
                <a:buFont typeface="Arial"/>
                <a:buNone/>
              </a:pPr>
              <a:endParaRPr sz="1700">
                <a:solidFill>
                  <a:schemeClr val="dk1"/>
                </a:solidFill>
                <a:latin typeface="DFKai-SB"/>
                <a:ea typeface="DFKai-SB"/>
                <a:cs typeface="DFKai-SB"/>
                <a:sym typeface="DFKai-SB"/>
              </a:endParaRPr>
            </a:p>
            <a:p>
              <a:pPr marL="0" marR="0" lvl="0" indent="0" algn="l"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grpSp>
      <p:sp>
        <p:nvSpPr>
          <p:cNvPr id="131" name="Google Shape;131;p16"/>
          <p:cNvSpPr/>
          <p:nvPr/>
        </p:nvSpPr>
        <p:spPr>
          <a:xfrm>
            <a:off x="1232226" y="2679476"/>
            <a:ext cx="798000" cy="798000"/>
          </a:xfrm>
          <a:prstGeom prst="ellipse">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nvGrpSpPr>
          <p:cNvPr id="132" name="Google Shape;132;p16"/>
          <p:cNvGrpSpPr/>
          <p:nvPr/>
        </p:nvGrpSpPr>
        <p:grpSpPr>
          <a:xfrm>
            <a:off x="1888125" y="2423869"/>
            <a:ext cx="6789324" cy="1509865"/>
            <a:chOff x="7100969" y="3612228"/>
            <a:chExt cx="5629622" cy="1251961"/>
          </a:xfrm>
        </p:grpSpPr>
        <p:sp>
          <p:nvSpPr>
            <p:cNvPr id="133" name="Google Shape;133;p16"/>
            <p:cNvSpPr txBox="1"/>
            <p:nvPr/>
          </p:nvSpPr>
          <p:spPr>
            <a:xfrm>
              <a:off x="7100969" y="3612228"/>
              <a:ext cx="1394400" cy="567900"/>
            </a:xfrm>
            <a:prstGeom prst="rect">
              <a:avLst/>
            </a:prstGeom>
            <a:noFill/>
            <a:ln>
              <a:noFill/>
            </a:ln>
          </p:spPr>
          <p:txBody>
            <a:bodyPr spcFirstLastPara="1" wrap="square" lIns="68575" tIns="34275" rIns="68575" bIns="34275" anchor="t" anchorCtr="0">
              <a:spAutoFit/>
            </a:bodyPr>
            <a:lstStyle/>
            <a:p>
              <a:pPr marL="0" lvl="0" indent="0" algn="ctr" rtl="0">
                <a:spcBef>
                  <a:spcPts val="0"/>
                </a:spcBef>
                <a:spcAft>
                  <a:spcPts val="0"/>
                </a:spcAft>
                <a:buClr>
                  <a:schemeClr val="dk1"/>
                </a:buClr>
                <a:buFont typeface="Arial"/>
                <a:buNone/>
              </a:pPr>
              <a:r>
                <a:rPr lang="zh-TW" sz="2500" b="1">
                  <a:solidFill>
                    <a:schemeClr val="dk1"/>
                  </a:solidFill>
                  <a:latin typeface="DFKai-SB"/>
                  <a:ea typeface="DFKai-SB"/>
                  <a:cs typeface="DFKai-SB"/>
                  <a:sym typeface="DFKai-SB"/>
                </a:rPr>
                <a:t>老師</a:t>
              </a:r>
              <a:endParaRPr sz="2500" b="1">
                <a:solidFill>
                  <a:schemeClr val="dk1"/>
                </a:solidFill>
                <a:latin typeface="DFKai-SB"/>
                <a:ea typeface="DFKai-SB"/>
                <a:cs typeface="DFKai-SB"/>
                <a:sym typeface="DFKai-SB"/>
              </a:endParaRPr>
            </a:p>
            <a:p>
              <a:pPr marL="0" marR="0" lvl="0" indent="0" algn="l" rtl="0">
                <a:spcBef>
                  <a:spcPts val="0"/>
                </a:spcBef>
                <a:spcAft>
                  <a:spcPts val="0"/>
                </a:spcAft>
                <a:buNone/>
              </a:pPr>
              <a:endParaRPr sz="1500">
                <a:solidFill>
                  <a:schemeClr val="dk1"/>
                </a:solidFill>
              </a:endParaRPr>
            </a:p>
          </p:txBody>
        </p:sp>
        <p:sp>
          <p:nvSpPr>
            <p:cNvPr id="134" name="Google Shape;134;p16"/>
            <p:cNvSpPr/>
            <p:nvPr/>
          </p:nvSpPr>
          <p:spPr>
            <a:xfrm>
              <a:off x="7488391" y="3981289"/>
              <a:ext cx="5242200" cy="8829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Font typeface="Arial"/>
                <a:buNone/>
              </a:pPr>
              <a:r>
                <a:rPr lang="zh-TW" sz="1700">
                  <a:solidFill>
                    <a:schemeClr val="dk1"/>
                  </a:solidFill>
                  <a:latin typeface="DFKai-SB"/>
                  <a:ea typeface="DFKai-SB"/>
                  <a:cs typeface="DFKai-SB"/>
                  <a:sym typeface="DFKai-SB"/>
                </a:rPr>
                <a:t>需要進行補課、課程延伸討論或舉辦小型教學活動時，可透過系統即時查詢教室使用狀態，並線上申請借用教室，以確保教學活動順利進行且不與其他課程衝突。</a:t>
              </a:r>
              <a:endParaRPr sz="1700">
                <a:solidFill>
                  <a:schemeClr val="dk1"/>
                </a:solidFill>
                <a:latin typeface="DFKai-SB"/>
                <a:ea typeface="DFKai-SB"/>
                <a:cs typeface="DFKai-SB"/>
                <a:sym typeface="DFKai-SB"/>
              </a:endParaRPr>
            </a:p>
            <a:p>
              <a:pPr marL="0" marR="0" lvl="0" indent="0" algn="l"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grpSp>
      <p:sp>
        <p:nvSpPr>
          <p:cNvPr id="135" name="Google Shape;135;p16"/>
          <p:cNvSpPr/>
          <p:nvPr/>
        </p:nvSpPr>
        <p:spPr>
          <a:xfrm>
            <a:off x="1267784" y="3910812"/>
            <a:ext cx="798000" cy="798000"/>
          </a:xfrm>
          <a:prstGeom prst="ellipse">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nvGrpSpPr>
          <p:cNvPr id="136" name="Google Shape;136;p16"/>
          <p:cNvGrpSpPr/>
          <p:nvPr/>
        </p:nvGrpSpPr>
        <p:grpSpPr>
          <a:xfrm>
            <a:off x="2030081" y="3811106"/>
            <a:ext cx="6541562" cy="997278"/>
            <a:chOff x="6386712" y="4859089"/>
            <a:chExt cx="5424181" cy="826931"/>
          </a:xfrm>
        </p:grpSpPr>
        <p:sp>
          <p:nvSpPr>
            <p:cNvPr id="137" name="Google Shape;137;p16"/>
            <p:cNvSpPr txBox="1"/>
            <p:nvPr/>
          </p:nvSpPr>
          <p:spPr>
            <a:xfrm>
              <a:off x="6386712" y="4859089"/>
              <a:ext cx="1254000" cy="567900"/>
            </a:xfrm>
            <a:prstGeom prst="rect">
              <a:avLst/>
            </a:prstGeom>
            <a:noFill/>
            <a:ln>
              <a:noFill/>
            </a:ln>
          </p:spPr>
          <p:txBody>
            <a:bodyPr spcFirstLastPara="1" wrap="square" lIns="68575" tIns="34275" rIns="68575" bIns="34275" anchor="t" anchorCtr="0">
              <a:spAutoFit/>
            </a:bodyPr>
            <a:lstStyle/>
            <a:p>
              <a:pPr marL="0" lvl="0" indent="0" algn="ctr" rtl="0">
                <a:spcBef>
                  <a:spcPts val="0"/>
                </a:spcBef>
                <a:spcAft>
                  <a:spcPts val="0"/>
                </a:spcAft>
                <a:buClr>
                  <a:schemeClr val="dk1"/>
                </a:buClr>
                <a:buFont typeface="Arial"/>
                <a:buNone/>
              </a:pPr>
              <a:r>
                <a:rPr lang="zh-TW" sz="2500" b="1">
                  <a:solidFill>
                    <a:schemeClr val="dk1"/>
                  </a:solidFill>
                  <a:latin typeface="DFKai-SB"/>
                  <a:ea typeface="DFKai-SB"/>
                  <a:cs typeface="DFKai-SB"/>
                  <a:sym typeface="DFKai-SB"/>
                </a:rPr>
                <a:t>管理者</a:t>
              </a:r>
              <a:endParaRPr sz="2500" b="1">
                <a:solidFill>
                  <a:schemeClr val="dk1"/>
                </a:solidFill>
                <a:latin typeface="DFKai-SB"/>
                <a:ea typeface="DFKai-SB"/>
                <a:cs typeface="DFKai-SB"/>
                <a:sym typeface="DFKai-SB"/>
              </a:endParaRPr>
            </a:p>
            <a:p>
              <a:pPr marL="0" marR="0" lvl="0" indent="0" algn="l" rtl="0">
                <a:spcBef>
                  <a:spcPts val="0"/>
                </a:spcBef>
                <a:spcAft>
                  <a:spcPts val="0"/>
                </a:spcAft>
                <a:buNone/>
              </a:pPr>
              <a:endParaRPr sz="1500">
                <a:solidFill>
                  <a:schemeClr val="dk1"/>
                </a:solidFill>
              </a:endParaRPr>
            </a:p>
          </p:txBody>
        </p:sp>
        <p:sp>
          <p:nvSpPr>
            <p:cNvPr id="138" name="Google Shape;138;p16"/>
            <p:cNvSpPr/>
            <p:nvPr/>
          </p:nvSpPr>
          <p:spPr>
            <a:xfrm>
              <a:off x="6568693" y="5226720"/>
              <a:ext cx="5242200" cy="459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Font typeface="Arial"/>
                <a:buNone/>
              </a:pPr>
              <a:r>
                <a:rPr lang="zh-TW" sz="1700">
                  <a:solidFill>
                    <a:schemeClr val="dk1"/>
                  </a:solidFill>
                  <a:latin typeface="DFKai-SB"/>
                  <a:ea typeface="DFKai-SB"/>
                  <a:cs typeface="DFKai-SB"/>
                  <a:sym typeface="DFKai-SB"/>
                </a:rPr>
                <a:t>負責審核所有教室借用申請，確認借用時間與用途是否合理，並管理教室使用狀態與借用紀錄，進行教室資源調度。</a:t>
              </a:r>
              <a:endParaRPr sz="1700">
                <a:solidFill>
                  <a:schemeClr val="dk1"/>
                </a:solidFill>
                <a:latin typeface="DFKai-SB"/>
                <a:ea typeface="DFKai-SB"/>
                <a:cs typeface="DFKai-SB"/>
                <a:sym typeface="DFKai-SB"/>
              </a:endParaRPr>
            </a:p>
            <a:p>
              <a:pPr marL="0" marR="0" lvl="0" indent="0" algn="l"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grpSp>
      <p:sp>
        <p:nvSpPr>
          <p:cNvPr id="139" name="Google Shape;13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pSp>
        <p:nvGrpSpPr>
          <p:cNvPr id="145" name="Google Shape;145;p17"/>
          <p:cNvGrpSpPr/>
          <p:nvPr/>
        </p:nvGrpSpPr>
        <p:grpSpPr>
          <a:xfrm>
            <a:off x="382271" y="221981"/>
            <a:ext cx="2568885" cy="466773"/>
            <a:chOff x="956666" y="3447854"/>
            <a:chExt cx="3425180" cy="622364"/>
          </a:xfrm>
        </p:grpSpPr>
        <p:sp>
          <p:nvSpPr>
            <p:cNvPr id="146" name="Google Shape;146;p17"/>
            <p:cNvSpPr txBox="1"/>
            <p:nvPr/>
          </p:nvSpPr>
          <p:spPr>
            <a:xfrm>
              <a:off x="1581046" y="3447854"/>
              <a:ext cx="28008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使用案例</a:t>
              </a:r>
              <a:endParaRPr sz="2300" b="1">
                <a:solidFill>
                  <a:schemeClr val="dk1"/>
                </a:solidFill>
                <a:latin typeface="DFKai-SB"/>
                <a:ea typeface="DFKai-SB"/>
                <a:cs typeface="DFKai-SB"/>
                <a:sym typeface="DFKai-SB"/>
              </a:endParaRPr>
            </a:p>
          </p:txBody>
        </p:sp>
        <p:sp>
          <p:nvSpPr>
            <p:cNvPr id="147" name="Google Shape;147;p17"/>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Microsoft Yahei"/>
                <a:ea typeface="Microsoft Yahei"/>
                <a:cs typeface="Microsoft Yahei"/>
                <a:sym typeface="Microsoft Yahei"/>
              </a:endParaRPr>
            </a:p>
          </p:txBody>
        </p:sp>
        <p:sp>
          <p:nvSpPr>
            <p:cNvPr id="148" name="Google Shape;148;p17"/>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Microsoft Yahei"/>
                <a:ea typeface="Microsoft Yahei"/>
                <a:cs typeface="Microsoft Yahei"/>
                <a:sym typeface="Microsoft Yahei"/>
              </a:endParaRPr>
            </a:p>
          </p:txBody>
        </p:sp>
      </p:grpSp>
      <p:sp>
        <p:nvSpPr>
          <p:cNvPr id="149" name="Google Shape;149;p17"/>
          <p:cNvSpPr/>
          <p:nvPr/>
        </p:nvSpPr>
        <p:spPr>
          <a:xfrm>
            <a:off x="3047381" y="1502646"/>
            <a:ext cx="2767075" cy="2742033"/>
          </a:xfrm>
          <a:custGeom>
            <a:avLst/>
            <a:gdLst/>
            <a:ahLst/>
            <a:cxnLst/>
            <a:rect l="l" t="t" r="r" b="b"/>
            <a:pathLst>
              <a:path w="2504140" h="2504140" extrusionOk="0">
                <a:moveTo>
                  <a:pt x="0" y="1252070"/>
                </a:moveTo>
                <a:cubicBezTo>
                  <a:pt x="0" y="560571"/>
                  <a:pt x="560571" y="0"/>
                  <a:pt x="1252070" y="0"/>
                </a:cubicBezTo>
                <a:cubicBezTo>
                  <a:pt x="1943569" y="0"/>
                  <a:pt x="2504140" y="560571"/>
                  <a:pt x="2504140" y="1252070"/>
                </a:cubicBezTo>
                <a:cubicBezTo>
                  <a:pt x="2504140" y="1943569"/>
                  <a:pt x="1943569" y="2504140"/>
                  <a:pt x="1252070" y="2504140"/>
                </a:cubicBezTo>
                <a:cubicBezTo>
                  <a:pt x="560571" y="2504140"/>
                  <a:pt x="0" y="1943569"/>
                  <a:pt x="0" y="1252070"/>
                </a:cubicBezTo>
                <a:close/>
              </a:path>
            </a:pathLst>
          </a:custGeom>
          <a:solidFill>
            <a:srgbClr val="113F4E"/>
          </a:solidFill>
          <a:ln w="7150" cap="flat" cmpd="sng">
            <a:solidFill>
              <a:schemeClr val="lt1"/>
            </a:solidFill>
            <a:prstDash val="solid"/>
            <a:miter lim="8000"/>
            <a:headEnd type="none" w="sm" len="sm"/>
            <a:tailEnd type="none" w="sm" len="sm"/>
          </a:ln>
        </p:spPr>
        <p:txBody>
          <a:bodyPr spcFirstLastPara="1" wrap="square" lIns="328375" tIns="328375" rIns="328375" bIns="328375" anchor="ctr" anchorCtr="0">
            <a:noAutofit/>
          </a:bodyPr>
          <a:lstStyle/>
          <a:p>
            <a:pPr marL="0" marR="0" lvl="0" indent="0" algn="ctr" rtl="0">
              <a:lnSpc>
                <a:spcPct val="90000"/>
              </a:lnSpc>
              <a:spcBef>
                <a:spcPts val="0"/>
              </a:spcBef>
              <a:spcAft>
                <a:spcPts val="0"/>
              </a:spcAft>
              <a:buNone/>
            </a:pPr>
            <a:endParaRPr sz="4200">
              <a:solidFill>
                <a:schemeClr val="dk1"/>
              </a:solidFill>
              <a:latin typeface="Microsoft Yahei"/>
              <a:ea typeface="Microsoft Yahei"/>
              <a:cs typeface="Microsoft Yahei"/>
              <a:sym typeface="Microsoft Yahei"/>
            </a:endParaRPr>
          </a:p>
        </p:txBody>
      </p:sp>
      <p:sp>
        <p:nvSpPr>
          <p:cNvPr id="150" name="Google Shape;150;p17"/>
          <p:cNvSpPr txBox="1"/>
          <p:nvPr/>
        </p:nvSpPr>
        <p:spPr>
          <a:xfrm>
            <a:off x="3465796" y="2048250"/>
            <a:ext cx="1855500" cy="1685400"/>
          </a:xfrm>
          <a:prstGeom prst="rect">
            <a:avLst/>
          </a:prstGeom>
          <a:solidFill>
            <a:srgbClr val="113F4E"/>
          </a:solidFill>
          <a:ln>
            <a:noFill/>
          </a:ln>
        </p:spPr>
        <p:txBody>
          <a:bodyPr spcFirstLastPara="1" wrap="square" lIns="68575" tIns="34275" rIns="68575" bIns="34275" anchor="t" anchorCtr="0">
            <a:spAutoFit/>
          </a:bodyPr>
          <a:lstStyle/>
          <a:p>
            <a:pPr marL="342900" lvl="0" indent="0" algn="ctr" rtl="0">
              <a:spcBef>
                <a:spcPts val="0"/>
              </a:spcBef>
              <a:spcAft>
                <a:spcPts val="0"/>
              </a:spcAft>
              <a:buClr>
                <a:schemeClr val="dk1"/>
              </a:buClr>
              <a:buSzPts val="800"/>
              <a:buFont typeface="Arial"/>
              <a:buNone/>
            </a:pPr>
            <a:endParaRPr sz="1700">
              <a:solidFill>
                <a:schemeClr val="lt1"/>
              </a:solidFill>
              <a:latin typeface="DFKai-SB"/>
              <a:ea typeface="DFKai-SB"/>
              <a:cs typeface="DFKai-SB"/>
              <a:sym typeface="DFKai-SB"/>
            </a:endParaRPr>
          </a:p>
          <a:p>
            <a:pPr marL="0" lvl="0" indent="0" algn="ctr" rtl="0">
              <a:spcBef>
                <a:spcPts val="0"/>
              </a:spcBef>
              <a:spcAft>
                <a:spcPts val="0"/>
              </a:spcAft>
              <a:buClr>
                <a:schemeClr val="dk1"/>
              </a:buClr>
              <a:buSzPts val="800"/>
              <a:buFont typeface="Arial"/>
              <a:buNone/>
            </a:pPr>
            <a:r>
              <a:rPr lang="zh-TW" sz="2600">
                <a:solidFill>
                  <a:schemeClr val="lt1"/>
                </a:solidFill>
                <a:latin typeface="DFKai-SB"/>
                <a:ea typeface="DFKai-SB"/>
                <a:cs typeface="DFKai-SB"/>
                <a:sym typeface="DFKai-SB"/>
              </a:rPr>
              <a:t>一般使用者</a:t>
            </a:r>
            <a:endParaRPr sz="2600">
              <a:solidFill>
                <a:schemeClr val="lt1"/>
              </a:solidFill>
              <a:latin typeface="DFKai-SB"/>
              <a:ea typeface="DFKai-SB"/>
              <a:cs typeface="DFKai-SB"/>
              <a:sym typeface="DFKai-SB"/>
            </a:endParaRPr>
          </a:p>
          <a:p>
            <a:pPr marL="0" lvl="0" indent="0" algn="ctr" rtl="0">
              <a:spcBef>
                <a:spcPts val="0"/>
              </a:spcBef>
              <a:spcAft>
                <a:spcPts val="0"/>
              </a:spcAft>
              <a:buClr>
                <a:schemeClr val="dk1"/>
              </a:buClr>
              <a:buSzPts val="800"/>
              <a:buFont typeface="Arial"/>
              <a:buNone/>
            </a:pPr>
            <a:endParaRPr sz="2600">
              <a:solidFill>
                <a:schemeClr val="lt1"/>
              </a:solidFill>
              <a:latin typeface="DFKai-SB"/>
              <a:ea typeface="DFKai-SB"/>
              <a:cs typeface="DFKai-SB"/>
              <a:sym typeface="DFKai-SB"/>
            </a:endParaRPr>
          </a:p>
          <a:p>
            <a:pPr marL="0" lvl="0" indent="0" algn="ctr" rtl="0">
              <a:spcBef>
                <a:spcPts val="0"/>
              </a:spcBef>
              <a:spcAft>
                <a:spcPts val="0"/>
              </a:spcAft>
              <a:buClr>
                <a:schemeClr val="dk1"/>
              </a:buClr>
              <a:buSzPts val="800"/>
              <a:buFont typeface="Arial"/>
              <a:buNone/>
            </a:pPr>
            <a:r>
              <a:rPr lang="zh-TW" sz="2600">
                <a:solidFill>
                  <a:schemeClr val="lt1"/>
                </a:solidFill>
                <a:latin typeface="DFKai-SB"/>
                <a:ea typeface="DFKai-SB"/>
                <a:cs typeface="DFKai-SB"/>
                <a:sym typeface="DFKai-SB"/>
              </a:rPr>
              <a:t>學生/教師</a:t>
            </a:r>
            <a:endParaRPr sz="2600">
              <a:solidFill>
                <a:schemeClr val="lt1"/>
              </a:solidFill>
              <a:latin typeface="DFKai-SB"/>
              <a:ea typeface="DFKai-SB"/>
              <a:cs typeface="DFKai-SB"/>
              <a:sym typeface="DFKai-SB"/>
            </a:endParaRPr>
          </a:p>
          <a:p>
            <a:pPr marL="0" marR="0" lvl="0" indent="0" algn="ctr" rtl="0">
              <a:spcBef>
                <a:spcPts val="0"/>
              </a:spcBef>
              <a:spcAft>
                <a:spcPts val="0"/>
              </a:spcAft>
              <a:buNone/>
            </a:pPr>
            <a:endParaRPr sz="1000" b="1">
              <a:solidFill>
                <a:schemeClr val="lt1"/>
              </a:solidFill>
              <a:latin typeface="Open Sans"/>
              <a:ea typeface="Open Sans"/>
              <a:cs typeface="Open Sans"/>
              <a:sym typeface="Open Sans"/>
            </a:endParaRPr>
          </a:p>
        </p:txBody>
      </p:sp>
      <p:sp>
        <p:nvSpPr>
          <p:cNvPr id="151" name="Google Shape;151;p17"/>
          <p:cNvSpPr/>
          <p:nvPr/>
        </p:nvSpPr>
        <p:spPr>
          <a:xfrm>
            <a:off x="412050" y="1410536"/>
            <a:ext cx="294000" cy="294000"/>
          </a:xfrm>
          <a:prstGeom prst="ellipse">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sp>
        <p:nvSpPr>
          <p:cNvPr id="152" name="Google Shape;152;p17"/>
          <p:cNvSpPr txBox="1"/>
          <p:nvPr/>
        </p:nvSpPr>
        <p:spPr>
          <a:xfrm>
            <a:off x="412050" y="1999950"/>
            <a:ext cx="3195600" cy="1300500"/>
          </a:xfrm>
          <a:prstGeom prst="rect">
            <a:avLst/>
          </a:prstGeom>
          <a:noFill/>
          <a:ln>
            <a:noFill/>
          </a:ln>
        </p:spPr>
        <p:txBody>
          <a:bodyPr spcFirstLastPara="1" wrap="square" lIns="68575" tIns="34275" rIns="68575" bIns="34275" anchor="t" anchorCtr="0">
            <a:spAutoFit/>
          </a:bodyPr>
          <a:lstStyle/>
          <a:p>
            <a:pPr marL="361950" lvl="0" indent="-285750" algn="l" rtl="0">
              <a:spcBef>
                <a:spcPts val="0"/>
              </a:spcBef>
              <a:spcAft>
                <a:spcPts val="0"/>
              </a:spcAft>
              <a:buClr>
                <a:schemeClr val="dk1"/>
              </a:buClr>
              <a:buSzPts val="1600"/>
              <a:buFont typeface="Arial" panose="020B0604020202020204" pitchFamily="34" charset="0"/>
              <a:buChar char="•"/>
            </a:pPr>
            <a:r>
              <a:rPr lang="zh-TW" sz="1600" dirty="0">
                <a:solidFill>
                  <a:schemeClr val="dk1"/>
                </a:solidFill>
                <a:latin typeface="DFKai-SB"/>
                <a:ea typeface="DFKai-SB"/>
                <a:cs typeface="DFKai-SB"/>
                <a:sym typeface="DFKai-SB"/>
              </a:rPr>
              <a:t>輸入：日期、時間</a:t>
            </a:r>
            <a:endParaRPr sz="1600" dirty="0">
              <a:solidFill>
                <a:schemeClr val="dk1"/>
              </a:solidFill>
              <a:latin typeface="DFKai-SB"/>
              <a:ea typeface="DFKai-SB"/>
              <a:cs typeface="DFKai-SB"/>
              <a:sym typeface="DFKai-SB"/>
            </a:endParaRPr>
          </a:p>
          <a:p>
            <a:pPr marL="685800" lvl="0" algn="l" rtl="0">
              <a:spcBef>
                <a:spcPts val="0"/>
              </a:spcBef>
              <a:spcAft>
                <a:spcPts val="0"/>
              </a:spcAft>
            </a:pPr>
            <a:r>
              <a:rPr lang="zh-TW" sz="1600" dirty="0">
                <a:solidFill>
                  <a:schemeClr val="dk1"/>
                </a:solidFill>
                <a:latin typeface="DFKai-SB"/>
                <a:ea typeface="DFKai-SB"/>
                <a:cs typeface="DFKai-SB"/>
                <a:sym typeface="DFKai-SB"/>
              </a:rPr>
              <a:t>、設備需求</a:t>
            </a:r>
            <a:endParaRPr sz="1600" dirty="0">
              <a:solidFill>
                <a:schemeClr val="dk1"/>
              </a:solidFill>
              <a:latin typeface="DFKai-SB"/>
              <a:ea typeface="DFKai-SB"/>
              <a:cs typeface="DFKai-SB"/>
              <a:sym typeface="DFKai-SB"/>
            </a:endParaRPr>
          </a:p>
          <a:p>
            <a:pPr marL="361950" lvl="0" indent="-285750" algn="l" rtl="0">
              <a:spcBef>
                <a:spcPts val="0"/>
              </a:spcBef>
              <a:spcAft>
                <a:spcPts val="0"/>
              </a:spcAft>
              <a:buClr>
                <a:schemeClr val="dk1"/>
              </a:buClr>
              <a:buSzPts val="1600"/>
              <a:buFont typeface="Arial" panose="020B0604020202020204" pitchFamily="34" charset="0"/>
              <a:buChar char="•"/>
            </a:pPr>
            <a:r>
              <a:rPr lang="zh-TW" sz="1600" dirty="0">
                <a:solidFill>
                  <a:schemeClr val="dk1"/>
                </a:solidFill>
                <a:latin typeface="DFKai-SB"/>
                <a:ea typeface="DFKai-SB"/>
                <a:cs typeface="DFKai-SB"/>
                <a:sym typeface="DFKai-SB"/>
              </a:rPr>
              <a:t>輸出：可用教室清單、</a:t>
            </a:r>
            <a:endParaRPr sz="1600" dirty="0">
              <a:solidFill>
                <a:schemeClr val="dk1"/>
              </a:solidFill>
              <a:latin typeface="DFKai-SB"/>
              <a:ea typeface="DFKai-SB"/>
              <a:cs typeface="DFKai-SB"/>
              <a:sym typeface="DFKai-SB"/>
            </a:endParaRPr>
          </a:p>
          <a:p>
            <a:pPr marL="342900" lvl="0" algn="l" rtl="0">
              <a:spcBef>
                <a:spcPts val="0"/>
              </a:spcBef>
              <a:spcAft>
                <a:spcPts val="0"/>
              </a:spcAft>
              <a:buClr>
                <a:schemeClr val="dk1"/>
              </a:buClr>
              <a:buSzPts val="800"/>
            </a:pPr>
            <a:r>
              <a:rPr lang="zh-TW" sz="1600" dirty="0">
                <a:solidFill>
                  <a:schemeClr val="dk1"/>
                </a:solidFill>
                <a:latin typeface="DFKai-SB"/>
                <a:ea typeface="DFKai-SB"/>
                <a:cs typeface="DFKai-SB"/>
                <a:sym typeface="DFKai-SB"/>
              </a:rPr>
              <a:t>      人數限制</a:t>
            </a:r>
            <a:endParaRPr sz="1600" dirty="0">
              <a:solidFill>
                <a:schemeClr val="dk1"/>
              </a:solidFill>
              <a:latin typeface="DFKai-SB"/>
              <a:ea typeface="DFKai-SB"/>
              <a:cs typeface="DFKai-SB"/>
              <a:sym typeface="DFKai-SB"/>
            </a:endParaRPr>
          </a:p>
          <a:p>
            <a:pPr marL="285750" marR="0" lvl="0" indent="-285750" algn="l" rtl="0">
              <a:spcBef>
                <a:spcPts val="0"/>
              </a:spcBef>
              <a:spcAft>
                <a:spcPts val="0"/>
              </a:spcAft>
              <a:buFont typeface="Arial" panose="020B0604020202020204" pitchFamily="34" charset="0"/>
              <a:buChar char="•"/>
            </a:pPr>
            <a:endParaRPr sz="1600" dirty="0">
              <a:solidFill>
                <a:schemeClr val="dk1"/>
              </a:solidFill>
              <a:latin typeface="Microsoft Yahei"/>
              <a:ea typeface="Microsoft Yahei"/>
              <a:cs typeface="Microsoft Yahei"/>
              <a:sym typeface="Microsoft Yahei"/>
            </a:endParaRPr>
          </a:p>
        </p:txBody>
      </p:sp>
      <p:sp>
        <p:nvSpPr>
          <p:cNvPr id="153" name="Google Shape;153;p17"/>
          <p:cNvSpPr/>
          <p:nvPr/>
        </p:nvSpPr>
        <p:spPr>
          <a:xfrm>
            <a:off x="412038" y="3268704"/>
            <a:ext cx="294000" cy="294000"/>
          </a:xfrm>
          <a:prstGeom prst="ellipse">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sp>
        <p:nvSpPr>
          <p:cNvPr id="154" name="Google Shape;154;p17"/>
          <p:cNvSpPr txBox="1"/>
          <p:nvPr/>
        </p:nvSpPr>
        <p:spPr>
          <a:xfrm>
            <a:off x="277700" y="3735900"/>
            <a:ext cx="3468300" cy="1718902"/>
          </a:xfrm>
          <a:prstGeom prst="rect">
            <a:avLst/>
          </a:prstGeom>
          <a:noFill/>
          <a:ln>
            <a:noFill/>
          </a:ln>
        </p:spPr>
        <p:txBody>
          <a:bodyPr spcFirstLastPara="1" wrap="square" lIns="68575" tIns="34275" rIns="68575" bIns="34275" anchor="t" anchorCtr="0">
            <a:spAutoFit/>
          </a:bodyPr>
          <a:lstStyle/>
          <a:p>
            <a:pPr marL="361950" lvl="0" indent="-285750" algn="l" rtl="0">
              <a:spcBef>
                <a:spcPts val="0"/>
              </a:spcBef>
              <a:spcAft>
                <a:spcPts val="0"/>
              </a:spcAft>
              <a:buClr>
                <a:schemeClr val="dk1"/>
              </a:buClr>
              <a:buSzPts val="1600"/>
              <a:buFont typeface="Arial" panose="020B0604020202020204" pitchFamily="34" charset="0"/>
              <a:buChar char="•"/>
            </a:pPr>
            <a:r>
              <a:rPr lang="zh-TW" sz="1600" dirty="0">
                <a:solidFill>
                  <a:schemeClr val="dk1"/>
                </a:solidFill>
                <a:latin typeface="DFKai-SB"/>
                <a:ea typeface="DFKai-SB"/>
                <a:cs typeface="DFKai-SB"/>
                <a:sym typeface="DFKai-SB"/>
              </a:rPr>
              <a:t>條件：借用尚未開始</a:t>
            </a:r>
            <a:endParaRPr sz="1600" dirty="0">
              <a:solidFill>
                <a:schemeClr val="dk1"/>
              </a:solidFill>
              <a:latin typeface="DFKai-SB"/>
              <a:ea typeface="DFKai-SB"/>
              <a:cs typeface="DFKai-SB"/>
              <a:sym typeface="DFKai-SB"/>
            </a:endParaRPr>
          </a:p>
          <a:p>
            <a:pPr lvl="0" algn="l" rtl="0">
              <a:spcBef>
                <a:spcPts val="0"/>
              </a:spcBef>
              <a:spcAft>
                <a:spcPts val="0"/>
              </a:spcAft>
              <a:buClr>
                <a:schemeClr val="dk1"/>
              </a:buClr>
              <a:buSzPts val="800"/>
            </a:pPr>
            <a:r>
              <a:rPr lang="zh-TW" sz="1600" dirty="0">
                <a:solidFill>
                  <a:schemeClr val="dk1"/>
                </a:solidFill>
                <a:latin typeface="DFKai-SB"/>
                <a:ea typeface="DFKai-SB"/>
                <a:cs typeface="DFKai-SB"/>
                <a:sym typeface="DFKai-SB"/>
              </a:rPr>
              <a:t> （還未到借用日期與時間）</a:t>
            </a:r>
            <a:endParaRPr sz="1600" dirty="0">
              <a:solidFill>
                <a:schemeClr val="dk1"/>
              </a:solidFill>
              <a:latin typeface="DFKai-SB"/>
              <a:ea typeface="DFKai-SB"/>
              <a:cs typeface="DFKai-SB"/>
              <a:sym typeface="DFKai-SB"/>
            </a:endParaRPr>
          </a:p>
          <a:p>
            <a:pPr marL="336550" lvl="0" indent="-285750" algn="l" rtl="0">
              <a:lnSpc>
                <a:spcPct val="115000"/>
              </a:lnSpc>
              <a:spcBef>
                <a:spcPts val="0"/>
              </a:spcBef>
              <a:spcAft>
                <a:spcPts val="0"/>
              </a:spcAft>
              <a:buClr>
                <a:schemeClr val="dk1"/>
              </a:buClr>
              <a:buSzPts val="2000"/>
              <a:buFont typeface="Arial" panose="020B0604020202020204" pitchFamily="34" charset="0"/>
              <a:buChar char="•"/>
            </a:pPr>
            <a:r>
              <a:rPr lang="zh-TW" sz="1600" dirty="0">
                <a:solidFill>
                  <a:schemeClr val="dk1"/>
                </a:solidFill>
                <a:latin typeface="DFKai-SB"/>
                <a:ea typeface="DFKai-SB"/>
                <a:cs typeface="DFKai-SB"/>
                <a:sym typeface="DFKai-SB"/>
              </a:rPr>
              <a:t>只有申請人本人可以取消尚未開始的借用申請，管理員不可代替使用者取消借用。 </a:t>
            </a:r>
            <a:endParaRPr sz="2000" dirty="0">
              <a:solidFill>
                <a:schemeClr val="dk1"/>
              </a:solidFill>
              <a:latin typeface="DFKai-SB"/>
              <a:ea typeface="DFKai-SB"/>
              <a:cs typeface="DFKai-SB"/>
              <a:sym typeface="DFKai-SB"/>
            </a:endParaRPr>
          </a:p>
          <a:p>
            <a:pPr marL="171450" marR="0" lvl="0" indent="-171450" algn="l" rtl="0">
              <a:spcBef>
                <a:spcPts val="1200"/>
              </a:spcBef>
              <a:spcAft>
                <a:spcPts val="0"/>
              </a:spcAft>
              <a:buFont typeface="Arial" panose="020B0604020202020204" pitchFamily="34" charset="0"/>
              <a:buChar char="•"/>
            </a:pPr>
            <a:endParaRPr sz="1000" dirty="0">
              <a:solidFill>
                <a:schemeClr val="dk1"/>
              </a:solidFill>
              <a:latin typeface="DFKai-SB"/>
              <a:ea typeface="DFKai-SB"/>
              <a:cs typeface="DFKai-SB"/>
              <a:sym typeface="DFKai-SB"/>
            </a:endParaRPr>
          </a:p>
        </p:txBody>
      </p:sp>
      <p:sp>
        <p:nvSpPr>
          <p:cNvPr id="155" name="Google Shape;155;p17"/>
          <p:cNvSpPr/>
          <p:nvPr/>
        </p:nvSpPr>
        <p:spPr>
          <a:xfrm>
            <a:off x="5814456" y="1509836"/>
            <a:ext cx="294000" cy="294000"/>
          </a:xfrm>
          <a:prstGeom prst="ellipse">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sp>
        <p:nvSpPr>
          <p:cNvPr id="156" name="Google Shape;156;p17"/>
          <p:cNvSpPr txBox="1"/>
          <p:nvPr/>
        </p:nvSpPr>
        <p:spPr>
          <a:xfrm>
            <a:off x="6030485" y="2003225"/>
            <a:ext cx="3195600" cy="1546800"/>
          </a:xfrm>
          <a:prstGeom prst="rect">
            <a:avLst/>
          </a:prstGeom>
          <a:noFill/>
          <a:ln>
            <a:noFill/>
          </a:ln>
        </p:spPr>
        <p:txBody>
          <a:bodyPr spcFirstLastPara="1" wrap="square" lIns="68575" tIns="34275" rIns="68575" bIns="34275" anchor="t" anchorCtr="0">
            <a:spAutoFit/>
          </a:bodyPr>
          <a:lstStyle/>
          <a:p>
            <a:pPr marL="361950" lvl="0" indent="-285750" algn="l" rtl="0">
              <a:spcBef>
                <a:spcPts val="0"/>
              </a:spcBef>
              <a:spcAft>
                <a:spcPts val="0"/>
              </a:spcAft>
              <a:buClr>
                <a:schemeClr val="dk1"/>
              </a:buClr>
              <a:buSzPts val="1600"/>
              <a:buFont typeface="Arial" panose="020B0604020202020204" pitchFamily="34" charset="0"/>
              <a:buChar char="•"/>
            </a:pPr>
            <a:r>
              <a:rPr lang="zh-TW" sz="1600" dirty="0">
                <a:solidFill>
                  <a:schemeClr val="dk1"/>
                </a:solidFill>
                <a:latin typeface="DFKai-SB"/>
                <a:ea typeface="DFKai-SB"/>
                <a:cs typeface="DFKai-SB"/>
                <a:sym typeface="DFKai-SB"/>
              </a:rPr>
              <a:t>輸入：時間、教室代號、申請人資訊（姓名、電話等）</a:t>
            </a:r>
            <a:endParaRPr sz="1600" dirty="0">
              <a:solidFill>
                <a:schemeClr val="dk1"/>
              </a:solidFill>
              <a:latin typeface="DFKai-SB"/>
              <a:ea typeface="DFKai-SB"/>
              <a:cs typeface="DFKai-SB"/>
              <a:sym typeface="DFKai-SB"/>
            </a:endParaRPr>
          </a:p>
          <a:p>
            <a:pPr marL="342900" lvl="0" algn="l" rtl="0">
              <a:spcBef>
                <a:spcPts val="0"/>
              </a:spcBef>
              <a:spcAft>
                <a:spcPts val="0"/>
              </a:spcAft>
              <a:buClr>
                <a:schemeClr val="dk1"/>
              </a:buClr>
              <a:buSzPts val="800"/>
            </a:pPr>
            <a:r>
              <a:rPr lang="zh-TW" sz="1600" dirty="0">
                <a:solidFill>
                  <a:schemeClr val="dk1"/>
                </a:solidFill>
                <a:latin typeface="DFKai-SB"/>
                <a:ea typeface="DFKai-SB"/>
                <a:cs typeface="DFKai-SB"/>
                <a:sym typeface="DFKai-SB"/>
              </a:rPr>
              <a:t>、用途</a:t>
            </a:r>
            <a:endParaRPr sz="1600" dirty="0">
              <a:solidFill>
                <a:schemeClr val="dk1"/>
              </a:solidFill>
              <a:latin typeface="DFKai-SB"/>
              <a:ea typeface="DFKai-SB"/>
              <a:cs typeface="DFKai-SB"/>
              <a:sym typeface="DFKai-SB"/>
            </a:endParaRPr>
          </a:p>
          <a:p>
            <a:pPr marL="361950" lvl="0" indent="-285750" algn="l" rtl="0">
              <a:spcBef>
                <a:spcPts val="0"/>
              </a:spcBef>
              <a:spcAft>
                <a:spcPts val="0"/>
              </a:spcAft>
              <a:buClr>
                <a:schemeClr val="dk1"/>
              </a:buClr>
              <a:buSzPts val="1600"/>
              <a:buFont typeface="Arial" panose="020B0604020202020204" pitchFamily="34" charset="0"/>
              <a:buChar char="•"/>
            </a:pPr>
            <a:r>
              <a:rPr lang="zh-TW" sz="1600" dirty="0">
                <a:solidFill>
                  <a:schemeClr val="dk1"/>
                </a:solidFill>
                <a:latin typeface="DFKai-SB"/>
                <a:ea typeface="DFKai-SB"/>
                <a:cs typeface="DFKai-SB"/>
                <a:sym typeface="DFKai-SB"/>
              </a:rPr>
              <a:t>系統自動檢查是否有時間衝突（衝堂）</a:t>
            </a:r>
            <a:endParaRPr sz="1600" dirty="0">
              <a:solidFill>
                <a:schemeClr val="dk1"/>
              </a:solidFill>
              <a:latin typeface="DFKai-SB"/>
              <a:ea typeface="DFKai-SB"/>
              <a:cs typeface="DFKai-SB"/>
              <a:sym typeface="DFKai-SB"/>
            </a:endParaRPr>
          </a:p>
          <a:p>
            <a:pPr marL="285750" marR="0" lvl="0" indent="-285750" algn="r" rtl="0">
              <a:spcBef>
                <a:spcPts val="0"/>
              </a:spcBef>
              <a:spcAft>
                <a:spcPts val="0"/>
              </a:spcAft>
              <a:buFont typeface="Arial" panose="020B0604020202020204" pitchFamily="34" charset="0"/>
              <a:buChar char="•"/>
            </a:pPr>
            <a:endParaRPr sz="1600" dirty="0">
              <a:solidFill>
                <a:schemeClr val="dk1"/>
              </a:solidFill>
              <a:latin typeface="Microsoft Yahei"/>
              <a:ea typeface="Microsoft Yahei"/>
              <a:cs typeface="Microsoft Yahei"/>
              <a:sym typeface="Microsoft Yahei"/>
            </a:endParaRPr>
          </a:p>
        </p:txBody>
      </p:sp>
      <p:sp>
        <p:nvSpPr>
          <p:cNvPr id="157" name="Google Shape;157;p17"/>
          <p:cNvSpPr/>
          <p:nvPr/>
        </p:nvSpPr>
        <p:spPr>
          <a:xfrm>
            <a:off x="5814456" y="3565876"/>
            <a:ext cx="294000" cy="294000"/>
          </a:xfrm>
          <a:prstGeom prst="ellipse">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sp>
        <p:nvSpPr>
          <p:cNvPr id="158" name="Google Shape;158;p17"/>
          <p:cNvSpPr txBox="1"/>
          <p:nvPr/>
        </p:nvSpPr>
        <p:spPr>
          <a:xfrm>
            <a:off x="6052788" y="4047031"/>
            <a:ext cx="2765400" cy="715800"/>
          </a:xfrm>
          <a:prstGeom prst="rect">
            <a:avLst/>
          </a:prstGeom>
          <a:noFill/>
          <a:ln>
            <a:noFill/>
          </a:ln>
        </p:spPr>
        <p:txBody>
          <a:bodyPr spcFirstLastPara="1" wrap="square" lIns="68575" tIns="34275" rIns="68575" bIns="34275" anchor="t" anchorCtr="0">
            <a:spAutoFit/>
          </a:bodyPr>
          <a:lstStyle/>
          <a:p>
            <a:pPr marL="361950" lvl="0" indent="-285750" algn="l" rtl="0">
              <a:spcBef>
                <a:spcPts val="0"/>
              </a:spcBef>
              <a:spcAft>
                <a:spcPts val="0"/>
              </a:spcAft>
              <a:buClr>
                <a:schemeClr val="dk1"/>
              </a:buClr>
              <a:buSzPts val="1600"/>
              <a:buFont typeface="Arial" panose="020B0604020202020204" pitchFamily="34" charset="0"/>
              <a:buChar char="•"/>
            </a:pPr>
            <a:r>
              <a:rPr lang="zh-TW" sz="1600" dirty="0">
                <a:solidFill>
                  <a:schemeClr val="dk1"/>
                </a:solidFill>
                <a:latin typeface="DFKai-SB"/>
                <a:ea typeface="DFKai-SB"/>
                <a:cs typeface="DFKai-SB"/>
                <a:sym typeface="DFKai-SB"/>
              </a:rPr>
              <a:t>查詢個人或特定教室的</a:t>
            </a:r>
            <a:endParaRPr sz="1600" dirty="0">
              <a:solidFill>
                <a:schemeClr val="dk1"/>
              </a:solidFill>
              <a:latin typeface="DFKai-SB"/>
              <a:ea typeface="DFKai-SB"/>
              <a:cs typeface="DFKai-SB"/>
              <a:sym typeface="DFKai-SB"/>
            </a:endParaRPr>
          </a:p>
          <a:p>
            <a:pPr marL="342900" lvl="0" algn="l" rtl="0">
              <a:spcBef>
                <a:spcPts val="0"/>
              </a:spcBef>
              <a:spcAft>
                <a:spcPts val="0"/>
              </a:spcAft>
              <a:buClr>
                <a:schemeClr val="dk1"/>
              </a:buClr>
              <a:buSzPts val="800"/>
            </a:pPr>
            <a:r>
              <a:rPr lang="zh-TW" sz="1600" dirty="0">
                <a:solidFill>
                  <a:schemeClr val="dk1"/>
                </a:solidFill>
                <a:latin typeface="DFKai-SB"/>
                <a:ea typeface="DFKai-SB"/>
                <a:cs typeface="DFKai-SB"/>
                <a:sym typeface="DFKai-SB"/>
              </a:rPr>
              <a:t>歷史借用紀錄</a:t>
            </a:r>
            <a:endParaRPr sz="1600" dirty="0">
              <a:solidFill>
                <a:schemeClr val="dk1"/>
              </a:solidFill>
              <a:latin typeface="DFKai-SB"/>
              <a:ea typeface="DFKai-SB"/>
              <a:cs typeface="DFKai-SB"/>
              <a:sym typeface="DFKai-SB"/>
            </a:endParaRPr>
          </a:p>
          <a:p>
            <a:pPr marL="171450" marR="0" lvl="0" indent="-171450" algn="r" rtl="0">
              <a:spcBef>
                <a:spcPts val="0"/>
              </a:spcBef>
              <a:spcAft>
                <a:spcPts val="0"/>
              </a:spcAft>
              <a:buFont typeface="Arial" panose="020B0604020202020204" pitchFamily="34" charset="0"/>
              <a:buChar char="•"/>
            </a:pPr>
            <a:endParaRPr sz="1000" dirty="0">
              <a:solidFill>
                <a:schemeClr val="dk1"/>
              </a:solidFill>
              <a:latin typeface="Microsoft Yahei"/>
              <a:ea typeface="Microsoft Yahei"/>
              <a:cs typeface="Microsoft Yahei"/>
              <a:sym typeface="Microsoft Yahei"/>
            </a:endParaRPr>
          </a:p>
        </p:txBody>
      </p:sp>
      <p:sp>
        <p:nvSpPr>
          <p:cNvPr id="159" name="Google Shape;159;p17"/>
          <p:cNvSpPr txBox="1"/>
          <p:nvPr/>
        </p:nvSpPr>
        <p:spPr>
          <a:xfrm>
            <a:off x="674588" y="1315144"/>
            <a:ext cx="1984200" cy="492600"/>
          </a:xfrm>
          <a:prstGeom prst="rect">
            <a:avLst/>
          </a:prstGeom>
          <a:noFill/>
          <a:ln>
            <a:noFill/>
          </a:ln>
        </p:spPr>
        <p:txBody>
          <a:bodyPr spcFirstLastPara="1" wrap="square" lIns="68575" tIns="68575" rIns="68575" bIns="68575" anchor="t" anchorCtr="0">
            <a:spAutoFit/>
          </a:bodyPr>
          <a:lstStyle/>
          <a:p>
            <a:pPr marL="0" lvl="0" indent="0" algn="ctr" rtl="0">
              <a:spcBef>
                <a:spcPts val="0"/>
              </a:spcBef>
              <a:spcAft>
                <a:spcPts val="0"/>
              </a:spcAft>
              <a:buNone/>
            </a:pPr>
            <a:r>
              <a:rPr lang="zh-TW" sz="2300">
                <a:solidFill>
                  <a:schemeClr val="dk1"/>
                </a:solidFill>
                <a:latin typeface="DFKai-SB"/>
                <a:ea typeface="DFKai-SB"/>
                <a:cs typeface="DFKai-SB"/>
                <a:sym typeface="DFKai-SB"/>
              </a:rPr>
              <a:t>1.查詢教室</a:t>
            </a:r>
            <a:endParaRPr sz="2300">
              <a:solidFill>
                <a:schemeClr val="dk1"/>
              </a:solidFill>
              <a:latin typeface="DFKai-SB"/>
              <a:ea typeface="DFKai-SB"/>
              <a:cs typeface="DFKai-SB"/>
              <a:sym typeface="DFKai-SB"/>
            </a:endParaRPr>
          </a:p>
        </p:txBody>
      </p:sp>
      <p:sp>
        <p:nvSpPr>
          <p:cNvPr id="160" name="Google Shape;160;p17"/>
          <p:cNvSpPr txBox="1"/>
          <p:nvPr/>
        </p:nvSpPr>
        <p:spPr>
          <a:xfrm>
            <a:off x="679705" y="3169406"/>
            <a:ext cx="1917300" cy="492600"/>
          </a:xfrm>
          <a:prstGeom prst="rect">
            <a:avLst/>
          </a:prstGeom>
          <a:noFill/>
          <a:ln>
            <a:noFill/>
          </a:ln>
        </p:spPr>
        <p:txBody>
          <a:bodyPr spcFirstLastPara="1" wrap="square" lIns="68575" tIns="68575" rIns="68575" bIns="68575" anchor="t" anchorCtr="0">
            <a:spAutoFit/>
          </a:bodyPr>
          <a:lstStyle/>
          <a:p>
            <a:pPr marL="0" lvl="0" indent="0" algn="ctr" rtl="0">
              <a:spcBef>
                <a:spcPts val="0"/>
              </a:spcBef>
              <a:spcAft>
                <a:spcPts val="0"/>
              </a:spcAft>
              <a:buNone/>
            </a:pPr>
            <a:r>
              <a:rPr lang="zh-TW" sz="2300">
                <a:solidFill>
                  <a:schemeClr val="dk1"/>
                </a:solidFill>
                <a:latin typeface="DFKai-SB"/>
                <a:ea typeface="DFKai-SB"/>
                <a:cs typeface="DFKai-SB"/>
                <a:sym typeface="DFKai-SB"/>
              </a:rPr>
              <a:t>3.取消借用</a:t>
            </a:r>
            <a:endParaRPr sz="2300">
              <a:solidFill>
                <a:schemeClr val="dk1"/>
              </a:solidFill>
              <a:latin typeface="DFKai-SB"/>
              <a:ea typeface="DFKai-SB"/>
              <a:cs typeface="DFKai-SB"/>
              <a:sym typeface="DFKai-SB"/>
            </a:endParaRPr>
          </a:p>
        </p:txBody>
      </p:sp>
      <p:sp>
        <p:nvSpPr>
          <p:cNvPr id="161" name="Google Shape;161;p17"/>
          <p:cNvSpPr txBox="1"/>
          <p:nvPr/>
        </p:nvSpPr>
        <p:spPr>
          <a:xfrm>
            <a:off x="6112694" y="1410519"/>
            <a:ext cx="2250000" cy="492600"/>
          </a:xfrm>
          <a:prstGeom prst="rect">
            <a:avLst/>
          </a:prstGeom>
          <a:noFill/>
          <a:ln>
            <a:noFill/>
          </a:ln>
        </p:spPr>
        <p:txBody>
          <a:bodyPr spcFirstLastPara="1" wrap="square" lIns="68575" tIns="68575" rIns="68575" bIns="68575" anchor="t" anchorCtr="0">
            <a:spAutoFit/>
          </a:bodyPr>
          <a:lstStyle/>
          <a:p>
            <a:pPr marL="0" lvl="0" indent="0" algn="ctr" rtl="0">
              <a:spcBef>
                <a:spcPts val="0"/>
              </a:spcBef>
              <a:spcAft>
                <a:spcPts val="0"/>
              </a:spcAft>
              <a:buNone/>
            </a:pPr>
            <a:r>
              <a:rPr lang="zh-TW" sz="2300">
                <a:solidFill>
                  <a:schemeClr val="dk1"/>
                </a:solidFill>
                <a:latin typeface="DFKai-SB"/>
                <a:ea typeface="DFKai-SB"/>
                <a:cs typeface="DFKai-SB"/>
                <a:sym typeface="DFKai-SB"/>
              </a:rPr>
              <a:t>2.申請借用教室</a:t>
            </a:r>
            <a:endParaRPr sz="2300">
              <a:solidFill>
                <a:schemeClr val="dk1"/>
              </a:solidFill>
              <a:latin typeface="DFKai-SB"/>
              <a:ea typeface="DFKai-SB"/>
              <a:cs typeface="DFKai-SB"/>
              <a:sym typeface="DFKai-SB"/>
            </a:endParaRPr>
          </a:p>
        </p:txBody>
      </p:sp>
      <p:sp>
        <p:nvSpPr>
          <p:cNvPr id="162" name="Google Shape;162;p17"/>
          <p:cNvSpPr txBox="1"/>
          <p:nvPr/>
        </p:nvSpPr>
        <p:spPr>
          <a:xfrm>
            <a:off x="6310525" y="3466569"/>
            <a:ext cx="2250000" cy="492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zh-TW" sz="2300">
                <a:solidFill>
                  <a:schemeClr val="dk1"/>
                </a:solidFill>
                <a:latin typeface="DFKai-SB"/>
                <a:ea typeface="DFKai-SB"/>
                <a:cs typeface="DFKai-SB"/>
                <a:sym typeface="DFKai-SB"/>
              </a:rPr>
              <a:t>4.查看借用紀錄</a:t>
            </a:r>
            <a:endParaRPr sz="2300">
              <a:solidFill>
                <a:schemeClr val="dk1"/>
              </a:solidFill>
              <a:latin typeface="DFKai-SB"/>
              <a:ea typeface="DFKai-SB"/>
              <a:cs typeface="DFKai-SB"/>
              <a:sym typeface="DFKai-SB"/>
            </a:endParaRPr>
          </a:p>
        </p:txBody>
      </p:sp>
      <p:sp>
        <p:nvSpPr>
          <p:cNvPr id="163" name="Google Shape;16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grpSp>
        <p:nvGrpSpPr>
          <p:cNvPr id="169" name="Google Shape;169;p18"/>
          <p:cNvGrpSpPr/>
          <p:nvPr/>
        </p:nvGrpSpPr>
        <p:grpSpPr>
          <a:xfrm>
            <a:off x="382271" y="221981"/>
            <a:ext cx="2568885" cy="466773"/>
            <a:chOff x="956666" y="3447854"/>
            <a:chExt cx="3425180" cy="622364"/>
          </a:xfrm>
        </p:grpSpPr>
        <p:sp>
          <p:nvSpPr>
            <p:cNvPr id="170" name="Google Shape;170;p18"/>
            <p:cNvSpPr txBox="1"/>
            <p:nvPr/>
          </p:nvSpPr>
          <p:spPr>
            <a:xfrm>
              <a:off x="1581046" y="3447854"/>
              <a:ext cx="28008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使用案例</a:t>
              </a:r>
              <a:endParaRPr sz="2300" b="1">
                <a:solidFill>
                  <a:schemeClr val="dk1"/>
                </a:solidFill>
                <a:latin typeface="DFKai-SB"/>
                <a:ea typeface="DFKai-SB"/>
                <a:cs typeface="DFKai-SB"/>
                <a:sym typeface="DFKai-SB"/>
              </a:endParaRPr>
            </a:p>
          </p:txBody>
        </p:sp>
        <p:sp>
          <p:nvSpPr>
            <p:cNvPr id="171" name="Google Shape;171;p18"/>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Microsoft Yahei"/>
                <a:ea typeface="Microsoft Yahei"/>
                <a:cs typeface="Microsoft Yahei"/>
                <a:sym typeface="Microsoft Yahei"/>
              </a:endParaRPr>
            </a:p>
          </p:txBody>
        </p:sp>
        <p:sp>
          <p:nvSpPr>
            <p:cNvPr id="172" name="Google Shape;172;p18"/>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Microsoft Yahei"/>
                <a:ea typeface="Microsoft Yahei"/>
                <a:cs typeface="Microsoft Yahei"/>
                <a:sym typeface="Microsoft Yahei"/>
              </a:endParaRPr>
            </a:p>
          </p:txBody>
        </p:sp>
      </p:grpSp>
      <p:sp>
        <p:nvSpPr>
          <p:cNvPr id="173" name="Google Shape;173;p18"/>
          <p:cNvSpPr/>
          <p:nvPr/>
        </p:nvSpPr>
        <p:spPr>
          <a:xfrm>
            <a:off x="3047381" y="1502646"/>
            <a:ext cx="2767075" cy="2742033"/>
          </a:xfrm>
          <a:custGeom>
            <a:avLst/>
            <a:gdLst/>
            <a:ahLst/>
            <a:cxnLst/>
            <a:rect l="l" t="t" r="r" b="b"/>
            <a:pathLst>
              <a:path w="2504140" h="2504140" extrusionOk="0">
                <a:moveTo>
                  <a:pt x="0" y="1252070"/>
                </a:moveTo>
                <a:cubicBezTo>
                  <a:pt x="0" y="560571"/>
                  <a:pt x="560571" y="0"/>
                  <a:pt x="1252070" y="0"/>
                </a:cubicBezTo>
                <a:cubicBezTo>
                  <a:pt x="1943569" y="0"/>
                  <a:pt x="2504140" y="560571"/>
                  <a:pt x="2504140" y="1252070"/>
                </a:cubicBezTo>
                <a:cubicBezTo>
                  <a:pt x="2504140" y="1943569"/>
                  <a:pt x="1943569" y="2504140"/>
                  <a:pt x="1252070" y="2504140"/>
                </a:cubicBezTo>
                <a:cubicBezTo>
                  <a:pt x="560571" y="2504140"/>
                  <a:pt x="0" y="1943569"/>
                  <a:pt x="0" y="1252070"/>
                </a:cubicBezTo>
                <a:close/>
              </a:path>
            </a:pathLst>
          </a:custGeom>
          <a:solidFill>
            <a:srgbClr val="113F4E"/>
          </a:solidFill>
          <a:ln w="7150" cap="flat" cmpd="sng">
            <a:solidFill>
              <a:schemeClr val="lt1"/>
            </a:solidFill>
            <a:prstDash val="solid"/>
            <a:miter lim="8000"/>
            <a:headEnd type="none" w="sm" len="sm"/>
            <a:tailEnd type="none" w="sm" len="sm"/>
          </a:ln>
        </p:spPr>
        <p:txBody>
          <a:bodyPr spcFirstLastPara="1" wrap="square" lIns="328375" tIns="328375" rIns="328375" bIns="328375" anchor="ctr" anchorCtr="0">
            <a:noAutofit/>
          </a:bodyPr>
          <a:lstStyle/>
          <a:p>
            <a:pPr marL="0" marR="0" lvl="0" indent="0" algn="ctr" rtl="0">
              <a:lnSpc>
                <a:spcPct val="90000"/>
              </a:lnSpc>
              <a:spcBef>
                <a:spcPts val="0"/>
              </a:spcBef>
              <a:spcAft>
                <a:spcPts val="0"/>
              </a:spcAft>
              <a:buNone/>
            </a:pPr>
            <a:endParaRPr sz="4200">
              <a:solidFill>
                <a:schemeClr val="dk1"/>
              </a:solidFill>
              <a:latin typeface="Microsoft Yahei"/>
              <a:ea typeface="Microsoft Yahei"/>
              <a:cs typeface="Microsoft Yahei"/>
              <a:sym typeface="Microsoft Yahei"/>
            </a:endParaRPr>
          </a:p>
        </p:txBody>
      </p:sp>
      <p:sp>
        <p:nvSpPr>
          <p:cNvPr id="174" name="Google Shape;174;p18"/>
          <p:cNvSpPr txBox="1"/>
          <p:nvPr/>
        </p:nvSpPr>
        <p:spPr>
          <a:xfrm>
            <a:off x="3465796" y="1973213"/>
            <a:ext cx="1855500" cy="1793100"/>
          </a:xfrm>
          <a:prstGeom prst="rect">
            <a:avLst/>
          </a:prstGeom>
          <a:solidFill>
            <a:srgbClr val="113F4E"/>
          </a:solidFill>
          <a:ln>
            <a:noFill/>
          </a:ln>
        </p:spPr>
        <p:txBody>
          <a:bodyPr spcFirstLastPara="1" wrap="square" lIns="68575" tIns="34275" rIns="68575" bIns="34275" anchor="t" anchorCtr="0">
            <a:spAutoFit/>
          </a:bodyPr>
          <a:lstStyle/>
          <a:p>
            <a:pPr marL="342900" lvl="0" indent="0" algn="ctr" rtl="0">
              <a:spcBef>
                <a:spcPts val="0"/>
              </a:spcBef>
              <a:spcAft>
                <a:spcPts val="0"/>
              </a:spcAft>
              <a:buClr>
                <a:schemeClr val="dk1"/>
              </a:buClr>
              <a:buSzPts val="800"/>
              <a:buFont typeface="Arial"/>
              <a:buNone/>
            </a:pPr>
            <a:endParaRPr sz="1700">
              <a:solidFill>
                <a:schemeClr val="lt1"/>
              </a:solidFill>
              <a:latin typeface="DFKai-SB"/>
              <a:ea typeface="DFKai-SB"/>
              <a:cs typeface="DFKai-SB"/>
              <a:sym typeface="DFKai-SB"/>
            </a:endParaRPr>
          </a:p>
          <a:p>
            <a:pPr marL="0" lvl="0" indent="0" algn="ctr" rtl="0">
              <a:spcBef>
                <a:spcPts val="0"/>
              </a:spcBef>
              <a:spcAft>
                <a:spcPts val="0"/>
              </a:spcAft>
              <a:buClr>
                <a:schemeClr val="dk1"/>
              </a:buClr>
              <a:buSzPts val="800"/>
              <a:buFont typeface="Arial"/>
              <a:buNone/>
            </a:pPr>
            <a:r>
              <a:rPr lang="zh-TW" sz="2600">
                <a:solidFill>
                  <a:schemeClr val="lt1"/>
                </a:solidFill>
                <a:latin typeface="DFKai-SB"/>
                <a:ea typeface="DFKai-SB"/>
                <a:cs typeface="DFKai-SB"/>
                <a:sym typeface="DFKai-SB"/>
              </a:rPr>
              <a:t>管理者</a:t>
            </a:r>
            <a:endParaRPr sz="2600">
              <a:solidFill>
                <a:schemeClr val="lt1"/>
              </a:solidFill>
              <a:latin typeface="DFKai-SB"/>
              <a:ea typeface="DFKai-SB"/>
              <a:cs typeface="DFKai-SB"/>
              <a:sym typeface="DFKai-SB"/>
            </a:endParaRPr>
          </a:p>
          <a:p>
            <a:pPr marL="0" lvl="0" indent="0" algn="l" rtl="0">
              <a:spcBef>
                <a:spcPts val="0"/>
              </a:spcBef>
              <a:spcAft>
                <a:spcPts val="0"/>
              </a:spcAft>
              <a:buSzPts val="800"/>
              <a:buNone/>
            </a:pPr>
            <a:r>
              <a:rPr lang="zh-TW" sz="2600">
                <a:solidFill>
                  <a:schemeClr val="lt1"/>
                </a:solidFill>
                <a:latin typeface="DFKai-SB"/>
                <a:ea typeface="DFKai-SB"/>
                <a:cs typeface="DFKai-SB"/>
                <a:sym typeface="DFKai-SB"/>
              </a:rPr>
              <a:t> </a:t>
            </a:r>
            <a:endParaRPr sz="2600">
              <a:solidFill>
                <a:schemeClr val="lt1"/>
              </a:solidFill>
              <a:latin typeface="DFKai-SB"/>
              <a:ea typeface="DFKai-SB"/>
              <a:cs typeface="DFKai-SB"/>
              <a:sym typeface="DFKai-SB"/>
            </a:endParaRPr>
          </a:p>
          <a:p>
            <a:pPr marL="0" lvl="0" indent="0" algn="l" rtl="0">
              <a:spcBef>
                <a:spcPts val="0"/>
              </a:spcBef>
              <a:spcAft>
                <a:spcPts val="0"/>
              </a:spcAft>
              <a:buClr>
                <a:schemeClr val="dk1"/>
              </a:buClr>
              <a:buSzPts val="800"/>
              <a:buFont typeface="Arial"/>
              <a:buNone/>
            </a:pPr>
            <a:r>
              <a:rPr lang="zh-TW" sz="2600">
                <a:solidFill>
                  <a:schemeClr val="lt1"/>
                </a:solidFill>
                <a:latin typeface="DFKai-SB"/>
                <a:ea typeface="DFKai-SB"/>
                <a:cs typeface="DFKai-SB"/>
                <a:sym typeface="DFKai-SB"/>
              </a:rPr>
              <a:t>  (Admin)</a:t>
            </a:r>
            <a:endParaRPr sz="2600">
              <a:solidFill>
                <a:schemeClr val="lt1"/>
              </a:solidFill>
              <a:latin typeface="DFKai-SB"/>
              <a:ea typeface="DFKai-SB"/>
              <a:cs typeface="DFKai-SB"/>
              <a:sym typeface="DFKai-SB"/>
            </a:endParaRPr>
          </a:p>
          <a:p>
            <a:pPr marL="0" marR="0" lvl="0" indent="0" algn="ctr" rtl="0">
              <a:spcBef>
                <a:spcPts val="0"/>
              </a:spcBef>
              <a:spcAft>
                <a:spcPts val="0"/>
              </a:spcAft>
              <a:buNone/>
            </a:pPr>
            <a:endParaRPr sz="1700">
              <a:solidFill>
                <a:schemeClr val="lt1"/>
              </a:solidFill>
              <a:latin typeface="DFKai-SB"/>
              <a:ea typeface="DFKai-SB"/>
              <a:cs typeface="DFKai-SB"/>
              <a:sym typeface="DFKai-SB"/>
            </a:endParaRPr>
          </a:p>
        </p:txBody>
      </p:sp>
      <p:sp>
        <p:nvSpPr>
          <p:cNvPr id="175" name="Google Shape;175;p18"/>
          <p:cNvSpPr/>
          <p:nvPr/>
        </p:nvSpPr>
        <p:spPr>
          <a:xfrm>
            <a:off x="335981" y="1848911"/>
            <a:ext cx="294000" cy="294000"/>
          </a:xfrm>
          <a:prstGeom prst="ellipse">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sp>
        <p:nvSpPr>
          <p:cNvPr id="176" name="Google Shape;176;p18"/>
          <p:cNvSpPr txBox="1"/>
          <p:nvPr/>
        </p:nvSpPr>
        <p:spPr>
          <a:xfrm>
            <a:off x="478556" y="2358806"/>
            <a:ext cx="2568900" cy="2423710"/>
          </a:xfrm>
          <a:prstGeom prst="rect">
            <a:avLst/>
          </a:prstGeom>
          <a:noFill/>
          <a:ln>
            <a:noFill/>
          </a:ln>
        </p:spPr>
        <p:txBody>
          <a:bodyPr spcFirstLastPara="1" wrap="square" lIns="68575" tIns="34275" rIns="68575" bIns="34275" anchor="t" anchorCtr="0">
            <a:spAutoFit/>
          </a:bodyPr>
          <a:lstStyle/>
          <a:p>
            <a:pPr lvl="0" algn="l" rtl="0">
              <a:lnSpc>
                <a:spcPct val="150000"/>
              </a:lnSpc>
              <a:spcBef>
                <a:spcPts val="0"/>
              </a:spcBef>
              <a:spcAft>
                <a:spcPts val="0"/>
              </a:spcAft>
            </a:pPr>
            <a:r>
              <a:rPr lang="zh-TW" sz="1700" dirty="0">
                <a:solidFill>
                  <a:schemeClr val="dk1"/>
                </a:solidFill>
                <a:latin typeface="DFKai-SB"/>
                <a:ea typeface="DFKai-SB"/>
                <a:cs typeface="DFKai-SB"/>
                <a:sym typeface="DFKai-SB"/>
              </a:rPr>
              <a:t>狀態流程：</a:t>
            </a:r>
            <a:endParaRPr sz="1700" dirty="0">
              <a:solidFill>
                <a:schemeClr val="dk1"/>
              </a:solidFill>
              <a:latin typeface="DFKai-SB"/>
              <a:ea typeface="DFKai-SB"/>
              <a:cs typeface="DFKai-SB"/>
              <a:sym typeface="DFKai-SB"/>
            </a:endParaRPr>
          </a:p>
          <a:p>
            <a:pPr marL="355600" lvl="0" indent="-285750" algn="l" rtl="0">
              <a:lnSpc>
                <a:spcPct val="150000"/>
              </a:lnSpc>
              <a:spcBef>
                <a:spcPts val="0"/>
              </a:spcBef>
              <a:spcAft>
                <a:spcPts val="0"/>
              </a:spcAft>
              <a:buClr>
                <a:schemeClr val="dk1"/>
              </a:buClr>
              <a:buSzPts val="1700"/>
              <a:buFont typeface="Arial" panose="020B0604020202020204" pitchFamily="34" charset="0"/>
              <a:buChar char="•"/>
            </a:pPr>
            <a:r>
              <a:rPr lang="zh-TW" sz="1700" dirty="0">
                <a:solidFill>
                  <a:schemeClr val="dk1"/>
                </a:solidFill>
                <a:latin typeface="Times New Roman"/>
                <a:ea typeface="Times New Roman"/>
                <a:cs typeface="Times New Roman"/>
                <a:sym typeface="Times New Roman"/>
              </a:rPr>
              <a:t>Pending</a:t>
            </a:r>
            <a:r>
              <a:rPr lang="zh-TW" sz="1700" dirty="0">
                <a:solidFill>
                  <a:schemeClr val="dk1"/>
                </a:solidFill>
                <a:latin typeface="DFKai-SB"/>
                <a:ea typeface="DFKai-SB"/>
                <a:cs typeface="DFKai-SB"/>
                <a:sym typeface="DFKai-SB"/>
              </a:rPr>
              <a:t>（審核中）</a:t>
            </a:r>
            <a:endParaRPr sz="1700" dirty="0">
              <a:solidFill>
                <a:schemeClr val="dk1"/>
              </a:solidFill>
              <a:latin typeface="DFKai-SB"/>
              <a:ea typeface="DFKai-SB"/>
              <a:cs typeface="DFKai-SB"/>
              <a:sym typeface="DFKai-SB"/>
            </a:endParaRPr>
          </a:p>
          <a:p>
            <a:pPr marL="355600" lvl="0" indent="-285750" algn="l" rtl="0">
              <a:lnSpc>
                <a:spcPct val="150000"/>
              </a:lnSpc>
              <a:spcBef>
                <a:spcPts val="0"/>
              </a:spcBef>
              <a:spcAft>
                <a:spcPts val="0"/>
              </a:spcAft>
              <a:buClr>
                <a:schemeClr val="dk1"/>
              </a:buClr>
              <a:buSzPts val="1700"/>
              <a:buFont typeface="Arial" panose="020B0604020202020204" pitchFamily="34" charset="0"/>
              <a:buChar char="•"/>
            </a:pPr>
            <a:r>
              <a:rPr lang="zh-TW" sz="1700" dirty="0">
                <a:solidFill>
                  <a:schemeClr val="dk1"/>
                </a:solidFill>
                <a:latin typeface="Times New Roman"/>
                <a:ea typeface="Times New Roman"/>
                <a:cs typeface="Times New Roman"/>
                <a:sym typeface="Times New Roman"/>
              </a:rPr>
              <a:t>Approved</a:t>
            </a:r>
            <a:r>
              <a:rPr lang="zh-TW" sz="1700" dirty="0">
                <a:solidFill>
                  <a:schemeClr val="dk1"/>
                </a:solidFill>
                <a:latin typeface="DFKai-SB"/>
                <a:ea typeface="DFKai-SB"/>
                <a:cs typeface="DFKai-SB"/>
                <a:sym typeface="DFKai-SB"/>
              </a:rPr>
              <a:t>（核准）</a:t>
            </a:r>
            <a:endParaRPr sz="1700" dirty="0">
              <a:solidFill>
                <a:schemeClr val="dk1"/>
              </a:solidFill>
              <a:latin typeface="DFKai-SB"/>
              <a:ea typeface="DFKai-SB"/>
              <a:cs typeface="DFKai-SB"/>
              <a:sym typeface="DFKai-SB"/>
            </a:endParaRPr>
          </a:p>
          <a:p>
            <a:pPr marL="355600" lvl="0" indent="-285750" algn="l" rtl="0">
              <a:lnSpc>
                <a:spcPct val="150000"/>
              </a:lnSpc>
              <a:spcBef>
                <a:spcPts val="0"/>
              </a:spcBef>
              <a:spcAft>
                <a:spcPts val="0"/>
              </a:spcAft>
              <a:buClr>
                <a:schemeClr val="dk1"/>
              </a:buClr>
              <a:buSzPts val="1700"/>
              <a:buFont typeface="Arial" panose="020B0604020202020204" pitchFamily="34" charset="0"/>
              <a:buChar char="•"/>
            </a:pPr>
            <a:r>
              <a:rPr lang="zh-TW" sz="1700" dirty="0">
                <a:solidFill>
                  <a:schemeClr val="dk1"/>
                </a:solidFill>
                <a:latin typeface="Times New Roman"/>
                <a:ea typeface="Times New Roman"/>
                <a:cs typeface="Times New Roman"/>
                <a:sym typeface="Times New Roman"/>
              </a:rPr>
              <a:t>Rejected</a:t>
            </a:r>
            <a:r>
              <a:rPr lang="zh-TW" sz="1700" dirty="0">
                <a:solidFill>
                  <a:schemeClr val="dk1"/>
                </a:solidFill>
                <a:latin typeface="DFKai-SB"/>
                <a:ea typeface="DFKai-SB"/>
                <a:cs typeface="DFKai-SB"/>
                <a:sym typeface="DFKai-SB"/>
              </a:rPr>
              <a:t>（拒絕</a:t>
            </a:r>
            <a:endParaRPr sz="1700" dirty="0">
              <a:solidFill>
                <a:schemeClr val="dk1"/>
              </a:solidFill>
              <a:latin typeface="DFKai-SB"/>
              <a:ea typeface="DFKai-SB"/>
              <a:cs typeface="DFKai-SB"/>
              <a:sym typeface="DFKai-SB"/>
            </a:endParaRPr>
          </a:p>
          <a:p>
            <a:pPr lvl="0" algn="l" rtl="0">
              <a:lnSpc>
                <a:spcPct val="150000"/>
              </a:lnSpc>
              <a:spcBef>
                <a:spcPts val="0"/>
              </a:spcBef>
              <a:spcAft>
                <a:spcPts val="0"/>
              </a:spcAft>
            </a:pPr>
            <a:r>
              <a:rPr lang="zh-TW" sz="1700" dirty="0">
                <a:solidFill>
                  <a:schemeClr val="dk1"/>
                </a:solidFill>
                <a:latin typeface="DFKai-SB"/>
                <a:ea typeface="DFKai-SB"/>
                <a:cs typeface="DFKai-SB"/>
                <a:sym typeface="DFKai-SB"/>
              </a:rPr>
              <a:t>   ，須填寫拒絕原因）</a:t>
            </a:r>
            <a:endParaRPr sz="1700" dirty="0">
              <a:solidFill>
                <a:schemeClr val="dk1"/>
              </a:solidFill>
              <a:latin typeface="DFKai-SB"/>
              <a:ea typeface="DFKai-SB"/>
              <a:cs typeface="DFKai-SB"/>
              <a:sym typeface="DFKai-SB"/>
            </a:endParaRPr>
          </a:p>
          <a:p>
            <a:pPr marL="971550" lvl="0" indent="-285750" algn="l" rtl="0">
              <a:lnSpc>
                <a:spcPct val="150000"/>
              </a:lnSpc>
              <a:spcBef>
                <a:spcPts val="0"/>
              </a:spcBef>
              <a:spcAft>
                <a:spcPts val="0"/>
              </a:spcAft>
              <a:buFont typeface="Arial" panose="020B0604020202020204" pitchFamily="34" charset="0"/>
              <a:buChar char="•"/>
            </a:pPr>
            <a:endParaRPr sz="1700" dirty="0">
              <a:solidFill>
                <a:schemeClr val="dk1"/>
              </a:solidFill>
              <a:latin typeface="DFKai-SB"/>
              <a:ea typeface="DFKai-SB"/>
              <a:cs typeface="DFKai-SB"/>
              <a:sym typeface="DFKai-SB"/>
            </a:endParaRPr>
          </a:p>
        </p:txBody>
      </p:sp>
      <p:sp>
        <p:nvSpPr>
          <p:cNvPr id="177" name="Google Shape;177;p18"/>
          <p:cNvSpPr/>
          <p:nvPr/>
        </p:nvSpPr>
        <p:spPr>
          <a:xfrm>
            <a:off x="5739656" y="1848892"/>
            <a:ext cx="294000" cy="294000"/>
          </a:xfrm>
          <a:prstGeom prst="ellipse">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a:solidFill>
                <a:schemeClr val="dk1"/>
              </a:solidFill>
              <a:latin typeface="Microsoft Yahei"/>
              <a:ea typeface="Microsoft Yahei"/>
              <a:cs typeface="Microsoft Yahei"/>
              <a:sym typeface="Microsoft Yahei"/>
            </a:endParaRPr>
          </a:p>
        </p:txBody>
      </p:sp>
      <p:sp>
        <p:nvSpPr>
          <p:cNvPr id="178" name="Google Shape;178;p18"/>
          <p:cNvSpPr txBox="1"/>
          <p:nvPr/>
        </p:nvSpPr>
        <p:spPr>
          <a:xfrm>
            <a:off x="5934163" y="2671281"/>
            <a:ext cx="3091200" cy="2031295"/>
          </a:xfrm>
          <a:prstGeom prst="rect">
            <a:avLst/>
          </a:prstGeom>
          <a:noFill/>
          <a:ln>
            <a:noFill/>
          </a:ln>
        </p:spPr>
        <p:txBody>
          <a:bodyPr spcFirstLastPara="1" wrap="square" lIns="68575" tIns="34275" rIns="68575" bIns="34275" anchor="t" anchorCtr="0">
            <a:spAutoFit/>
          </a:bodyPr>
          <a:lstStyle/>
          <a:p>
            <a:pPr marL="355600" lvl="0" indent="-285750" algn="l" rtl="0">
              <a:lnSpc>
                <a:spcPct val="150000"/>
              </a:lnSpc>
              <a:spcBef>
                <a:spcPts val="0"/>
              </a:spcBef>
              <a:spcAft>
                <a:spcPts val="0"/>
              </a:spcAft>
              <a:buClr>
                <a:schemeClr val="dk1"/>
              </a:buClr>
              <a:buSzPts val="1700"/>
              <a:buFont typeface="Arial" panose="020B0604020202020204" pitchFamily="34" charset="0"/>
              <a:buChar char="•"/>
            </a:pPr>
            <a:r>
              <a:rPr lang="zh-TW" sz="1700" dirty="0">
                <a:solidFill>
                  <a:schemeClr val="dk1"/>
                </a:solidFill>
                <a:latin typeface="DFKai-SB"/>
                <a:ea typeface="DFKai-SB"/>
                <a:cs typeface="DFKai-SB"/>
                <a:sym typeface="DFKai-SB"/>
              </a:rPr>
              <a:t>新增教室 / 設備</a:t>
            </a:r>
            <a:endParaRPr sz="1700" dirty="0">
              <a:solidFill>
                <a:schemeClr val="dk1"/>
              </a:solidFill>
              <a:latin typeface="DFKai-SB"/>
              <a:ea typeface="DFKai-SB"/>
              <a:cs typeface="DFKai-SB"/>
              <a:sym typeface="DFKai-SB"/>
            </a:endParaRPr>
          </a:p>
          <a:p>
            <a:pPr marL="355600" lvl="0" indent="-285750" algn="l" rtl="0">
              <a:lnSpc>
                <a:spcPct val="150000"/>
              </a:lnSpc>
              <a:spcBef>
                <a:spcPts val="0"/>
              </a:spcBef>
              <a:spcAft>
                <a:spcPts val="0"/>
              </a:spcAft>
              <a:buClr>
                <a:schemeClr val="dk1"/>
              </a:buClr>
              <a:buSzPts val="1700"/>
              <a:buFont typeface="Arial" panose="020B0604020202020204" pitchFamily="34" charset="0"/>
              <a:buChar char="•"/>
            </a:pPr>
            <a:r>
              <a:rPr lang="zh-TW" sz="1700" dirty="0">
                <a:solidFill>
                  <a:schemeClr val="dk1"/>
                </a:solidFill>
                <a:latin typeface="DFKai-SB"/>
                <a:ea typeface="DFKai-SB"/>
                <a:cs typeface="DFKai-SB"/>
                <a:sym typeface="DFKai-SB"/>
              </a:rPr>
              <a:t>停用教室 / 設備</a:t>
            </a:r>
            <a:endParaRPr sz="1700" dirty="0">
              <a:solidFill>
                <a:schemeClr val="dk1"/>
              </a:solidFill>
              <a:latin typeface="DFKai-SB"/>
              <a:ea typeface="DFKai-SB"/>
              <a:cs typeface="DFKai-SB"/>
              <a:sym typeface="DFKai-SB"/>
            </a:endParaRPr>
          </a:p>
          <a:p>
            <a:pPr marL="355600" lvl="0" indent="-285750" algn="l" rtl="0">
              <a:lnSpc>
                <a:spcPct val="150000"/>
              </a:lnSpc>
              <a:spcBef>
                <a:spcPts val="0"/>
              </a:spcBef>
              <a:spcAft>
                <a:spcPts val="0"/>
              </a:spcAft>
              <a:buClr>
                <a:schemeClr val="dk1"/>
              </a:buClr>
              <a:buSzPts val="1700"/>
              <a:buFont typeface="Arial" panose="020B0604020202020204" pitchFamily="34" charset="0"/>
              <a:buChar char="•"/>
            </a:pPr>
            <a:r>
              <a:rPr lang="zh-TW" sz="1700" dirty="0">
                <a:solidFill>
                  <a:schemeClr val="dk1"/>
                </a:solidFill>
                <a:latin typeface="DFKai-SB"/>
                <a:ea typeface="DFKai-SB"/>
                <a:cs typeface="DFKai-SB"/>
                <a:sym typeface="DFKai-SB"/>
              </a:rPr>
              <a:t>設定教室狀態為「維修中」</a:t>
            </a:r>
            <a:endParaRPr sz="1700" dirty="0">
              <a:solidFill>
                <a:schemeClr val="dk1"/>
              </a:solidFill>
              <a:latin typeface="DFKai-SB"/>
              <a:ea typeface="DFKai-SB"/>
              <a:cs typeface="DFKai-SB"/>
              <a:sym typeface="DFKai-SB"/>
            </a:endParaRPr>
          </a:p>
          <a:p>
            <a:pPr marL="685800" lvl="0" algn="l" rtl="0">
              <a:lnSpc>
                <a:spcPct val="150000"/>
              </a:lnSpc>
              <a:spcBef>
                <a:spcPts val="0"/>
              </a:spcBef>
              <a:spcAft>
                <a:spcPts val="0"/>
              </a:spcAft>
            </a:pPr>
            <a:r>
              <a:rPr lang="zh-TW" sz="1700" dirty="0">
                <a:solidFill>
                  <a:schemeClr val="dk1"/>
                </a:solidFill>
                <a:latin typeface="Times New Roman"/>
                <a:ea typeface="Times New Roman"/>
                <a:cs typeface="Times New Roman"/>
                <a:sym typeface="Times New Roman"/>
              </a:rPr>
              <a:t>（UnderMaintenance</a:t>
            </a:r>
            <a:r>
              <a:rPr lang="zh-TW" sz="1700" dirty="0">
                <a:solidFill>
                  <a:schemeClr val="dk1"/>
                </a:solidFill>
                <a:latin typeface="DFKai-SB"/>
                <a:ea typeface="DFKai-SB"/>
                <a:cs typeface="DFKai-SB"/>
                <a:sym typeface="DFKai-SB"/>
              </a:rPr>
              <a:t>）</a:t>
            </a:r>
            <a:endParaRPr sz="1700" dirty="0">
              <a:solidFill>
                <a:schemeClr val="dk1"/>
              </a:solidFill>
              <a:latin typeface="DFKai-SB"/>
              <a:ea typeface="DFKai-SB"/>
              <a:cs typeface="DFKai-SB"/>
              <a:sym typeface="DFKai-SB"/>
            </a:endParaRPr>
          </a:p>
          <a:p>
            <a:pPr marL="285750" marR="0" lvl="0" indent="-285750" algn="r" rtl="0">
              <a:lnSpc>
                <a:spcPct val="150000"/>
              </a:lnSpc>
              <a:spcBef>
                <a:spcPts val="0"/>
              </a:spcBef>
              <a:spcAft>
                <a:spcPts val="0"/>
              </a:spcAft>
              <a:buFont typeface="Arial" panose="020B0604020202020204" pitchFamily="34" charset="0"/>
              <a:buChar char="•"/>
            </a:pPr>
            <a:endParaRPr sz="1700" dirty="0">
              <a:solidFill>
                <a:schemeClr val="dk1"/>
              </a:solidFill>
              <a:latin typeface="DFKai-SB"/>
              <a:ea typeface="DFKai-SB"/>
              <a:cs typeface="DFKai-SB"/>
              <a:sym typeface="DFKai-SB"/>
            </a:endParaRPr>
          </a:p>
        </p:txBody>
      </p:sp>
      <p:sp>
        <p:nvSpPr>
          <p:cNvPr id="179" name="Google Shape;179;p18"/>
          <p:cNvSpPr txBox="1"/>
          <p:nvPr/>
        </p:nvSpPr>
        <p:spPr>
          <a:xfrm>
            <a:off x="598519" y="1753519"/>
            <a:ext cx="2276700" cy="492600"/>
          </a:xfrm>
          <a:prstGeom prst="rect">
            <a:avLst/>
          </a:prstGeom>
          <a:noFill/>
          <a:ln>
            <a:noFill/>
          </a:ln>
        </p:spPr>
        <p:txBody>
          <a:bodyPr spcFirstLastPara="1" wrap="square" lIns="68575" tIns="68575" rIns="68575" bIns="68575" anchor="t" anchorCtr="0">
            <a:spAutoFit/>
          </a:bodyPr>
          <a:lstStyle/>
          <a:p>
            <a:pPr marL="0" lvl="0" indent="0" algn="ctr" rtl="0">
              <a:spcBef>
                <a:spcPts val="0"/>
              </a:spcBef>
              <a:spcAft>
                <a:spcPts val="0"/>
              </a:spcAft>
              <a:buNone/>
            </a:pPr>
            <a:r>
              <a:rPr lang="zh-TW" sz="2300">
                <a:solidFill>
                  <a:schemeClr val="dk1"/>
                </a:solidFill>
                <a:latin typeface="DFKai-SB"/>
                <a:ea typeface="DFKai-SB"/>
                <a:cs typeface="DFKai-SB"/>
                <a:sym typeface="DFKai-SB"/>
              </a:rPr>
              <a:t>1.審核借用申請</a:t>
            </a:r>
            <a:endParaRPr sz="2300">
              <a:solidFill>
                <a:schemeClr val="dk1"/>
              </a:solidFill>
              <a:latin typeface="DFKai-SB"/>
              <a:ea typeface="DFKai-SB"/>
              <a:cs typeface="DFKai-SB"/>
              <a:sym typeface="DFKai-SB"/>
            </a:endParaRPr>
          </a:p>
        </p:txBody>
      </p:sp>
      <p:sp>
        <p:nvSpPr>
          <p:cNvPr id="180" name="Google Shape;180;p18"/>
          <p:cNvSpPr txBox="1"/>
          <p:nvPr/>
        </p:nvSpPr>
        <p:spPr>
          <a:xfrm>
            <a:off x="5986600" y="1753525"/>
            <a:ext cx="2715900" cy="1200600"/>
          </a:xfrm>
          <a:prstGeom prst="rect">
            <a:avLst/>
          </a:prstGeom>
          <a:noFill/>
          <a:ln>
            <a:noFill/>
          </a:ln>
        </p:spPr>
        <p:txBody>
          <a:bodyPr spcFirstLastPara="1" wrap="square" lIns="68575" tIns="68575" rIns="68575" bIns="68575" anchor="t" anchorCtr="0">
            <a:spAutoFit/>
          </a:bodyPr>
          <a:lstStyle/>
          <a:p>
            <a:pPr marL="0" lvl="0" indent="0" algn="ctr" rtl="0">
              <a:spcBef>
                <a:spcPts val="0"/>
              </a:spcBef>
              <a:spcAft>
                <a:spcPts val="0"/>
              </a:spcAft>
              <a:buClr>
                <a:schemeClr val="dk1"/>
              </a:buClr>
              <a:buFont typeface="Arial"/>
              <a:buNone/>
            </a:pPr>
            <a:r>
              <a:rPr lang="zh-TW" sz="2300">
                <a:solidFill>
                  <a:schemeClr val="dk1"/>
                </a:solidFill>
                <a:latin typeface="DFKai-SB"/>
                <a:ea typeface="DFKai-SB"/>
                <a:cs typeface="DFKai-SB"/>
                <a:sym typeface="DFKai-SB"/>
              </a:rPr>
              <a:t>2.教室及設備管理</a:t>
            </a:r>
            <a:endParaRPr sz="2300">
              <a:solidFill>
                <a:schemeClr val="dk1"/>
              </a:solidFill>
              <a:latin typeface="DFKai-SB"/>
              <a:ea typeface="DFKai-SB"/>
              <a:cs typeface="DFKai-SB"/>
              <a:sym typeface="DFKai-SB"/>
            </a:endParaRPr>
          </a:p>
          <a:p>
            <a:pPr marL="0" lvl="0" indent="0" algn="ctr" rtl="0">
              <a:spcBef>
                <a:spcPts val="0"/>
              </a:spcBef>
              <a:spcAft>
                <a:spcPts val="0"/>
              </a:spcAft>
              <a:buClr>
                <a:schemeClr val="dk1"/>
              </a:buClr>
              <a:buFont typeface="Arial"/>
              <a:buNone/>
            </a:pPr>
            <a:endParaRPr sz="2300">
              <a:solidFill>
                <a:schemeClr val="dk1"/>
              </a:solidFill>
              <a:latin typeface="DFKai-SB"/>
              <a:ea typeface="DFKai-SB"/>
              <a:cs typeface="DFKai-SB"/>
              <a:sym typeface="DFKai-SB"/>
            </a:endParaRPr>
          </a:p>
          <a:p>
            <a:pPr marL="0" lvl="0" indent="0" algn="ctr" rtl="0">
              <a:spcBef>
                <a:spcPts val="0"/>
              </a:spcBef>
              <a:spcAft>
                <a:spcPts val="0"/>
              </a:spcAft>
              <a:buNone/>
            </a:pPr>
            <a:endParaRPr sz="2300">
              <a:solidFill>
                <a:schemeClr val="dk1"/>
              </a:solidFill>
              <a:latin typeface="DFKai-SB"/>
              <a:ea typeface="DFKai-SB"/>
              <a:cs typeface="DFKai-SB"/>
              <a:sym typeface="DFKai-SB"/>
            </a:endParaRPr>
          </a:p>
        </p:txBody>
      </p:sp>
      <p:sp>
        <p:nvSpPr>
          <p:cNvPr id="181" name="Google Shape;18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6"/>
        <p:cNvGrpSpPr/>
        <p:nvPr/>
      </p:nvGrpSpPr>
      <p:grpSpPr>
        <a:xfrm>
          <a:off x="0" y="0"/>
          <a:ext cx="0" cy="0"/>
          <a:chOff x="0" y="0"/>
          <a:chExt cx="0" cy="0"/>
        </a:xfrm>
      </p:grpSpPr>
      <p:sp>
        <p:nvSpPr>
          <p:cNvPr id="187" name="Google Shape;187;p19"/>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1500"/>
              </a:spcBef>
              <a:spcAft>
                <a:spcPts val="500"/>
              </a:spcAft>
              <a:buSzPts val="800"/>
              <a:buNone/>
            </a:pPr>
            <a:r>
              <a:rPr lang="zh-TW" sz="2700" b="1">
                <a:solidFill>
                  <a:schemeClr val="dk1"/>
                </a:solidFill>
                <a:latin typeface="DFKai-SB"/>
                <a:ea typeface="DFKai-SB"/>
                <a:cs typeface="DFKai-SB"/>
                <a:sym typeface="DFKai-SB"/>
              </a:rPr>
              <a:t>系統需求說明</a:t>
            </a:r>
            <a:endParaRPr sz="2700" b="1">
              <a:solidFill>
                <a:schemeClr val="dk1"/>
              </a:solidFill>
              <a:latin typeface="DFKai-SB"/>
              <a:ea typeface="DFKai-SB"/>
              <a:cs typeface="DFKai-SB"/>
              <a:sym typeface="DFKai-SB"/>
            </a:endParaRPr>
          </a:p>
        </p:txBody>
      </p:sp>
      <p:grpSp>
        <p:nvGrpSpPr>
          <p:cNvPr id="188" name="Google Shape;188;p19"/>
          <p:cNvGrpSpPr/>
          <p:nvPr/>
        </p:nvGrpSpPr>
        <p:grpSpPr>
          <a:xfrm>
            <a:off x="3502220" y="2918232"/>
            <a:ext cx="844541" cy="932257"/>
            <a:chOff x="589141" y="2173776"/>
            <a:chExt cx="1126055" cy="1243010"/>
          </a:xfrm>
        </p:grpSpPr>
        <p:grpSp>
          <p:nvGrpSpPr>
            <p:cNvPr id="189" name="Google Shape;189;p19"/>
            <p:cNvGrpSpPr/>
            <p:nvPr/>
          </p:nvGrpSpPr>
          <p:grpSpPr>
            <a:xfrm>
              <a:off x="589141" y="2173776"/>
              <a:ext cx="1126055" cy="1243010"/>
              <a:chOff x="1950418" y="3368985"/>
              <a:chExt cx="432101" cy="476980"/>
            </a:xfrm>
          </p:grpSpPr>
          <p:sp>
            <p:nvSpPr>
              <p:cNvPr id="190" name="Google Shape;190;p19"/>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91" name="Google Shape;191;p19"/>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92" name="Google Shape;192;p19"/>
            <p:cNvSpPr txBox="1"/>
            <p:nvPr/>
          </p:nvSpPr>
          <p:spPr>
            <a:xfrm>
              <a:off x="907668" y="2220553"/>
              <a:ext cx="6111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100" b="1">
                  <a:solidFill>
                    <a:schemeClr val="lt1"/>
                  </a:solidFill>
                  <a:latin typeface="Microsoft Yahei"/>
                  <a:ea typeface="Microsoft Yahei"/>
                  <a:cs typeface="Microsoft Yahei"/>
                  <a:sym typeface="Microsoft Yahei"/>
                </a:rPr>
                <a:t>2</a:t>
              </a:r>
              <a:endParaRPr sz="4100" b="1">
                <a:solidFill>
                  <a:schemeClr val="lt1"/>
                </a:solidFill>
                <a:latin typeface="Microsoft Yahei"/>
                <a:ea typeface="Microsoft Yahei"/>
                <a:cs typeface="Microsoft Yahei"/>
                <a:sym typeface="Microsoft Yahei"/>
              </a:endParaRPr>
            </a:p>
          </p:txBody>
        </p:sp>
      </p:grpSp>
      <p:sp>
        <p:nvSpPr>
          <p:cNvPr id="193" name="Google Shape;19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grpSp>
        <p:nvGrpSpPr>
          <p:cNvPr id="199" name="Google Shape;199;p20"/>
          <p:cNvGrpSpPr/>
          <p:nvPr/>
        </p:nvGrpSpPr>
        <p:grpSpPr>
          <a:xfrm>
            <a:off x="382271" y="221981"/>
            <a:ext cx="2568885" cy="466773"/>
            <a:chOff x="956666" y="3447854"/>
            <a:chExt cx="3425180" cy="622364"/>
          </a:xfrm>
        </p:grpSpPr>
        <p:sp>
          <p:nvSpPr>
            <p:cNvPr id="200" name="Google Shape;200;p20"/>
            <p:cNvSpPr txBox="1"/>
            <p:nvPr/>
          </p:nvSpPr>
          <p:spPr>
            <a:xfrm>
              <a:off x="1581046" y="3447854"/>
              <a:ext cx="2800800" cy="564300"/>
            </a:xfrm>
            <a:prstGeom prst="rect">
              <a:avLst/>
            </a:prstGeom>
            <a:noFill/>
            <a:ln>
              <a:noFill/>
            </a:ln>
          </p:spPr>
          <p:txBody>
            <a:bodyPr spcFirstLastPara="1" wrap="square" lIns="68575" tIns="34275" rIns="68575" bIns="34275" anchor="t" anchorCtr="1">
              <a:spAutoFit/>
            </a:bodyPr>
            <a:lstStyle/>
            <a:p>
              <a:pPr marL="0" lvl="0" indent="0" algn="l" rtl="0">
                <a:lnSpc>
                  <a:spcPct val="115000"/>
                </a:lnSpc>
                <a:spcBef>
                  <a:spcPts val="900"/>
                </a:spcBef>
                <a:spcAft>
                  <a:spcPts val="900"/>
                </a:spcAft>
                <a:buSzPts val="800"/>
                <a:buNone/>
              </a:pPr>
              <a:r>
                <a:rPr lang="zh-TW" sz="2300" b="1">
                  <a:solidFill>
                    <a:schemeClr val="dk1"/>
                  </a:solidFill>
                  <a:latin typeface="DFKai-SB"/>
                  <a:ea typeface="DFKai-SB"/>
                  <a:cs typeface="DFKai-SB"/>
                  <a:sym typeface="DFKai-SB"/>
                </a:rPr>
                <a:t>功能性需求</a:t>
              </a:r>
              <a:endParaRPr sz="2300" b="1">
                <a:solidFill>
                  <a:schemeClr val="dk1"/>
                </a:solidFill>
                <a:latin typeface="DFKai-SB"/>
                <a:ea typeface="DFKai-SB"/>
                <a:cs typeface="DFKai-SB"/>
                <a:sym typeface="DFKai-SB"/>
              </a:endParaRPr>
            </a:p>
          </p:txBody>
        </p:sp>
        <p:sp>
          <p:nvSpPr>
            <p:cNvPr id="201" name="Google Shape;201;p20"/>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202" name="Google Shape;202;p20"/>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pSp>
        <p:nvGrpSpPr>
          <p:cNvPr id="203" name="Google Shape;203;p20"/>
          <p:cNvGrpSpPr/>
          <p:nvPr/>
        </p:nvGrpSpPr>
        <p:grpSpPr>
          <a:xfrm>
            <a:off x="320087" y="2009914"/>
            <a:ext cx="1990725" cy="2008111"/>
            <a:chOff x="3711385" y="1272950"/>
            <a:chExt cx="5138682" cy="5183559"/>
          </a:xfrm>
        </p:grpSpPr>
        <p:grpSp>
          <p:nvGrpSpPr>
            <p:cNvPr id="204" name="Google Shape;204;p20"/>
            <p:cNvGrpSpPr/>
            <p:nvPr/>
          </p:nvGrpSpPr>
          <p:grpSpPr>
            <a:xfrm>
              <a:off x="3711385" y="1272950"/>
              <a:ext cx="5138682" cy="5183559"/>
              <a:chOff x="3765171" y="1421576"/>
              <a:chExt cx="4704460" cy="4745545"/>
            </a:xfrm>
          </p:grpSpPr>
          <p:sp>
            <p:nvSpPr>
              <p:cNvPr id="205" name="Google Shape;205;p20"/>
              <p:cNvSpPr/>
              <p:nvPr/>
            </p:nvSpPr>
            <p:spPr>
              <a:xfrm rot="10800000">
                <a:off x="3765171" y="2754630"/>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55C0AF"/>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sp>
            <p:nvSpPr>
              <p:cNvPr id="206" name="Google Shape;206;p20"/>
              <p:cNvSpPr/>
              <p:nvPr/>
            </p:nvSpPr>
            <p:spPr>
              <a:xfrm rot="-5400000">
                <a:off x="4900552" y="1592580"/>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113F4E"/>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sp>
            <p:nvSpPr>
              <p:cNvPr id="207" name="Google Shape;207;p20"/>
              <p:cNvSpPr/>
              <p:nvPr/>
            </p:nvSpPr>
            <p:spPr>
              <a:xfrm>
                <a:off x="6047362" y="2750820"/>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55C0AF"/>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sp>
            <p:nvSpPr>
              <p:cNvPr id="208" name="Google Shape;208;p20"/>
              <p:cNvSpPr/>
              <p:nvPr/>
            </p:nvSpPr>
            <p:spPr>
              <a:xfrm rot="5400000">
                <a:off x="4910820" y="3915856"/>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113F4E"/>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grpSp>
        <p:grpSp>
          <p:nvGrpSpPr>
            <p:cNvPr id="209" name="Google Shape;209;p20"/>
            <p:cNvGrpSpPr/>
            <p:nvPr/>
          </p:nvGrpSpPr>
          <p:grpSpPr>
            <a:xfrm>
              <a:off x="6008633" y="5754099"/>
              <a:ext cx="478637" cy="476753"/>
              <a:chOff x="4557733" y="2434359"/>
              <a:chExt cx="512624" cy="510606"/>
            </a:xfrm>
          </p:grpSpPr>
          <p:sp>
            <p:nvSpPr>
              <p:cNvPr id="210" name="Google Shape;210;p20"/>
              <p:cNvSpPr/>
              <p:nvPr/>
            </p:nvSpPr>
            <p:spPr>
              <a:xfrm>
                <a:off x="4557733" y="2434359"/>
                <a:ext cx="512624" cy="510606"/>
              </a:xfrm>
              <a:custGeom>
                <a:avLst/>
                <a:gdLst/>
                <a:ahLst/>
                <a:cxnLst/>
                <a:rect l="l" t="t" r="r" b="b"/>
                <a:pathLst>
                  <a:path w="172" h="172" extrusionOk="0">
                    <a:moveTo>
                      <a:pt x="86" y="21"/>
                    </a:moveTo>
                    <a:cubicBezTo>
                      <a:pt x="122" y="21"/>
                      <a:pt x="151" y="50"/>
                      <a:pt x="151" y="86"/>
                    </a:cubicBezTo>
                    <a:cubicBezTo>
                      <a:pt x="151" y="122"/>
                      <a:pt x="122" y="151"/>
                      <a:pt x="86" y="151"/>
                    </a:cubicBezTo>
                    <a:cubicBezTo>
                      <a:pt x="50" y="151"/>
                      <a:pt x="21" y="122"/>
                      <a:pt x="21" y="86"/>
                    </a:cubicBezTo>
                    <a:cubicBezTo>
                      <a:pt x="21" y="50"/>
                      <a:pt x="50" y="21"/>
                      <a:pt x="86" y="21"/>
                    </a:cubicBezTo>
                    <a:moveTo>
                      <a:pt x="86" y="0"/>
                    </a:moveTo>
                    <a:cubicBezTo>
                      <a:pt x="38" y="0"/>
                      <a:pt x="0" y="38"/>
                      <a:pt x="0" y="86"/>
                    </a:cubicBezTo>
                    <a:cubicBezTo>
                      <a:pt x="0" y="134"/>
                      <a:pt x="38" y="172"/>
                      <a:pt x="86" y="172"/>
                    </a:cubicBezTo>
                    <a:cubicBezTo>
                      <a:pt x="134" y="172"/>
                      <a:pt x="172" y="134"/>
                      <a:pt x="172" y="86"/>
                    </a:cubicBezTo>
                    <a:cubicBezTo>
                      <a:pt x="172" y="38"/>
                      <a:pt x="134" y="0"/>
                      <a:pt x="86" y="0"/>
                    </a:cubicBezTo>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900">
                  <a:solidFill>
                    <a:schemeClr val="dk1"/>
                  </a:solidFill>
                  <a:latin typeface="Microsoft Yahei"/>
                  <a:ea typeface="Microsoft Yahei"/>
                  <a:cs typeface="Microsoft Yahei"/>
                  <a:sym typeface="Microsoft Yahei"/>
                </a:endParaRPr>
              </a:p>
            </p:txBody>
          </p:sp>
          <p:sp>
            <p:nvSpPr>
              <p:cNvPr id="211" name="Google Shape;211;p20"/>
              <p:cNvSpPr/>
              <p:nvPr/>
            </p:nvSpPr>
            <p:spPr>
              <a:xfrm>
                <a:off x="4781753" y="2529215"/>
                <a:ext cx="129165" cy="254294"/>
              </a:xfrm>
              <a:custGeom>
                <a:avLst/>
                <a:gdLst/>
                <a:ahLst/>
                <a:cxnLst/>
                <a:rect l="l" t="t" r="r" b="b"/>
                <a:pathLst>
                  <a:path w="44" h="86" extrusionOk="0">
                    <a:moveTo>
                      <a:pt x="33" y="86"/>
                    </a:moveTo>
                    <a:cubicBezTo>
                      <a:pt x="30" y="86"/>
                      <a:pt x="27" y="85"/>
                      <a:pt x="25" y="83"/>
                    </a:cubicBezTo>
                    <a:cubicBezTo>
                      <a:pt x="3" y="62"/>
                      <a:pt x="3" y="62"/>
                      <a:pt x="3" y="62"/>
                    </a:cubicBezTo>
                    <a:cubicBezTo>
                      <a:pt x="1" y="60"/>
                      <a:pt x="0" y="57"/>
                      <a:pt x="0" y="54"/>
                    </a:cubicBezTo>
                    <a:cubicBezTo>
                      <a:pt x="0" y="54"/>
                      <a:pt x="0" y="54"/>
                      <a:pt x="0" y="54"/>
                    </a:cubicBezTo>
                    <a:cubicBezTo>
                      <a:pt x="0" y="54"/>
                      <a:pt x="0" y="54"/>
                      <a:pt x="0" y="54"/>
                    </a:cubicBezTo>
                    <a:cubicBezTo>
                      <a:pt x="0" y="11"/>
                      <a:pt x="0" y="11"/>
                      <a:pt x="0" y="11"/>
                    </a:cubicBezTo>
                    <a:cubicBezTo>
                      <a:pt x="0" y="5"/>
                      <a:pt x="5" y="0"/>
                      <a:pt x="11" y="0"/>
                    </a:cubicBezTo>
                    <a:cubicBezTo>
                      <a:pt x="17" y="0"/>
                      <a:pt x="22" y="5"/>
                      <a:pt x="22" y="11"/>
                    </a:cubicBezTo>
                    <a:cubicBezTo>
                      <a:pt x="22" y="50"/>
                      <a:pt x="22" y="50"/>
                      <a:pt x="22" y="50"/>
                    </a:cubicBezTo>
                    <a:cubicBezTo>
                      <a:pt x="40" y="68"/>
                      <a:pt x="40" y="68"/>
                      <a:pt x="40" y="68"/>
                    </a:cubicBezTo>
                    <a:cubicBezTo>
                      <a:pt x="44" y="72"/>
                      <a:pt x="44" y="79"/>
                      <a:pt x="40" y="83"/>
                    </a:cubicBezTo>
                    <a:cubicBezTo>
                      <a:pt x="38" y="85"/>
                      <a:pt x="35" y="86"/>
                      <a:pt x="33" y="86"/>
                    </a:cubicBezTo>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900">
                  <a:solidFill>
                    <a:schemeClr val="dk1"/>
                  </a:solidFill>
                  <a:latin typeface="Microsoft Yahei"/>
                  <a:ea typeface="Microsoft Yahei"/>
                  <a:cs typeface="Microsoft Yahei"/>
                  <a:sym typeface="Microsoft Yahei"/>
                </a:endParaRPr>
              </a:p>
            </p:txBody>
          </p:sp>
        </p:grpSp>
        <p:grpSp>
          <p:nvGrpSpPr>
            <p:cNvPr id="212" name="Google Shape;212;p20"/>
            <p:cNvGrpSpPr/>
            <p:nvPr/>
          </p:nvGrpSpPr>
          <p:grpSpPr>
            <a:xfrm>
              <a:off x="5930134" y="1546509"/>
              <a:ext cx="438265" cy="421472"/>
              <a:chOff x="6159731" y="1864447"/>
              <a:chExt cx="469385" cy="451400"/>
            </a:xfrm>
          </p:grpSpPr>
          <p:sp>
            <p:nvSpPr>
              <p:cNvPr id="213" name="Google Shape;213;p20"/>
              <p:cNvSpPr/>
              <p:nvPr/>
            </p:nvSpPr>
            <p:spPr>
              <a:xfrm>
                <a:off x="6288812" y="1864447"/>
                <a:ext cx="211200" cy="213900"/>
              </a:xfrm>
              <a:prstGeom prst="ellipse">
                <a:avLst/>
              </a:pr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400">
                  <a:solidFill>
                    <a:srgbClr val="000000"/>
                  </a:solidFill>
                  <a:latin typeface="Microsoft Yahei"/>
                  <a:ea typeface="Microsoft Yahei"/>
                  <a:cs typeface="Microsoft Yahei"/>
                  <a:sym typeface="Microsoft Yahei"/>
                </a:endParaRPr>
              </a:p>
            </p:txBody>
          </p:sp>
          <p:sp>
            <p:nvSpPr>
              <p:cNvPr id="214" name="Google Shape;214;p20"/>
              <p:cNvSpPr/>
              <p:nvPr/>
            </p:nvSpPr>
            <p:spPr>
              <a:xfrm>
                <a:off x="6159731" y="2111736"/>
                <a:ext cx="469385" cy="204111"/>
              </a:xfrm>
              <a:custGeom>
                <a:avLst/>
                <a:gdLst/>
                <a:ahLst/>
                <a:cxnLst/>
                <a:rect l="l" t="t" r="r" b="b"/>
                <a:pathLst>
                  <a:path w="200" h="87" extrusionOk="0">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400">
                  <a:solidFill>
                    <a:srgbClr val="000000"/>
                  </a:solidFill>
                  <a:latin typeface="Microsoft Yahei"/>
                  <a:ea typeface="Microsoft Yahei"/>
                  <a:cs typeface="Microsoft Yahei"/>
                  <a:sym typeface="Microsoft Yahei"/>
                </a:endParaRPr>
              </a:p>
            </p:txBody>
          </p:sp>
        </p:grpSp>
        <p:grpSp>
          <p:nvGrpSpPr>
            <p:cNvPr id="215" name="Google Shape;215;p20"/>
            <p:cNvGrpSpPr/>
            <p:nvPr/>
          </p:nvGrpSpPr>
          <p:grpSpPr>
            <a:xfrm>
              <a:off x="4034207" y="3712154"/>
              <a:ext cx="396175" cy="343351"/>
              <a:chOff x="7090992" y="4839631"/>
              <a:chExt cx="424306" cy="367732"/>
            </a:xfrm>
          </p:grpSpPr>
          <p:sp>
            <p:nvSpPr>
              <p:cNvPr id="216" name="Google Shape;216;p20"/>
              <p:cNvSpPr/>
              <p:nvPr/>
            </p:nvSpPr>
            <p:spPr>
              <a:xfrm>
                <a:off x="7156995" y="4994536"/>
                <a:ext cx="86882" cy="152885"/>
              </a:xfrm>
              <a:custGeom>
                <a:avLst/>
                <a:gdLst/>
                <a:ahLst/>
                <a:cxnLst/>
                <a:rect l="l" t="t" r="r" b="b"/>
                <a:pathLst>
                  <a:path w="54" h="95" extrusionOk="0">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17" name="Google Shape;217;p20"/>
              <p:cNvSpPr/>
              <p:nvPr/>
            </p:nvSpPr>
            <p:spPr>
              <a:xfrm>
                <a:off x="7282266" y="4937962"/>
                <a:ext cx="86882" cy="209459"/>
              </a:xfrm>
              <a:custGeom>
                <a:avLst/>
                <a:gdLst/>
                <a:ahLst/>
                <a:cxnLst/>
                <a:rect l="l" t="t" r="r" b="b"/>
                <a:pathLst>
                  <a:path w="54" h="130" extrusionOk="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18" name="Google Shape;218;p20"/>
              <p:cNvSpPr/>
              <p:nvPr/>
            </p:nvSpPr>
            <p:spPr>
              <a:xfrm>
                <a:off x="7408885" y="4891491"/>
                <a:ext cx="86882" cy="255931"/>
              </a:xfrm>
              <a:custGeom>
                <a:avLst/>
                <a:gdLst/>
                <a:ahLst/>
                <a:cxnLst/>
                <a:rect l="l" t="t" r="r" b="b"/>
                <a:pathLst>
                  <a:path w="54" h="159" extrusionOk="0">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19" name="Google Shape;219;p20"/>
              <p:cNvSpPr/>
              <p:nvPr/>
            </p:nvSpPr>
            <p:spPr>
              <a:xfrm>
                <a:off x="7090992" y="4839631"/>
                <a:ext cx="424306" cy="367732"/>
              </a:xfrm>
              <a:custGeom>
                <a:avLst/>
                <a:gdLst/>
                <a:ahLst/>
                <a:cxnLst/>
                <a:rect l="l" t="t" r="r" b="b"/>
                <a:pathLst>
                  <a:path w="264" h="228" extrusionOk="0">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grpSp>
        <p:grpSp>
          <p:nvGrpSpPr>
            <p:cNvPr id="220" name="Google Shape;220;p20"/>
            <p:cNvGrpSpPr/>
            <p:nvPr/>
          </p:nvGrpSpPr>
          <p:grpSpPr>
            <a:xfrm>
              <a:off x="8189171" y="3651806"/>
              <a:ext cx="364675" cy="360915"/>
              <a:chOff x="4270293" y="4090633"/>
              <a:chExt cx="390570" cy="386543"/>
            </a:xfrm>
          </p:grpSpPr>
          <p:sp>
            <p:nvSpPr>
              <p:cNvPr id="221" name="Google Shape;221;p20"/>
              <p:cNvSpPr/>
              <p:nvPr/>
            </p:nvSpPr>
            <p:spPr>
              <a:xfrm>
                <a:off x="4270293" y="4307258"/>
                <a:ext cx="390570" cy="169918"/>
              </a:xfrm>
              <a:custGeom>
                <a:avLst/>
                <a:gdLst/>
                <a:ahLst/>
                <a:cxnLst/>
                <a:rect l="l" t="t" r="r" b="b"/>
                <a:pathLst>
                  <a:path w="205" h="89" extrusionOk="0">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22" name="Google Shape;222;p20"/>
              <p:cNvSpPr/>
              <p:nvPr/>
            </p:nvSpPr>
            <p:spPr>
              <a:xfrm>
                <a:off x="4270293" y="4090633"/>
                <a:ext cx="390570" cy="224678"/>
              </a:xfrm>
              <a:custGeom>
                <a:avLst/>
                <a:gdLst/>
                <a:ahLst/>
                <a:cxnLst/>
                <a:rect l="l" t="t" r="r" b="b"/>
                <a:pathLst>
                  <a:path w="205" h="118" extrusionOk="0">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grpSp>
        <p:sp>
          <p:nvSpPr>
            <p:cNvPr id="223" name="Google Shape;223;p20"/>
            <p:cNvSpPr/>
            <p:nvPr/>
          </p:nvSpPr>
          <p:spPr>
            <a:xfrm>
              <a:off x="5204058" y="2867849"/>
              <a:ext cx="7446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sp>
          <p:nvSpPr>
            <p:cNvPr id="224" name="Google Shape;224;p20"/>
            <p:cNvSpPr/>
            <p:nvPr/>
          </p:nvSpPr>
          <p:spPr>
            <a:xfrm>
              <a:off x="6436986" y="2877142"/>
              <a:ext cx="10395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sp>
          <p:nvSpPr>
            <p:cNvPr id="225" name="Google Shape;225;p20"/>
            <p:cNvSpPr/>
            <p:nvPr/>
          </p:nvSpPr>
          <p:spPr>
            <a:xfrm>
              <a:off x="6382619" y="4203625"/>
              <a:ext cx="10395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sp>
          <p:nvSpPr>
            <p:cNvPr id="226" name="Google Shape;226;p20"/>
            <p:cNvSpPr/>
            <p:nvPr/>
          </p:nvSpPr>
          <p:spPr>
            <a:xfrm>
              <a:off x="5037068" y="4149436"/>
              <a:ext cx="10395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grpSp>
      <p:grpSp>
        <p:nvGrpSpPr>
          <p:cNvPr id="227" name="Google Shape;227;p20"/>
          <p:cNvGrpSpPr/>
          <p:nvPr/>
        </p:nvGrpSpPr>
        <p:grpSpPr>
          <a:xfrm>
            <a:off x="2588053" y="929514"/>
            <a:ext cx="6313447" cy="4086913"/>
            <a:chOff x="3202580" y="2364465"/>
            <a:chExt cx="8417929" cy="4724755"/>
          </a:xfrm>
        </p:grpSpPr>
        <p:grpSp>
          <p:nvGrpSpPr>
            <p:cNvPr id="228" name="Google Shape;228;p20"/>
            <p:cNvGrpSpPr/>
            <p:nvPr/>
          </p:nvGrpSpPr>
          <p:grpSpPr>
            <a:xfrm>
              <a:off x="3202715" y="2364465"/>
              <a:ext cx="7364543" cy="155729"/>
              <a:chOff x="4906190" y="1416527"/>
              <a:chExt cx="3933000" cy="166200"/>
            </a:xfrm>
          </p:grpSpPr>
          <p:sp>
            <p:nvSpPr>
              <p:cNvPr id="229" name="Google Shape;229;p20"/>
              <p:cNvSpPr/>
              <p:nvPr/>
            </p:nvSpPr>
            <p:spPr>
              <a:xfrm>
                <a:off x="4906190" y="1416527"/>
                <a:ext cx="166200" cy="166200"/>
              </a:xfrm>
              <a:prstGeom prst="rect">
                <a:avLst/>
              </a:prstGeom>
              <a:solidFill>
                <a:srgbClr val="113F4E"/>
              </a:solidFill>
              <a:ln w="9525" cap="flat" cmpd="sng">
                <a:solidFill>
                  <a:srgbClr val="113F4E"/>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rgbClr val="FFB850"/>
                  </a:solidFill>
                  <a:latin typeface="Microsoft Yahei"/>
                  <a:ea typeface="Microsoft Yahei"/>
                  <a:cs typeface="Microsoft Yahei"/>
                  <a:sym typeface="Microsoft Yahei"/>
                </a:endParaRPr>
              </a:p>
            </p:txBody>
          </p:sp>
          <p:cxnSp>
            <p:nvCxnSpPr>
              <p:cNvPr id="230" name="Google Shape;230;p20"/>
              <p:cNvCxnSpPr>
                <a:stCxn id="229" idx="3"/>
              </p:cNvCxnSpPr>
              <p:nvPr/>
            </p:nvCxnSpPr>
            <p:spPr>
              <a:xfrm>
                <a:off x="5072390" y="1499627"/>
                <a:ext cx="3766800" cy="0"/>
              </a:xfrm>
              <a:prstGeom prst="straightConnector1">
                <a:avLst/>
              </a:prstGeom>
              <a:solidFill>
                <a:srgbClr val="113F4E"/>
              </a:solidFill>
              <a:ln w="9525" cap="flat" cmpd="sng">
                <a:solidFill>
                  <a:srgbClr val="113F4E"/>
                </a:solidFill>
                <a:prstDash val="dot"/>
                <a:miter lim="8000"/>
                <a:headEnd type="none" w="sm" len="sm"/>
                <a:tailEnd type="none" w="sm" len="sm"/>
              </a:ln>
            </p:spPr>
          </p:cxnSp>
        </p:grpSp>
        <p:grpSp>
          <p:nvGrpSpPr>
            <p:cNvPr id="231" name="Google Shape;231;p20"/>
            <p:cNvGrpSpPr/>
            <p:nvPr/>
          </p:nvGrpSpPr>
          <p:grpSpPr>
            <a:xfrm>
              <a:off x="3202715" y="3337167"/>
              <a:ext cx="7364543" cy="155729"/>
              <a:chOff x="4906190" y="2727732"/>
              <a:chExt cx="3933000" cy="166200"/>
            </a:xfrm>
          </p:grpSpPr>
          <p:sp>
            <p:nvSpPr>
              <p:cNvPr id="232" name="Google Shape;232;p20"/>
              <p:cNvSpPr/>
              <p:nvPr/>
            </p:nvSpPr>
            <p:spPr>
              <a:xfrm>
                <a:off x="4906190" y="2727732"/>
                <a:ext cx="166200" cy="166200"/>
              </a:xfrm>
              <a:prstGeom prst="rect">
                <a:avLst/>
              </a:prstGeom>
              <a:solidFill>
                <a:srgbClr val="55C0AF"/>
              </a:solidFill>
              <a:ln w="9525" cap="flat" cmpd="sng">
                <a:solidFill>
                  <a:srgbClr val="55C0A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chemeClr val="lt1"/>
                  </a:solidFill>
                  <a:latin typeface="Microsoft Yahei"/>
                  <a:ea typeface="Microsoft Yahei"/>
                  <a:cs typeface="Microsoft Yahei"/>
                  <a:sym typeface="Microsoft Yahei"/>
                </a:endParaRPr>
              </a:p>
            </p:txBody>
          </p:sp>
          <p:cxnSp>
            <p:nvCxnSpPr>
              <p:cNvPr id="233" name="Google Shape;233;p20"/>
              <p:cNvCxnSpPr>
                <a:stCxn id="232" idx="3"/>
              </p:cNvCxnSpPr>
              <p:nvPr/>
            </p:nvCxnSpPr>
            <p:spPr>
              <a:xfrm>
                <a:off x="5072390" y="2810832"/>
                <a:ext cx="3766800" cy="0"/>
              </a:xfrm>
              <a:prstGeom prst="straightConnector1">
                <a:avLst/>
              </a:prstGeom>
              <a:noFill/>
              <a:ln w="9525" cap="flat" cmpd="sng">
                <a:solidFill>
                  <a:srgbClr val="55C0AF"/>
                </a:solidFill>
                <a:prstDash val="dot"/>
                <a:miter lim="8000"/>
                <a:headEnd type="none" w="sm" len="sm"/>
                <a:tailEnd type="none" w="sm" len="sm"/>
              </a:ln>
            </p:spPr>
          </p:cxnSp>
        </p:grpSp>
        <p:grpSp>
          <p:nvGrpSpPr>
            <p:cNvPr id="234" name="Google Shape;234;p20"/>
            <p:cNvGrpSpPr/>
            <p:nvPr/>
          </p:nvGrpSpPr>
          <p:grpSpPr>
            <a:xfrm>
              <a:off x="3202715" y="4273994"/>
              <a:ext cx="7364692" cy="155729"/>
              <a:chOff x="4906190" y="3870732"/>
              <a:chExt cx="3933080" cy="166200"/>
            </a:xfrm>
          </p:grpSpPr>
          <p:sp>
            <p:nvSpPr>
              <p:cNvPr id="235" name="Google Shape;235;p20"/>
              <p:cNvSpPr/>
              <p:nvPr/>
            </p:nvSpPr>
            <p:spPr>
              <a:xfrm>
                <a:off x="4906190" y="3870732"/>
                <a:ext cx="166200" cy="166200"/>
              </a:xfrm>
              <a:prstGeom prst="rect">
                <a:avLst/>
              </a:prstGeom>
              <a:solidFill>
                <a:srgbClr val="113F4E"/>
              </a:solidFill>
              <a:ln w="9525" cap="flat" cmpd="sng">
                <a:solidFill>
                  <a:srgbClr val="113F4E"/>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chemeClr val="lt1"/>
                  </a:solidFill>
                  <a:latin typeface="Microsoft Yahei"/>
                  <a:ea typeface="Microsoft Yahei"/>
                  <a:cs typeface="Microsoft Yahei"/>
                  <a:sym typeface="Microsoft Yahei"/>
                </a:endParaRPr>
              </a:p>
            </p:txBody>
          </p:sp>
          <p:cxnSp>
            <p:nvCxnSpPr>
              <p:cNvPr id="236" name="Google Shape;236;p20"/>
              <p:cNvCxnSpPr/>
              <p:nvPr/>
            </p:nvCxnSpPr>
            <p:spPr>
              <a:xfrm>
                <a:off x="5072470" y="3941172"/>
                <a:ext cx="3766800" cy="0"/>
              </a:xfrm>
              <a:prstGeom prst="straightConnector1">
                <a:avLst/>
              </a:prstGeom>
              <a:solidFill>
                <a:srgbClr val="113F4E"/>
              </a:solidFill>
              <a:ln w="9525" cap="flat" cmpd="sng">
                <a:solidFill>
                  <a:srgbClr val="113F4E"/>
                </a:solidFill>
                <a:prstDash val="dot"/>
                <a:miter lim="8000"/>
                <a:headEnd type="none" w="sm" len="sm"/>
                <a:tailEnd type="none" w="sm" len="sm"/>
              </a:ln>
            </p:spPr>
          </p:cxnSp>
        </p:grpSp>
        <p:sp>
          <p:nvSpPr>
            <p:cNvPr id="237" name="Google Shape;237;p20"/>
            <p:cNvSpPr txBox="1"/>
            <p:nvPr/>
          </p:nvSpPr>
          <p:spPr>
            <a:xfrm>
              <a:off x="3202580" y="2532614"/>
              <a:ext cx="7364400" cy="4359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900"/>
                </a:spcAft>
                <a:buSzPts val="800"/>
                <a:buNone/>
              </a:pPr>
              <a:r>
                <a:rPr lang="zh-TW" sz="2000">
                  <a:solidFill>
                    <a:schemeClr val="dk1"/>
                  </a:solidFill>
                  <a:latin typeface="DFKai-SB"/>
                  <a:ea typeface="DFKai-SB"/>
                  <a:cs typeface="DFKai-SB"/>
                  <a:sym typeface="DFKai-SB"/>
                </a:rPr>
                <a:t>1.使用者必須能登入系統</a:t>
              </a:r>
              <a:endParaRPr sz="900">
                <a:solidFill>
                  <a:schemeClr val="dk1"/>
                </a:solidFill>
                <a:latin typeface="Microsoft Yahei"/>
                <a:ea typeface="Microsoft Yahei"/>
                <a:cs typeface="Microsoft Yahei"/>
                <a:sym typeface="Microsoft Yahei"/>
              </a:endParaRPr>
            </a:p>
          </p:txBody>
        </p:sp>
        <p:sp>
          <p:nvSpPr>
            <p:cNvPr id="238" name="Google Shape;238;p20"/>
            <p:cNvSpPr txBox="1"/>
            <p:nvPr/>
          </p:nvSpPr>
          <p:spPr>
            <a:xfrm>
              <a:off x="3202585" y="3500279"/>
              <a:ext cx="7739400" cy="7830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800"/>
                <a:buFont typeface="Arial"/>
                <a:buNone/>
              </a:pPr>
              <a:r>
                <a:rPr lang="zh-TW" sz="2000">
                  <a:solidFill>
                    <a:schemeClr val="dk1"/>
                  </a:solidFill>
                  <a:latin typeface="DFKai-SB"/>
                  <a:ea typeface="DFKai-SB"/>
                  <a:cs typeface="DFKai-SB"/>
                  <a:sym typeface="DFKai-SB"/>
                </a:rPr>
                <a:t>2.支援教室借用類型選擇(短期借用 / 長期借用）</a:t>
              </a:r>
              <a:endParaRPr sz="1700">
                <a:solidFill>
                  <a:schemeClr val="dk1"/>
                </a:solidFill>
                <a:latin typeface="DFKai-SB"/>
                <a:ea typeface="DFKai-SB"/>
                <a:cs typeface="DFKai-SB"/>
                <a:sym typeface="DFKai-SB"/>
              </a:endParaRPr>
            </a:p>
            <a:p>
              <a:pPr marL="0" marR="0" lvl="0" indent="0" algn="l" rtl="0">
                <a:lnSpc>
                  <a:spcPct val="130000"/>
                </a:lnSpc>
                <a:spcBef>
                  <a:spcPts val="900"/>
                </a:spcBef>
                <a:spcAft>
                  <a:spcPts val="0"/>
                </a:spcAft>
                <a:buNone/>
              </a:pPr>
              <a:endParaRPr sz="900">
                <a:solidFill>
                  <a:schemeClr val="dk1"/>
                </a:solidFill>
                <a:latin typeface="Microsoft Yahei"/>
                <a:ea typeface="Microsoft Yahei"/>
                <a:cs typeface="Microsoft Yahei"/>
                <a:sym typeface="Microsoft Yahei"/>
              </a:endParaRPr>
            </a:p>
          </p:txBody>
        </p:sp>
        <p:sp>
          <p:nvSpPr>
            <p:cNvPr id="239" name="Google Shape;239;p20"/>
            <p:cNvSpPr txBox="1"/>
            <p:nvPr/>
          </p:nvSpPr>
          <p:spPr>
            <a:xfrm>
              <a:off x="3202580" y="4467082"/>
              <a:ext cx="7364400" cy="4359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900"/>
                </a:spcAft>
                <a:buSzPts val="800"/>
                <a:buNone/>
              </a:pPr>
              <a:r>
                <a:rPr lang="zh-TW" sz="2000">
                  <a:solidFill>
                    <a:schemeClr val="dk1"/>
                  </a:solidFill>
                  <a:latin typeface="DFKai-SB"/>
                  <a:ea typeface="DFKai-SB"/>
                  <a:cs typeface="DFKai-SB"/>
                  <a:sym typeface="DFKai-SB"/>
                </a:rPr>
                <a:t>3.使用者可以查詢教室狀態</a:t>
              </a:r>
              <a:endParaRPr sz="900">
                <a:solidFill>
                  <a:schemeClr val="dk1"/>
                </a:solidFill>
                <a:latin typeface="Microsoft Yahei"/>
                <a:ea typeface="Microsoft Yahei"/>
                <a:cs typeface="Microsoft Yahei"/>
                <a:sym typeface="Microsoft Yahei"/>
              </a:endParaRPr>
            </a:p>
          </p:txBody>
        </p:sp>
        <p:grpSp>
          <p:nvGrpSpPr>
            <p:cNvPr id="240" name="Google Shape;240;p20"/>
            <p:cNvGrpSpPr/>
            <p:nvPr/>
          </p:nvGrpSpPr>
          <p:grpSpPr>
            <a:xfrm>
              <a:off x="3203257" y="5213275"/>
              <a:ext cx="7364690" cy="155729"/>
              <a:chOff x="4989842" y="3870732"/>
              <a:chExt cx="3933079" cy="166200"/>
            </a:xfrm>
          </p:grpSpPr>
          <p:sp>
            <p:nvSpPr>
              <p:cNvPr id="241" name="Google Shape;241;p20"/>
              <p:cNvSpPr/>
              <p:nvPr/>
            </p:nvSpPr>
            <p:spPr>
              <a:xfrm>
                <a:off x="4989842" y="3870732"/>
                <a:ext cx="166200" cy="166200"/>
              </a:xfrm>
              <a:prstGeom prst="rect">
                <a:avLst/>
              </a:prstGeom>
              <a:solidFill>
                <a:srgbClr val="55C0AF"/>
              </a:solidFill>
              <a:ln w="9525" cap="flat" cmpd="sng">
                <a:solidFill>
                  <a:srgbClr val="55C0A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chemeClr val="lt1"/>
                  </a:solidFill>
                  <a:latin typeface="Microsoft Yahei"/>
                  <a:ea typeface="Microsoft Yahei"/>
                  <a:cs typeface="Microsoft Yahei"/>
                  <a:sym typeface="Microsoft Yahei"/>
                </a:endParaRPr>
              </a:p>
            </p:txBody>
          </p:sp>
          <p:cxnSp>
            <p:nvCxnSpPr>
              <p:cNvPr id="242" name="Google Shape;242;p20"/>
              <p:cNvCxnSpPr/>
              <p:nvPr/>
            </p:nvCxnSpPr>
            <p:spPr>
              <a:xfrm>
                <a:off x="5156121" y="3941172"/>
                <a:ext cx="3766800" cy="0"/>
              </a:xfrm>
              <a:prstGeom prst="straightConnector1">
                <a:avLst/>
              </a:prstGeom>
              <a:noFill/>
              <a:ln w="9525" cap="flat" cmpd="sng">
                <a:solidFill>
                  <a:srgbClr val="55C0AF"/>
                </a:solidFill>
                <a:prstDash val="dot"/>
                <a:miter lim="8000"/>
                <a:headEnd type="none" w="sm" len="sm"/>
                <a:tailEnd type="none" w="sm" len="sm"/>
              </a:ln>
            </p:spPr>
          </p:cxnSp>
        </p:grpSp>
        <p:sp>
          <p:nvSpPr>
            <p:cNvPr id="243" name="Google Shape;243;p20"/>
            <p:cNvSpPr txBox="1"/>
            <p:nvPr/>
          </p:nvSpPr>
          <p:spPr>
            <a:xfrm>
              <a:off x="3203109" y="5406353"/>
              <a:ext cx="8417400" cy="7830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800"/>
                <a:buFont typeface="Arial"/>
                <a:buNone/>
              </a:pPr>
              <a:r>
                <a:rPr lang="zh-TW" sz="2000">
                  <a:solidFill>
                    <a:schemeClr val="dk1"/>
                  </a:solidFill>
                  <a:latin typeface="DFKai-SB"/>
                  <a:ea typeface="DFKai-SB"/>
                  <a:cs typeface="DFKai-SB"/>
                  <a:sym typeface="DFKai-SB"/>
                </a:rPr>
                <a:t>4.系統需防止時間衝突（同一教室不可同時被借用）</a:t>
              </a:r>
              <a:endParaRPr sz="1700">
                <a:solidFill>
                  <a:schemeClr val="dk1"/>
                </a:solidFill>
                <a:latin typeface="DFKai-SB"/>
                <a:ea typeface="DFKai-SB"/>
                <a:cs typeface="DFKai-SB"/>
                <a:sym typeface="DFKai-SB"/>
              </a:endParaRPr>
            </a:p>
            <a:p>
              <a:pPr marL="0" marR="0" lvl="0" indent="0" algn="just" rtl="0">
                <a:lnSpc>
                  <a:spcPct val="130000"/>
                </a:lnSpc>
                <a:spcBef>
                  <a:spcPts val="900"/>
                </a:spcBef>
                <a:spcAft>
                  <a:spcPts val="0"/>
                </a:spcAft>
                <a:buNone/>
              </a:pPr>
              <a:endParaRPr sz="900">
                <a:solidFill>
                  <a:schemeClr val="dk1"/>
                </a:solidFill>
                <a:latin typeface="Microsoft Yahei"/>
                <a:ea typeface="Microsoft Yahei"/>
                <a:cs typeface="Microsoft Yahei"/>
                <a:sym typeface="Microsoft Yahei"/>
              </a:endParaRPr>
            </a:p>
          </p:txBody>
        </p:sp>
        <p:grpSp>
          <p:nvGrpSpPr>
            <p:cNvPr id="244" name="Google Shape;244;p20"/>
            <p:cNvGrpSpPr/>
            <p:nvPr/>
          </p:nvGrpSpPr>
          <p:grpSpPr>
            <a:xfrm>
              <a:off x="3220079" y="5981151"/>
              <a:ext cx="7364542" cy="155729"/>
              <a:chOff x="4906190" y="1416527"/>
              <a:chExt cx="3933000" cy="166200"/>
            </a:xfrm>
          </p:grpSpPr>
          <p:sp>
            <p:nvSpPr>
              <p:cNvPr id="245" name="Google Shape;245;p20"/>
              <p:cNvSpPr/>
              <p:nvPr/>
            </p:nvSpPr>
            <p:spPr>
              <a:xfrm>
                <a:off x="4906190" y="1416527"/>
                <a:ext cx="166200" cy="166200"/>
              </a:xfrm>
              <a:prstGeom prst="rect">
                <a:avLst/>
              </a:prstGeom>
              <a:solidFill>
                <a:srgbClr val="113F4E"/>
              </a:solidFill>
              <a:ln w="9525" cap="flat" cmpd="sng">
                <a:solidFill>
                  <a:srgbClr val="113F4E"/>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rgbClr val="FFB850"/>
                  </a:solidFill>
                  <a:latin typeface="Microsoft Yahei"/>
                  <a:ea typeface="Microsoft Yahei"/>
                  <a:cs typeface="Microsoft Yahei"/>
                  <a:sym typeface="Microsoft Yahei"/>
                </a:endParaRPr>
              </a:p>
            </p:txBody>
          </p:sp>
          <p:cxnSp>
            <p:nvCxnSpPr>
              <p:cNvPr id="246" name="Google Shape;246;p20"/>
              <p:cNvCxnSpPr>
                <a:stCxn id="245" idx="3"/>
              </p:cNvCxnSpPr>
              <p:nvPr/>
            </p:nvCxnSpPr>
            <p:spPr>
              <a:xfrm>
                <a:off x="5072390" y="1499627"/>
                <a:ext cx="3766800" cy="0"/>
              </a:xfrm>
              <a:prstGeom prst="straightConnector1">
                <a:avLst/>
              </a:prstGeom>
              <a:solidFill>
                <a:srgbClr val="113F4E"/>
              </a:solidFill>
              <a:ln w="9525" cap="flat" cmpd="sng">
                <a:solidFill>
                  <a:srgbClr val="113F4E"/>
                </a:solidFill>
                <a:prstDash val="dot"/>
                <a:miter lim="8000"/>
                <a:headEnd type="none" w="sm" len="sm"/>
                <a:tailEnd type="none" w="sm" len="sm"/>
              </a:ln>
            </p:spPr>
          </p:cxnSp>
        </p:grpSp>
        <p:sp>
          <p:nvSpPr>
            <p:cNvPr id="247" name="Google Shape;247;p20"/>
            <p:cNvSpPr txBox="1"/>
            <p:nvPr/>
          </p:nvSpPr>
          <p:spPr>
            <a:xfrm>
              <a:off x="3202594" y="6306220"/>
              <a:ext cx="7364400" cy="7830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800"/>
                <a:buFont typeface="Arial"/>
                <a:buNone/>
              </a:pPr>
              <a:r>
                <a:rPr lang="zh-TW" sz="2000">
                  <a:solidFill>
                    <a:schemeClr val="dk1"/>
                  </a:solidFill>
                  <a:latin typeface="DFKai-SB"/>
                  <a:ea typeface="DFKai-SB"/>
                  <a:cs typeface="DFKai-SB"/>
                  <a:sym typeface="DFKai-SB"/>
                </a:rPr>
                <a:t>5.借用需經過審核</a:t>
              </a:r>
              <a:endParaRPr sz="1700">
                <a:solidFill>
                  <a:schemeClr val="dk1"/>
                </a:solidFill>
                <a:latin typeface="DFKai-SB"/>
                <a:ea typeface="DFKai-SB"/>
                <a:cs typeface="DFKai-SB"/>
                <a:sym typeface="DFKai-SB"/>
              </a:endParaRPr>
            </a:p>
            <a:p>
              <a:pPr marL="0" marR="0" lvl="0" indent="0" algn="l" rtl="0">
                <a:lnSpc>
                  <a:spcPct val="130000"/>
                </a:lnSpc>
                <a:spcBef>
                  <a:spcPts val="900"/>
                </a:spcBef>
                <a:spcAft>
                  <a:spcPts val="0"/>
                </a:spcAft>
                <a:buNone/>
              </a:pPr>
              <a:endParaRPr sz="900">
                <a:solidFill>
                  <a:schemeClr val="dk1"/>
                </a:solidFill>
                <a:latin typeface="Microsoft Yahei"/>
                <a:ea typeface="Microsoft Yahei"/>
                <a:cs typeface="Microsoft Yahei"/>
                <a:sym typeface="Microsoft Yahei"/>
              </a:endParaRPr>
            </a:p>
          </p:txBody>
        </p:sp>
      </p:grpSp>
      <p:sp>
        <p:nvSpPr>
          <p:cNvPr id="248" name="Google Shape;24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grpSp>
        <p:nvGrpSpPr>
          <p:cNvPr id="254" name="Google Shape;254;p21"/>
          <p:cNvGrpSpPr/>
          <p:nvPr/>
        </p:nvGrpSpPr>
        <p:grpSpPr>
          <a:xfrm>
            <a:off x="382271" y="221981"/>
            <a:ext cx="2568885" cy="466773"/>
            <a:chOff x="956666" y="3447854"/>
            <a:chExt cx="3425180" cy="622364"/>
          </a:xfrm>
        </p:grpSpPr>
        <p:sp>
          <p:nvSpPr>
            <p:cNvPr id="255" name="Google Shape;255;p21"/>
            <p:cNvSpPr txBox="1"/>
            <p:nvPr/>
          </p:nvSpPr>
          <p:spPr>
            <a:xfrm>
              <a:off x="1581046" y="3447854"/>
              <a:ext cx="2800800" cy="564300"/>
            </a:xfrm>
            <a:prstGeom prst="rect">
              <a:avLst/>
            </a:prstGeom>
            <a:noFill/>
            <a:ln>
              <a:noFill/>
            </a:ln>
          </p:spPr>
          <p:txBody>
            <a:bodyPr spcFirstLastPara="1" wrap="square" lIns="68575" tIns="34275" rIns="68575" bIns="34275" anchor="t" anchorCtr="1">
              <a:spAutoFit/>
            </a:bodyPr>
            <a:lstStyle/>
            <a:p>
              <a:pPr marL="0" lvl="0" indent="0" algn="l" rtl="0">
                <a:lnSpc>
                  <a:spcPct val="115000"/>
                </a:lnSpc>
                <a:spcBef>
                  <a:spcPts val="900"/>
                </a:spcBef>
                <a:spcAft>
                  <a:spcPts val="900"/>
                </a:spcAft>
                <a:buSzPts val="800"/>
                <a:buNone/>
              </a:pPr>
              <a:r>
                <a:rPr lang="zh-TW" sz="2300" b="1">
                  <a:solidFill>
                    <a:schemeClr val="dk1"/>
                  </a:solidFill>
                  <a:latin typeface="DFKai-SB"/>
                  <a:ea typeface="DFKai-SB"/>
                  <a:cs typeface="DFKai-SB"/>
                  <a:sym typeface="DFKai-SB"/>
                </a:rPr>
                <a:t>功能性需求</a:t>
              </a:r>
              <a:endParaRPr sz="2300" b="1">
                <a:solidFill>
                  <a:schemeClr val="dk1"/>
                </a:solidFill>
                <a:latin typeface="DFKai-SB"/>
                <a:ea typeface="DFKai-SB"/>
                <a:cs typeface="DFKai-SB"/>
                <a:sym typeface="DFKai-SB"/>
              </a:endParaRPr>
            </a:p>
          </p:txBody>
        </p:sp>
        <p:sp>
          <p:nvSpPr>
            <p:cNvPr id="256" name="Google Shape;256;p21"/>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257" name="Google Shape;257;p21"/>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pSp>
        <p:nvGrpSpPr>
          <p:cNvPr id="258" name="Google Shape;258;p21"/>
          <p:cNvGrpSpPr/>
          <p:nvPr/>
        </p:nvGrpSpPr>
        <p:grpSpPr>
          <a:xfrm>
            <a:off x="320087" y="2009914"/>
            <a:ext cx="1990725" cy="2008111"/>
            <a:chOff x="3711385" y="1272950"/>
            <a:chExt cx="5138682" cy="5183559"/>
          </a:xfrm>
        </p:grpSpPr>
        <p:grpSp>
          <p:nvGrpSpPr>
            <p:cNvPr id="259" name="Google Shape;259;p21"/>
            <p:cNvGrpSpPr/>
            <p:nvPr/>
          </p:nvGrpSpPr>
          <p:grpSpPr>
            <a:xfrm>
              <a:off x="3711385" y="1272950"/>
              <a:ext cx="5138682" cy="5183559"/>
              <a:chOff x="3765171" y="1421576"/>
              <a:chExt cx="4704460" cy="4745545"/>
            </a:xfrm>
          </p:grpSpPr>
          <p:sp>
            <p:nvSpPr>
              <p:cNvPr id="260" name="Google Shape;260;p21"/>
              <p:cNvSpPr/>
              <p:nvPr/>
            </p:nvSpPr>
            <p:spPr>
              <a:xfrm rot="10800000">
                <a:off x="3765171" y="2754630"/>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55C0AF"/>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sp>
            <p:nvSpPr>
              <p:cNvPr id="261" name="Google Shape;261;p21"/>
              <p:cNvSpPr/>
              <p:nvPr/>
            </p:nvSpPr>
            <p:spPr>
              <a:xfrm rot="-5400000">
                <a:off x="4900552" y="1592580"/>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113F4E"/>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sp>
            <p:nvSpPr>
              <p:cNvPr id="262" name="Google Shape;262;p21"/>
              <p:cNvSpPr/>
              <p:nvPr/>
            </p:nvSpPr>
            <p:spPr>
              <a:xfrm>
                <a:off x="6047362" y="2750820"/>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55C0AF"/>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sp>
            <p:nvSpPr>
              <p:cNvPr id="263" name="Google Shape;263;p21"/>
              <p:cNvSpPr/>
              <p:nvPr/>
            </p:nvSpPr>
            <p:spPr>
              <a:xfrm rot="5400000">
                <a:off x="4910820" y="3915856"/>
                <a:ext cx="2422269" cy="2080260"/>
              </a:xfrm>
              <a:custGeom>
                <a:avLst/>
                <a:gdLst/>
                <a:ahLst/>
                <a:cxnLst/>
                <a:rect l="l" t="t" r="r" b="b"/>
                <a:pathLst>
                  <a:path w="2422269" h="2080260" extrusionOk="0">
                    <a:moveTo>
                      <a:pt x="1382139" y="2080260"/>
                    </a:moveTo>
                    <a:lnTo>
                      <a:pt x="1198649" y="2080260"/>
                    </a:lnTo>
                    <a:lnTo>
                      <a:pt x="1198649" y="1699287"/>
                    </a:lnTo>
                    <a:lnTo>
                      <a:pt x="1211517" y="1718373"/>
                    </a:lnTo>
                    <a:cubicBezTo>
                      <a:pt x="1237372" y="1744228"/>
                      <a:pt x="1273091" y="1760220"/>
                      <a:pt x="1312545" y="1760220"/>
                    </a:cubicBezTo>
                    <a:cubicBezTo>
                      <a:pt x="1391453" y="1760220"/>
                      <a:pt x="1455420" y="1696253"/>
                      <a:pt x="1455420" y="1617345"/>
                    </a:cubicBezTo>
                    <a:cubicBezTo>
                      <a:pt x="1455420" y="1538437"/>
                      <a:pt x="1391453" y="1474470"/>
                      <a:pt x="1312545" y="1474470"/>
                    </a:cubicBezTo>
                    <a:cubicBezTo>
                      <a:pt x="1273091" y="1474470"/>
                      <a:pt x="1237372" y="1490462"/>
                      <a:pt x="1211517" y="1516317"/>
                    </a:cubicBezTo>
                    <a:lnTo>
                      <a:pt x="1198649" y="1535403"/>
                    </a:lnTo>
                    <a:lnTo>
                      <a:pt x="1198649" y="1163955"/>
                    </a:lnTo>
                    <a:lnTo>
                      <a:pt x="1397097" y="1163955"/>
                    </a:lnTo>
                    <a:cubicBezTo>
                      <a:pt x="1467588" y="1163955"/>
                      <a:pt x="1524732" y="1106811"/>
                      <a:pt x="1524732" y="1036320"/>
                    </a:cubicBezTo>
                    <a:cubicBezTo>
                      <a:pt x="1524732" y="965829"/>
                      <a:pt x="1467588" y="908685"/>
                      <a:pt x="1397097" y="908685"/>
                    </a:cubicBezTo>
                    <a:lnTo>
                      <a:pt x="195486" y="908685"/>
                    </a:lnTo>
                    <a:lnTo>
                      <a:pt x="195486" y="568499"/>
                    </a:lnTo>
                    <a:lnTo>
                      <a:pt x="142875" y="579120"/>
                    </a:lnTo>
                    <a:cubicBezTo>
                      <a:pt x="63967" y="579120"/>
                      <a:pt x="0" y="515153"/>
                      <a:pt x="0" y="436245"/>
                    </a:cubicBezTo>
                    <a:cubicBezTo>
                      <a:pt x="0" y="357337"/>
                      <a:pt x="63967" y="293370"/>
                      <a:pt x="142875" y="293370"/>
                    </a:cubicBezTo>
                    <a:lnTo>
                      <a:pt x="195486" y="303992"/>
                    </a:lnTo>
                    <a:lnTo>
                      <a:pt x="195486" y="0"/>
                    </a:lnTo>
                    <a:lnTo>
                      <a:pt x="1382139" y="0"/>
                    </a:lnTo>
                    <a:cubicBezTo>
                      <a:pt x="1956587" y="0"/>
                      <a:pt x="2422269" y="465682"/>
                      <a:pt x="2422269" y="1040130"/>
                    </a:cubicBezTo>
                    <a:cubicBezTo>
                      <a:pt x="2422269" y="1614578"/>
                      <a:pt x="1956587" y="2080260"/>
                      <a:pt x="1382139" y="2080260"/>
                    </a:cubicBezTo>
                    <a:close/>
                  </a:path>
                </a:pathLst>
              </a:custGeom>
              <a:solidFill>
                <a:srgbClr val="113F4E"/>
              </a:solidFill>
              <a:ln>
                <a:noFill/>
              </a:ln>
            </p:spPr>
            <p:txBody>
              <a:bodyPr spcFirstLastPara="1" wrap="square" lIns="45675" tIns="22850" rIns="45675" bIns="22850" anchor="ctr" anchorCtr="0">
                <a:noAutofit/>
              </a:bodyPr>
              <a:lstStyle/>
              <a:p>
                <a:pPr marL="0" marR="0" lvl="0" indent="0" algn="ctr" rtl="0">
                  <a:spcBef>
                    <a:spcPts val="0"/>
                  </a:spcBef>
                  <a:spcAft>
                    <a:spcPts val="0"/>
                  </a:spcAft>
                  <a:buNone/>
                </a:pPr>
                <a:endParaRPr sz="900">
                  <a:solidFill>
                    <a:srgbClr val="FFFFFF"/>
                  </a:solidFill>
                  <a:latin typeface="Microsoft Yahei"/>
                  <a:ea typeface="Microsoft Yahei"/>
                  <a:cs typeface="Microsoft Yahei"/>
                  <a:sym typeface="Microsoft Yahei"/>
                </a:endParaRPr>
              </a:p>
            </p:txBody>
          </p:sp>
        </p:grpSp>
        <p:grpSp>
          <p:nvGrpSpPr>
            <p:cNvPr id="264" name="Google Shape;264;p21"/>
            <p:cNvGrpSpPr/>
            <p:nvPr/>
          </p:nvGrpSpPr>
          <p:grpSpPr>
            <a:xfrm>
              <a:off x="6008633" y="5754099"/>
              <a:ext cx="478637" cy="476753"/>
              <a:chOff x="4557733" y="2434359"/>
              <a:chExt cx="512624" cy="510606"/>
            </a:xfrm>
          </p:grpSpPr>
          <p:sp>
            <p:nvSpPr>
              <p:cNvPr id="265" name="Google Shape;265;p21"/>
              <p:cNvSpPr/>
              <p:nvPr/>
            </p:nvSpPr>
            <p:spPr>
              <a:xfrm>
                <a:off x="4557733" y="2434359"/>
                <a:ext cx="512624" cy="510606"/>
              </a:xfrm>
              <a:custGeom>
                <a:avLst/>
                <a:gdLst/>
                <a:ahLst/>
                <a:cxnLst/>
                <a:rect l="l" t="t" r="r" b="b"/>
                <a:pathLst>
                  <a:path w="172" h="172" extrusionOk="0">
                    <a:moveTo>
                      <a:pt x="86" y="21"/>
                    </a:moveTo>
                    <a:cubicBezTo>
                      <a:pt x="122" y="21"/>
                      <a:pt x="151" y="50"/>
                      <a:pt x="151" y="86"/>
                    </a:cubicBezTo>
                    <a:cubicBezTo>
                      <a:pt x="151" y="122"/>
                      <a:pt x="122" y="151"/>
                      <a:pt x="86" y="151"/>
                    </a:cubicBezTo>
                    <a:cubicBezTo>
                      <a:pt x="50" y="151"/>
                      <a:pt x="21" y="122"/>
                      <a:pt x="21" y="86"/>
                    </a:cubicBezTo>
                    <a:cubicBezTo>
                      <a:pt x="21" y="50"/>
                      <a:pt x="50" y="21"/>
                      <a:pt x="86" y="21"/>
                    </a:cubicBezTo>
                    <a:moveTo>
                      <a:pt x="86" y="0"/>
                    </a:moveTo>
                    <a:cubicBezTo>
                      <a:pt x="38" y="0"/>
                      <a:pt x="0" y="38"/>
                      <a:pt x="0" y="86"/>
                    </a:cubicBezTo>
                    <a:cubicBezTo>
                      <a:pt x="0" y="134"/>
                      <a:pt x="38" y="172"/>
                      <a:pt x="86" y="172"/>
                    </a:cubicBezTo>
                    <a:cubicBezTo>
                      <a:pt x="134" y="172"/>
                      <a:pt x="172" y="134"/>
                      <a:pt x="172" y="86"/>
                    </a:cubicBezTo>
                    <a:cubicBezTo>
                      <a:pt x="172" y="38"/>
                      <a:pt x="134" y="0"/>
                      <a:pt x="86" y="0"/>
                    </a:cubicBezTo>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900">
                  <a:solidFill>
                    <a:schemeClr val="dk1"/>
                  </a:solidFill>
                  <a:latin typeface="Microsoft Yahei"/>
                  <a:ea typeface="Microsoft Yahei"/>
                  <a:cs typeface="Microsoft Yahei"/>
                  <a:sym typeface="Microsoft Yahei"/>
                </a:endParaRPr>
              </a:p>
            </p:txBody>
          </p:sp>
          <p:sp>
            <p:nvSpPr>
              <p:cNvPr id="266" name="Google Shape;266;p21"/>
              <p:cNvSpPr/>
              <p:nvPr/>
            </p:nvSpPr>
            <p:spPr>
              <a:xfrm>
                <a:off x="4781753" y="2529215"/>
                <a:ext cx="129165" cy="254294"/>
              </a:xfrm>
              <a:custGeom>
                <a:avLst/>
                <a:gdLst/>
                <a:ahLst/>
                <a:cxnLst/>
                <a:rect l="l" t="t" r="r" b="b"/>
                <a:pathLst>
                  <a:path w="44" h="86" extrusionOk="0">
                    <a:moveTo>
                      <a:pt x="33" y="86"/>
                    </a:moveTo>
                    <a:cubicBezTo>
                      <a:pt x="30" y="86"/>
                      <a:pt x="27" y="85"/>
                      <a:pt x="25" y="83"/>
                    </a:cubicBezTo>
                    <a:cubicBezTo>
                      <a:pt x="3" y="62"/>
                      <a:pt x="3" y="62"/>
                      <a:pt x="3" y="62"/>
                    </a:cubicBezTo>
                    <a:cubicBezTo>
                      <a:pt x="1" y="60"/>
                      <a:pt x="0" y="57"/>
                      <a:pt x="0" y="54"/>
                    </a:cubicBezTo>
                    <a:cubicBezTo>
                      <a:pt x="0" y="54"/>
                      <a:pt x="0" y="54"/>
                      <a:pt x="0" y="54"/>
                    </a:cubicBezTo>
                    <a:cubicBezTo>
                      <a:pt x="0" y="54"/>
                      <a:pt x="0" y="54"/>
                      <a:pt x="0" y="54"/>
                    </a:cubicBezTo>
                    <a:cubicBezTo>
                      <a:pt x="0" y="11"/>
                      <a:pt x="0" y="11"/>
                      <a:pt x="0" y="11"/>
                    </a:cubicBezTo>
                    <a:cubicBezTo>
                      <a:pt x="0" y="5"/>
                      <a:pt x="5" y="0"/>
                      <a:pt x="11" y="0"/>
                    </a:cubicBezTo>
                    <a:cubicBezTo>
                      <a:pt x="17" y="0"/>
                      <a:pt x="22" y="5"/>
                      <a:pt x="22" y="11"/>
                    </a:cubicBezTo>
                    <a:cubicBezTo>
                      <a:pt x="22" y="50"/>
                      <a:pt x="22" y="50"/>
                      <a:pt x="22" y="50"/>
                    </a:cubicBezTo>
                    <a:cubicBezTo>
                      <a:pt x="40" y="68"/>
                      <a:pt x="40" y="68"/>
                      <a:pt x="40" y="68"/>
                    </a:cubicBezTo>
                    <a:cubicBezTo>
                      <a:pt x="44" y="72"/>
                      <a:pt x="44" y="79"/>
                      <a:pt x="40" y="83"/>
                    </a:cubicBezTo>
                    <a:cubicBezTo>
                      <a:pt x="38" y="85"/>
                      <a:pt x="35" y="86"/>
                      <a:pt x="33" y="86"/>
                    </a:cubicBezTo>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900">
                  <a:solidFill>
                    <a:schemeClr val="dk1"/>
                  </a:solidFill>
                  <a:latin typeface="Microsoft Yahei"/>
                  <a:ea typeface="Microsoft Yahei"/>
                  <a:cs typeface="Microsoft Yahei"/>
                  <a:sym typeface="Microsoft Yahei"/>
                </a:endParaRPr>
              </a:p>
            </p:txBody>
          </p:sp>
        </p:grpSp>
        <p:grpSp>
          <p:nvGrpSpPr>
            <p:cNvPr id="267" name="Google Shape;267;p21"/>
            <p:cNvGrpSpPr/>
            <p:nvPr/>
          </p:nvGrpSpPr>
          <p:grpSpPr>
            <a:xfrm>
              <a:off x="5930134" y="1546509"/>
              <a:ext cx="438265" cy="421472"/>
              <a:chOff x="6159731" y="1864447"/>
              <a:chExt cx="469385" cy="451400"/>
            </a:xfrm>
          </p:grpSpPr>
          <p:sp>
            <p:nvSpPr>
              <p:cNvPr id="268" name="Google Shape;268;p21"/>
              <p:cNvSpPr/>
              <p:nvPr/>
            </p:nvSpPr>
            <p:spPr>
              <a:xfrm>
                <a:off x="6288812" y="1864447"/>
                <a:ext cx="211200" cy="213900"/>
              </a:xfrm>
              <a:prstGeom prst="ellipse">
                <a:avLst/>
              </a:pr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400">
                  <a:solidFill>
                    <a:srgbClr val="000000"/>
                  </a:solidFill>
                  <a:latin typeface="Microsoft Yahei"/>
                  <a:ea typeface="Microsoft Yahei"/>
                  <a:cs typeface="Microsoft Yahei"/>
                  <a:sym typeface="Microsoft Yahei"/>
                </a:endParaRPr>
              </a:p>
            </p:txBody>
          </p:sp>
          <p:sp>
            <p:nvSpPr>
              <p:cNvPr id="269" name="Google Shape;269;p21"/>
              <p:cNvSpPr/>
              <p:nvPr/>
            </p:nvSpPr>
            <p:spPr>
              <a:xfrm>
                <a:off x="6159731" y="2111736"/>
                <a:ext cx="469385" cy="204111"/>
              </a:xfrm>
              <a:custGeom>
                <a:avLst/>
                <a:gdLst/>
                <a:ahLst/>
                <a:cxnLst/>
                <a:rect l="l" t="t" r="r" b="b"/>
                <a:pathLst>
                  <a:path w="200" h="87" extrusionOk="0">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400">
                  <a:solidFill>
                    <a:srgbClr val="000000"/>
                  </a:solidFill>
                  <a:latin typeface="Microsoft Yahei"/>
                  <a:ea typeface="Microsoft Yahei"/>
                  <a:cs typeface="Microsoft Yahei"/>
                  <a:sym typeface="Microsoft Yahei"/>
                </a:endParaRPr>
              </a:p>
            </p:txBody>
          </p:sp>
        </p:grpSp>
        <p:grpSp>
          <p:nvGrpSpPr>
            <p:cNvPr id="270" name="Google Shape;270;p21"/>
            <p:cNvGrpSpPr/>
            <p:nvPr/>
          </p:nvGrpSpPr>
          <p:grpSpPr>
            <a:xfrm>
              <a:off x="4034207" y="3712154"/>
              <a:ext cx="396175" cy="343351"/>
              <a:chOff x="7090992" y="4839631"/>
              <a:chExt cx="424306" cy="367732"/>
            </a:xfrm>
          </p:grpSpPr>
          <p:sp>
            <p:nvSpPr>
              <p:cNvPr id="271" name="Google Shape;271;p21"/>
              <p:cNvSpPr/>
              <p:nvPr/>
            </p:nvSpPr>
            <p:spPr>
              <a:xfrm>
                <a:off x="7156995" y="4994536"/>
                <a:ext cx="86882" cy="152885"/>
              </a:xfrm>
              <a:custGeom>
                <a:avLst/>
                <a:gdLst/>
                <a:ahLst/>
                <a:cxnLst/>
                <a:rect l="l" t="t" r="r" b="b"/>
                <a:pathLst>
                  <a:path w="54" h="95" extrusionOk="0">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72" name="Google Shape;272;p21"/>
              <p:cNvSpPr/>
              <p:nvPr/>
            </p:nvSpPr>
            <p:spPr>
              <a:xfrm>
                <a:off x="7282266" y="4937962"/>
                <a:ext cx="86882" cy="209459"/>
              </a:xfrm>
              <a:custGeom>
                <a:avLst/>
                <a:gdLst/>
                <a:ahLst/>
                <a:cxnLst/>
                <a:rect l="l" t="t" r="r" b="b"/>
                <a:pathLst>
                  <a:path w="54" h="130" extrusionOk="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73" name="Google Shape;273;p21"/>
              <p:cNvSpPr/>
              <p:nvPr/>
            </p:nvSpPr>
            <p:spPr>
              <a:xfrm>
                <a:off x="7408885" y="4891491"/>
                <a:ext cx="86882" cy="255931"/>
              </a:xfrm>
              <a:custGeom>
                <a:avLst/>
                <a:gdLst/>
                <a:ahLst/>
                <a:cxnLst/>
                <a:rect l="l" t="t" r="r" b="b"/>
                <a:pathLst>
                  <a:path w="54" h="159" extrusionOk="0">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74" name="Google Shape;274;p21"/>
              <p:cNvSpPr/>
              <p:nvPr/>
            </p:nvSpPr>
            <p:spPr>
              <a:xfrm>
                <a:off x="7090992" y="4839631"/>
                <a:ext cx="424306" cy="367732"/>
              </a:xfrm>
              <a:custGeom>
                <a:avLst/>
                <a:gdLst/>
                <a:ahLst/>
                <a:cxnLst/>
                <a:rect l="l" t="t" r="r" b="b"/>
                <a:pathLst>
                  <a:path w="264" h="228" extrusionOk="0">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grpSp>
        <p:grpSp>
          <p:nvGrpSpPr>
            <p:cNvPr id="275" name="Google Shape;275;p21"/>
            <p:cNvGrpSpPr/>
            <p:nvPr/>
          </p:nvGrpSpPr>
          <p:grpSpPr>
            <a:xfrm>
              <a:off x="8189171" y="3651806"/>
              <a:ext cx="364675" cy="360915"/>
              <a:chOff x="4270293" y="4090633"/>
              <a:chExt cx="390570" cy="386543"/>
            </a:xfrm>
          </p:grpSpPr>
          <p:sp>
            <p:nvSpPr>
              <p:cNvPr id="276" name="Google Shape;276;p21"/>
              <p:cNvSpPr/>
              <p:nvPr/>
            </p:nvSpPr>
            <p:spPr>
              <a:xfrm>
                <a:off x="4270293" y="4307258"/>
                <a:ext cx="390570" cy="169918"/>
              </a:xfrm>
              <a:custGeom>
                <a:avLst/>
                <a:gdLst/>
                <a:ahLst/>
                <a:cxnLst/>
                <a:rect l="l" t="t" r="r" b="b"/>
                <a:pathLst>
                  <a:path w="205" h="89" extrusionOk="0">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sp>
            <p:nvSpPr>
              <p:cNvPr id="277" name="Google Shape;277;p21"/>
              <p:cNvSpPr/>
              <p:nvPr/>
            </p:nvSpPr>
            <p:spPr>
              <a:xfrm>
                <a:off x="4270293" y="4090633"/>
                <a:ext cx="390570" cy="224678"/>
              </a:xfrm>
              <a:custGeom>
                <a:avLst/>
                <a:gdLst/>
                <a:ahLst/>
                <a:cxnLst/>
                <a:rect l="l" t="t" r="r" b="b"/>
                <a:pathLst>
                  <a:path w="205" h="118" extrusionOk="0">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chemeClr val="lt1"/>
              </a:solidFill>
              <a:ln>
                <a:noFill/>
              </a:ln>
            </p:spPr>
            <p:txBody>
              <a:bodyPr spcFirstLastPara="1" wrap="square" lIns="45675" tIns="22850" rIns="45675" bIns="22850" anchor="t" anchorCtr="0">
                <a:noAutofit/>
              </a:bodyPr>
              <a:lstStyle/>
              <a:p>
                <a:pPr marL="0" marR="0" lvl="0" indent="0" algn="l" rtl="0">
                  <a:spcBef>
                    <a:spcPts val="0"/>
                  </a:spcBef>
                  <a:spcAft>
                    <a:spcPts val="0"/>
                  </a:spcAft>
                  <a:buNone/>
                </a:pPr>
                <a:endParaRPr sz="1000">
                  <a:solidFill>
                    <a:srgbClr val="000000"/>
                  </a:solidFill>
                  <a:latin typeface="Microsoft Yahei"/>
                  <a:ea typeface="Microsoft Yahei"/>
                  <a:cs typeface="Microsoft Yahei"/>
                  <a:sym typeface="Microsoft Yahei"/>
                </a:endParaRPr>
              </a:p>
            </p:txBody>
          </p:sp>
        </p:grpSp>
        <p:sp>
          <p:nvSpPr>
            <p:cNvPr id="278" name="Google Shape;278;p21"/>
            <p:cNvSpPr/>
            <p:nvPr/>
          </p:nvSpPr>
          <p:spPr>
            <a:xfrm>
              <a:off x="5204058" y="2867849"/>
              <a:ext cx="7446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sp>
          <p:nvSpPr>
            <p:cNvPr id="279" name="Google Shape;279;p21"/>
            <p:cNvSpPr/>
            <p:nvPr/>
          </p:nvSpPr>
          <p:spPr>
            <a:xfrm>
              <a:off x="6436986" y="2877142"/>
              <a:ext cx="10395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sp>
          <p:nvSpPr>
            <p:cNvPr id="280" name="Google Shape;280;p21"/>
            <p:cNvSpPr/>
            <p:nvPr/>
          </p:nvSpPr>
          <p:spPr>
            <a:xfrm>
              <a:off x="6382619" y="4203625"/>
              <a:ext cx="10395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sp>
          <p:nvSpPr>
            <p:cNvPr id="281" name="Google Shape;281;p21"/>
            <p:cNvSpPr/>
            <p:nvPr/>
          </p:nvSpPr>
          <p:spPr>
            <a:xfrm>
              <a:off x="5037068" y="4149436"/>
              <a:ext cx="1039500" cy="754200"/>
            </a:xfrm>
            <a:prstGeom prst="rect">
              <a:avLst/>
            </a:prstGeom>
            <a:noFill/>
            <a:ln>
              <a:noFill/>
            </a:ln>
          </p:spPr>
          <p:txBody>
            <a:bodyPr spcFirstLastPara="1" wrap="square" lIns="45675" tIns="22850" rIns="45675" bIns="22850" anchor="t" anchorCtr="0">
              <a:noAutofit/>
            </a:bodyPr>
            <a:lstStyle/>
            <a:p>
              <a:pPr marL="0" marR="0" lvl="0" indent="0" algn="ctr" rtl="0">
                <a:spcBef>
                  <a:spcPts val="0"/>
                </a:spcBef>
                <a:spcAft>
                  <a:spcPts val="0"/>
                </a:spcAft>
                <a:buNone/>
              </a:pPr>
              <a:endParaRPr sz="1600">
                <a:solidFill>
                  <a:srgbClr val="FFFFFF"/>
                </a:solidFill>
                <a:latin typeface="Impact"/>
                <a:ea typeface="Impact"/>
                <a:cs typeface="Impact"/>
                <a:sym typeface="Impact"/>
              </a:endParaRPr>
            </a:p>
          </p:txBody>
        </p:sp>
      </p:grpSp>
      <p:grpSp>
        <p:nvGrpSpPr>
          <p:cNvPr id="282" name="Google Shape;282;p21"/>
          <p:cNvGrpSpPr/>
          <p:nvPr/>
        </p:nvGrpSpPr>
        <p:grpSpPr>
          <a:xfrm>
            <a:off x="2552491" y="753033"/>
            <a:ext cx="6313447" cy="4256114"/>
            <a:chOff x="3202580" y="2364465"/>
            <a:chExt cx="8417929" cy="4920363"/>
          </a:xfrm>
        </p:grpSpPr>
        <p:grpSp>
          <p:nvGrpSpPr>
            <p:cNvPr id="283" name="Google Shape;283;p21"/>
            <p:cNvGrpSpPr/>
            <p:nvPr/>
          </p:nvGrpSpPr>
          <p:grpSpPr>
            <a:xfrm>
              <a:off x="3202715" y="2364465"/>
              <a:ext cx="7364543" cy="155729"/>
              <a:chOff x="4906190" y="1416527"/>
              <a:chExt cx="3933000" cy="166200"/>
            </a:xfrm>
          </p:grpSpPr>
          <p:sp>
            <p:nvSpPr>
              <p:cNvPr id="284" name="Google Shape;284;p21"/>
              <p:cNvSpPr/>
              <p:nvPr/>
            </p:nvSpPr>
            <p:spPr>
              <a:xfrm>
                <a:off x="4906190" y="1416527"/>
                <a:ext cx="166200" cy="166200"/>
              </a:xfrm>
              <a:prstGeom prst="rect">
                <a:avLst/>
              </a:prstGeom>
              <a:solidFill>
                <a:srgbClr val="113F4E"/>
              </a:solidFill>
              <a:ln w="9525" cap="flat" cmpd="sng">
                <a:solidFill>
                  <a:srgbClr val="113F4E"/>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rgbClr val="FFB850"/>
                  </a:solidFill>
                  <a:latin typeface="Microsoft Yahei"/>
                  <a:ea typeface="Microsoft Yahei"/>
                  <a:cs typeface="Microsoft Yahei"/>
                  <a:sym typeface="Microsoft Yahei"/>
                </a:endParaRPr>
              </a:p>
            </p:txBody>
          </p:sp>
          <p:cxnSp>
            <p:nvCxnSpPr>
              <p:cNvPr id="285" name="Google Shape;285;p21"/>
              <p:cNvCxnSpPr>
                <a:stCxn id="284" idx="3"/>
              </p:cNvCxnSpPr>
              <p:nvPr/>
            </p:nvCxnSpPr>
            <p:spPr>
              <a:xfrm>
                <a:off x="5072390" y="1499627"/>
                <a:ext cx="3766800" cy="0"/>
              </a:xfrm>
              <a:prstGeom prst="straightConnector1">
                <a:avLst/>
              </a:prstGeom>
              <a:solidFill>
                <a:srgbClr val="113F4E"/>
              </a:solidFill>
              <a:ln w="9525" cap="flat" cmpd="sng">
                <a:solidFill>
                  <a:srgbClr val="113F4E"/>
                </a:solidFill>
                <a:prstDash val="dot"/>
                <a:miter lim="8000"/>
                <a:headEnd type="none" w="sm" len="sm"/>
                <a:tailEnd type="none" w="sm" len="sm"/>
              </a:ln>
            </p:spPr>
          </p:cxnSp>
        </p:grpSp>
        <p:grpSp>
          <p:nvGrpSpPr>
            <p:cNvPr id="286" name="Google Shape;286;p21"/>
            <p:cNvGrpSpPr/>
            <p:nvPr/>
          </p:nvGrpSpPr>
          <p:grpSpPr>
            <a:xfrm>
              <a:off x="3202715" y="3337167"/>
              <a:ext cx="7364543" cy="155729"/>
              <a:chOff x="4906190" y="2727732"/>
              <a:chExt cx="3933000" cy="166200"/>
            </a:xfrm>
          </p:grpSpPr>
          <p:sp>
            <p:nvSpPr>
              <p:cNvPr id="287" name="Google Shape;287;p21"/>
              <p:cNvSpPr/>
              <p:nvPr/>
            </p:nvSpPr>
            <p:spPr>
              <a:xfrm>
                <a:off x="4906190" y="2727732"/>
                <a:ext cx="166200" cy="166200"/>
              </a:xfrm>
              <a:prstGeom prst="rect">
                <a:avLst/>
              </a:prstGeom>
              <a:solidFill>
                <a:srgbClr val="55C0AF"/>
              </a:solidFill>
              <a:ln w="9525" cap="flat" cmpd="sng">
                <a:solidFill>
                  <a:srgbClr val="55C0A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chemeClr val="lt1"/>
                  </a:solidFill>
                  <a:latin typeface="Microsoft Yahei"/>
                  <a:ea typeface="Microsoft Yahei"/>
                  <a:cs typeface="Microsoft Yahei"/>
                  <a:sym typeface="Microsoft Yahei"/>
                </a:endParaRPr>
              </a:p>
            </p:txBody>
          </p:sp>
          <p:cxnSp>
            <p:nvCxnSpPr>
              <p:cNvPr id="288" name="Google Shape;288;p21"/>
              <p:cNvCxnSpPr>
                <a:stCxn id="287" idx="3"/>
              </p:cNvCxnSpPr>
              <p:nvPr/>
            </p:nvCxnSpPr>
            <p:spPr>
              <a:xfrm>
                <a:off x="5072390" y="2810832"/>
                <a:ext cx="3766800" cy="0"/>
              </a:xfrm>
              <a:prstGeom prst="straightConnector1">
                <a:avLst/>
              </a:prstGeom>
              <a:noFill/>
              <a:ln w="9525" cap="flat" cmpd="sng">
                <a:solidFill>
                  <a:srgbClr val="55C0AF"/>
                </a:solidFill>
                <a:prstDash val="dot"/>
                <a:miter lim="8000"/>
                <a:headEnd type="none" w="sm" len="sm"/>
                <a:tailEnd type="none" w="sm" len="sm"/>
              </a:ln>
            </p:spPr>
          </p:cxnSp>
        </p:grpSp>
        <p:grpSp>
          <p:nvGrpSpPr>
            <p:cNvPr id="289" name="Google Shape;289;p21"/>
            <p:cNvGrpSpPr/>
            <p:nvPr/>
          </p:nvGrpSpPr>
          <p:grpSpPr>
            <a:xfrm>
              <a:off x="3202715" y="4273994"/>
              <a:ext cx="7364692" cy="155729"/>
              <a:chOff x="4906190" y="3870732"/>
              <a:chExt cx="3933080" cy="166200"/>
            </a:xfrm>
          </p:grpSpPr>
          <p:sp>
            <p:nvSpPr>
              <p:cNvPr id="290" name="Google Shape;290;p21"/>
              <p:cNvSpPr/>
              <p:nvPr/>
            </p:nvSpPr>
            <p:spPr>
              <a:xfrm>
                <a:off x="4906190" y="3870732"/>
                <a:ext cx="166200" cy="166200"/>
              </a:xfrm>
              <a:prstGeom prst="rect">
                <a:avLst/>
              </a:prstGeom>
              <a:solidFill>
                <a:srgbClr val="113F4E"/>
              </a:solidFill>
              <a:ln w="9525" cap="flat" cmpd="sng">
                <a:solidFill>
                  <a:srgbClr val="113F4E"/>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chemeClr val="lt1"/>
                  </a:solidFill>
                  <a:latin typeface="Microsoft Yahei"/>
                  <a:ea typeface="Microsoft Yahei"/>
                  <a:cs typeface="Microsoft Yahei"/>
                  <a:sym typeface="Microsoft Yahei"/>
                </a:endParaRPr>
              </a:p>
            </p:txBody>
          </p:sp>
          <p:cxnSp>
            <p:nvCxnSpPr>
              <p:cNvPr id="291" name="Google Shape;291;p21"/>
              <p:cNvCxnSpPr/>
              <p:nvPr/>
            </p:nvCxnSpPr>
            <p:spPr>
              <a:xfrm>
                <a:off x="5072470" y="3941172"/>
                <a:ext cx="3766800" cy="0"/>
              </a:xfrm>
              <a:prstGeom prst="straightConnector1">
                <a:avLst/>
              </a:prstGeom>
              <a:solidFill>
                <a:srgbClr val="113F4E"/>
              </a:solidFill>
              <a:ln w="9525" cap="flat" cmpd="sng">
                <a:solidFill>
                  <a:srgbClr val="113F4E"/>
                </a:solidFill>
                <a:prstDash val="dot"/>
                <a:miter lim="8000"/>
                <a:headEnd type="none" w="sm" len="sm"/>
                <a:tailEnd type="none" w="sm" len="sm"/>
              </a:ln>
            </p:spPr>
          </p:cxnSp>
        </p:grpSp>
        <p:sp>
          <p:nvSpPr>
            <p:cNvPr id="292" name="Google Shape;292;p21"/>
            <p:cNvSpPr txBox="1"/>
            <p:nvPr/>
          </p:nvSpPr>
          <p:spPr>
            <a:xfrm>
              <a:off x="3202580" y="2532614"/>
              <a:ext cx="7364400" cy="4359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900"/>
                </a:spcAft>
                <a:buSzPts val="800"/>
                <a:buNone/>
              </a:pPr>
              <a:r>
                <a:rPr lang="zh-TW" sz="2000">
                  <a:solidFill>
                    <a:schemeClr val="dk1"/>
                  </a:solidFill>
                  <a:latin typeface="DFKai-SB"/>
                  <a:ea typeface="DFKai-SB"/>
                  <a:cs typeface="DFKai-SB"/>
                  <a:sym typeface="DFKai-SB"/>
                </a:rPr>
                <a:t>6.系統需保存歷史借用紀錄</a:t>
              </a:r>
              <a:endParaRPr sz="2000">
                <a:solidFill>
                  <a:schemeClr val="dk1"/>
                </a:solidFill>
                <a:latin typeface="DFKai-SB"/>
                <a:ea typeface="DFKai-SB"/>
                <a:cs typeface="DFKai-SB"/>
                <a:sym typeface="DFKai-SB"/>
              </a:endParaRPr>
            </a:p>
          </p:txBody>
        </p:sp>
        <p:sp>
          <p:nvSpPr>
            <p:cNvPr id="293" name="Google Shape;293;p21"/>
            <p:cNvSpPr txBox="1"/>
            <p:nvPr/>
          </p:nvSpPr>
          <p:spPr>
            <a:xfrm>
              <a:off x="3202585" y="3500279"/>
              <a:ext cx="7739400" cy="4359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900"/>
                </a:spcAft>
                <a:buSzPts val="800"/>
                <a:buNone/>
              </a:pPr>
              <a:r>
                <a:rPr lang="zh-TW" sz="2000">
                  <a:solidFill>
                    <a:schemeClr val="dk1"/>
                  </a:solidFill>
                  <a:latin typeface="DFKai-SB"/>
                  <a:ea typeface="DFKai-SB"/>
                  <a:cs typeface="DFKai-SB"/>
                  <a:sym typeface="DFKai-SB"/>
                </a:rPr>
                <a:t>7.管理員可管理教室資料</a:t>
              </a:r>
              <a:endParaRPr sz="2000">
                <a:solidFill>
                  <a:schemeClr val="dk1"/>
                </a:solidFill>
                <a:latin typeface="DFKai-SB"/>
                <a:ea typeface="DFKai-SB"/>
                <a:cs typeface="DFKai-SB"/>
                <a:sym typeface="DFKai-SB"/>
              </a:endParaRPr>
            </a:p>
          </p:txBody>
        </p:sp>
        <p:sp>
          <p:nvSpPr>
            <p:cNvPr id="294" name="Google Shape;294;p21"/>
            <p:cNvSpPr txBox="1"/>
            <p:nvPr/>
          </p:nvSpPr>
          <p:spPr>
            <a:xfrm>
              <a:off x="3202580" y="4467082"/>
              <a:ext cx="7364400" cy="4359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900"/>
                </a:spcAft>
                <a:buSzPts val="800"/>
                <a:buNone/>
              </a:pPr>
              <a:r>
                <a:rPr lang="zh-TW" sz="2000">
                  <a:solidFill>
                    <a:schemeClr val="dk1"/>
                  </a:solidFill>
                  <a:latin typeface="DFKai-SB"/>
                  <a:ea typeface="DFKai-SB"/>
                  <a:cs typeface="DFKai-SB"/>
                  <a:sym typeface="DFKai-SB"/>
                </a:rPr>
                <a:t>8.系統記錄審核歷程(記錄審核者與操作內容)</a:t>
              </a:r>
              <a:endParaRPr sz="2000">
                <a:solidFill>
                  <a:schemeClr val="dk1"/>
                </a:solidFill>
                <a:latin typeface="DFKai-SB"/>
                <a:ea typeface="DFKai-SB"/>
                <a:cs typeface="DFKai-SB"/>
                <a:sym typeface="DFKai-SB"/>
              </a:endParaRPr>
            </a:p>
          </p:txBody>
        </p:sp>
        <p:grpSp>
          <p:nvGrpSpPr>
            <p:cNvPr id="295" name="Google Shape;295;p21"/>
            <p:cNvGrpSpPr/>
            <p:nvPr/>
          </p:nvGrpSpPr>
          <p:grpSpPr>
            <a:xfrm>
              <a:off x="3203257" y="5213275"/>
              <a:ext cx="7364690" cy="155729"/>
              <a:chOff x="4989842" y="3870732"/>
              <a:chExt cx="3933079" cy="166200"/>
            </a:xfrm>
          </p:grpSpPr>
          <p:sp>
            <p:nvSpPr>
              <p:cNvPr id="296" name="Google Shape;296;p21"/>
              <p:cNvSpPr/>
              <p:nvPr/>
            </p:nvSpPr>
            <p:spPr>
              <a:xfrm>
                <a:off x="4989842" y="3870732"/>
                <a:ext cx="166200" cy="166200"/>
              </a:xfrm>
              <a:prstGeom prst="rect">
                <a:avLst/>
              </a:prstGeom>
              <a:solidFill>
                <a:srgbClr val="55C0AF"/>
              </a:solidFill>
              <a:ln w="9525" cap="flat" cmpd="sng">
                <a:solidFill>
                  <a:srgbClr val="55C0A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chemeClr val="lt1"/>
                  </a:solidFill>
                  <a:latin typeface="Microsoft Yahei"/>
                  <a:ea typeface="Microsoft Yahei"/>
                  <a:cs typeface="Microsoft Yahei"/>
                  <a:sym typeface="Microsoft Yahei"/>
                </a:endParaRPr>
              </a:p>
            </p:txBody>
          </p:sp>
          <p:cxnSp>
            <p:nvCxnSpPr>
              <p:cNvPr id="297" name="Google Shape;297;p21"/>
              <p:cNvCxnSpPr/>
              <p:nvPr/>
            </p:nvCxnSpPr>
            <p:spPr>
              <a:xfrm>
                <a:off x="5156121" y="3941172"/>
                <a:ext cx="3766800" cy="0"/>
              </a:xfrm>
              <a:prstGeom prst="straightConnector1">
                <a:avLst/>
              </a:prstGeom>
              <a:noFill/>
              <a:ln w="9525" cap="flat" cmpd="sng">
                <a:solidFill>
                  <a:srgbClr val="55C0AF"/>
                </a:solidFill>
                <a:prstDash val="dot"/>
                <a:miter lim="8000"/>
                <a:headEnd type="none" w="sm" len="sm"/>
                <a:tailEnd type="none" w="sm" len="sm"/>
              </a:ln>
            </p:spPr>
          </p:cxnSp>
        </p:grpSp>
        <p:sp>
          <p:nvSpPr>
            <p:cNvPr id="298" name="Google Shape;298;p21"/>
            <p:cNvSpPr txBox="1"/>
            <p:nvPr/>
          </p:nvSpPr>
          <p:spPr>
            <a:xfrm>
              <a:off x="3203109" y="5406353"/>
              <a:ext cx="8417400" cy="4359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900"/>
                </a:spcAft>
                <a:buSzPts val="800"/>
                <a:buNone/>
              </a:pPr>
              <a:r>
                <a:rPr lang="zh-TW" sz="2000">
                  <a:solidFill>
                    <a:schemeClr val="dk1"/>
                  </a:solidFill>
                  <a:latin typeface="DFKai-SB"/>
                  <a:ea typeface="DFKai-SB"/>
                  <a:cs typeface="DFKai-SB"/>
                  <a:sym typeface="DFKai-SB"/>
                </a:rPr>
                <a:t>9.使用者可取消尚未開始的借用申請</a:t>
              </a:r>
              <a:endParaRPr sz="2000">
                <a:solidFill>
                  <a:schemeClr val="dk1"/>
                </a:solidFill>
                <a:latin typeface="DFKai-SB"/>
                <a:ea typeface="DFKai-SB"/>
                <a:cs typeface="DFKai-SB"/>
                <a:sym typeface="DFKai-SB"/>
              </a:endParaRPr>
            </a:p>
          </p:txBody>
        </p:sp>
        <p:grpSp>
          <p:nvGrpSpPr>
            <p:cNvPr id="299" name="Google Shape;299;p21"/>
            <p:cNvGrpSpPr/>
            <p:nvPr/>
          </p:nvGrpSpPr>
          <p:grpSpPr>
            <a:xfrm>
              <a:off x="3220079" y="5981151"/>
              <a:ext cx="7364542" cy="155729"/>
              <a:chOff x="4906190" y="1416527"/>
              <a:chExt cx="3933000" cy="166200"/>
            </a:xfrm>
          </p:grpSpPr>
          <p:sp>
            <p:nvSpPr>
              <p:cNvPr id="300" name="Google Shape;300;p21"/>
              <p:cNvSpPr/>
              <p:nvPr/>
            </p:nvSpPr>
            <p:spPr>
              <a:xfrm>
                <a:off x="4906190" y="1416527"/>
                <a:ext cx="166200" cy="166200"/>
              </a:xfrm>
              <a:prstGeom prst="rect">
                <a:avLst/>
              </a:prstGeom>
              <a:solidFill>
                <a:srgbClr val="113F4E"/>
              </a:solidFill>
              <a:ln w="9525" cap="flat" cmpd="sng">
                <a:solidFill>
                  <a:srgbClr val="113F4E"/>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100" b="0">
                  <a:solidFill>
                    <a:srgbClr val="FFB850"/>
                  </a:solidFill>
                  <a:latin typeface="Microsoft Yahei"/>
                  <a:ea typeface="Microsoft Yahei"/>
                  <a:cs typeface="Microsoft Yahei"/>
                  <a:sym typeface="Microsoft Yahei"/>
                </a:endParaRPr>
              </a:p>
            </p:txBody>
          </p:sp>
          <p:cxnSp>
            <p:nvCxnSpPr>
              <p:cNvPr id="301" name="Google Shape;301;p21"/>
              <p:cNvCxnSpPr>
                <a:stCxn id="300" idx="3"/>
              </p:cNvCxnSpPr>
              <p:nvPr/>
            </p:nvCxnSpPr>
            <p:spPr>
              <a:xfrm>
                <a:off x="5072390" y="1499627"/>
                <a:ext cx="3766800" cy="0"/>
              </a:xfrm>
              <a:prstGeom prst="straightConnector1">
                <a:avLst/>
              </a:prstGeom>
              <a:solidFill>
                <a:srgbClr val="113F4E"/>
              </a:solidFill>
              <a:ln w="9525" cap="flat" cmpd="sng">
                <a:solidFill>
                  <a:srgbClr val="113F4E"/>
                </a:solidFill>
                <a:prstDash val="dot"/>
                <a:miter lim="8000"/>
                <a:headEnd type="none" w="sm" len="sm"/>
                <a:tailEnd type="none" w="sm" len="sm"/>
              </a:ln>
            </p:spPr>
          </p:cxnSp>
        </p:grpSp>
        <p:sp>
          <p:nvSpPr>
            <p:cNvPr id="302" name="Google Shape;302;p21"/>
            <p:cNvSpPr txBox="1"/>
            <p:nvPr/>
          </p:nvSpPr>
          <p:spPr>
            <a:xfrm>
              <a:off x="3202584" y="6306227"/>
              <a:ext cx="8278800" cy="9786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SzPts val="800"/>
                <a:buNone/>
              </a:pPr>
              <a:r>
                <a:rPr lang="zh-TW" sz="2000">
                  <a:solidFill>
                    <a:schemeClr val="dk1"/>
                  </a:solidFill>
                  <a:latin typeface="DFKai-SB"/>
                  <a:ea typeface="DFKai-SB"/>
                  <a:cs typeface="DFKai-SB"/>
                  <a:sym typeface="DFKai-SB"/>
                </a:rPr>
                <a:t>10.記錄並管理教室所包含之設備資訊</a:t>
              </a:r>
              <a:endParaRPr sz="2000">
                <a:solidFill>
                  <a:schemeClr val="dk1"/>
                </a:solidFill>
                <a:latin typeface="DFKai-SB"/>
                <a:ea typeface="DFKai-SB"/>
                <a:cs typeface="DFKai-SB"/>
                <a:sym typeface="DFKai-SB"/>
              </a:endParaRPr>
            </a:p>
            <a:p>
              <a:pPr marL="0" lvl="0" indent="342900" algn="l" rtl="0">
                <a:lnSpc>
                  <a:spcPct val="115000"/>
                </a:lnSpc>
                <a:spcBef>
                  <a:spcPts val="900"/>
                </a:spcBef>
                <a:spcAft>
                  <a:spcPts val="900"/>
                </a:spcAft>
                <a:buSzPts val="800"/>
                <a:buNone/>
              </a:pPr>
              <a:r>
                <a:rPr lang="zh-TW" sz="2000">
                  <a:solidFill>
                    <a:schemeClr val="dk1"/>
                  </a:solidFill>
                  <a:latin typeface="DFKai-SB"/>
                  <a:ea typeface="DFKai-SB"/>
                  <a:cs typeface="DFKai-SB"/>
                  <a:sym typeface="DFKai-SB"/>
                </a:rPr>
                <a:t>（如投影機、麥克風等）</a:t>
              </a:r>
              <a:endParaRPr sz="2000">
                <a:solidFill>
                  <a:schemeClr val="dk1"/>
                </a:solidFill>
                <a:latin typeface="DFKai-SB"/>
                <a:ea typeface="DFKai-SB"/>
                <a:cs typeface="DFKai-SB"/>
                <a:sym typeface="DFKai-SB"/>
              </a:endParaRPr>
            </a:p>
          </p:txBody>
        </p:sp>
      </p:grpSp>
      <p:sp>
        <p:nvSpPr>
          <p:cNvPr id="303" name="Google Shape;30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8"/>
        <p:cNvGrpSpPr/>
        <p:nvPr/>
      </p:nvGrpSpPr>
      <p:grpSpPr>
        <a:xfrm>
          <a:off x="0" y="0"/>
          <a:ext cx="0" cy="0"/>
          <a:chOff x="0" y="0"/>
          <a:chExt cx="0" cy="0"/>
        </a:xfrm>
      </p:grpSpPr>
      <p:sp>
        <p:nvSpPr>
          <p:cNvPr id="309" name="Google Shape;309;p22"/>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900"/>
              </a:spcBef>
              <a:spcAft>
                <a:spcPts val="900"/>
              </a:spcAft>
              <a:buSzPts val="800"/>
              <a:buNone/>
            </a:pPr>
            <a:r>
              <a:rPr lang="zh-TW" sz="2700" b="1">
                <a:solidFill>
                  <a:schemeClr val="dk1"/>
                </a:solidFill>
                <a:latin typeface="DFKai-SB"/>
                <a:ea typeface="DFKai-SB"/>
                <a:cs typeface="DFKai-SB"/>
                <a:sym typeface="DFKai-SB"/>
              </a:rPr>
              <a:t>ER Diagram</a:t>
            </a:r>
            <a:endParaRPr sz="2700" b="1">
              <a:solidFill>
                <a:schemeClr val="dk1"/>
              </a:solidFill>
              <a:latin typeface="DFKai-SB"/>
              <a:ea typeface="DFKai-SB"/>
              <a:cs typeface="DFKai-SB"/>
              <a:sym typeface="DFKai-SB"/>
            </a:endParaRPr>
          </a:p>
        </p:txBody>
      </p:sp>
      <p:grpSp>
        <p:nvGrpSpPr>
          <p:cNvPr id="310" name="Google Shape;310;p22"/>
          <p:cNvGrpSpPr/>
          <p:nvPr/>
        </p:nvGrpSpPr>
        <p:grpSpPr>
          <a:xfrm>
            <a:off x="3502220" y="2918232"/>
            <a:ext cx="844541" cy="932257"/>
            <a:chOff x="589141" y="2173776"/>
            <a:chExt cx="1126055" cy="1243010"/>
          </a:xfrm>
        </p:grpSpPr>
        <p:grpSp>
          <p:nvGrpSpPr>
            <p:cNvPr id="311" name="Google Shape;311;p22"/>
            <p:cNvGrpSpPr/>
            <p:nvPr/>
          </p:nvGrpSpPr>
          <p:grpSpPr>
            <a:xfrm>
              <a:off x="589141" y="2173776"/>
              <a:ext cx="1126055" cy="1243010"/>
              <a:chOff x="1950418" y="3368985"/>
              <a:chExt cx="432101" cy="476980"/>
            </a:xfrm>
          </p:grpSpPr>
          <p:sp>
            <p:nvSpPr>
              <p:cNvPr id="312" name="Google Shape;312;p22"/>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13" name="Google Shape;313;p22"/>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314" name="Google Shape;314;p22"/>
            <p:cNvSpPr txBox="1"/>
            <p:nvPr/>
          </p:nvSpPr>
          <p:spPr>
            <a:xfrm>
              <a:off x="907668" y="2220553"/>
              <a:ext cx="6111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100" b="1">
                  <a:solidFill>
                    <a:schemeClr val="lt1"/>
                  </a:solidFill>
                  <a:latin typeface="Microsoft Yahei"/>
                  <a:ea typeface="Microsoft Yahei"/>
                  <a:cs typeface="Microsoft Yahei"/>
                  <a:sym typeface="Microsoft Yahei"/>
                </a:rPr>
                <a:t>3</a:t>
              </a:r>
              <a:endParaRPr sz="4100" b="1">
                <a:solidFill>
                  <a:schemeClr val="lt1"/>
                </a:solidFill>
                <a:latin typeface="Microsoft Yahei"/>
                <a:ea typeface="Microsoft Yahei"/>
                <a:cs typeface="Microsoft Yahei"/>
                <a:sym typeface="Microsoft Yahei"/>
              </a:endParaRPr>
            </a:p>
          </p:txBody>
        </p:sp>
      </p:grpSp>
      <p:sp>
        <p:nvSpPr>
          <p:cNvPr id="315" name="Google Shape;31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grpSp>
        <p:nvGrpSpPr>
          <p:cNvPr id="321" name="Google Shape;321;p23"/>
          <p:cNvGrpSpPr/>
          <p:nvPr/>
        </p:nvGrpSpPr>
        <p:grpSpPr>
          <a:xfrm>
            <a:off x="382271" y="221975"/>
            <a:ext cx="3611301" cy="466778"/>
            <a:chOff x="956666" y="3447847"/>
            <a:chExt cx="4815068" cy="622371"/>
          </a:xfrm>
        </p:grpSpPr>
        <p:sp>
          <p:nvSpPr>
            <p:cNvPr id="322" name="Google Shape;322;p23"/>
            <p:cNvSpPr txBox="1"/>
            <p:nvPr/>
          </p:nvSpPr>
          <p:spPr>
            <a:xfrm>
              <a:off x="1581034" y="3447847"/>
              <a:ext cx="41907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ER diagram</a:t>
              </a:r>
              <a:endParaRPr sz="2300" b="1">
                <a:solidFill>
                  <a:schemeClr val="dk1"/>
                </a:solidFill>
                <a:latin typeface="DFKai-SB"/>
                <a:ea typeface="DFKai-SB"/>
                <a:cs typeface="DFKai-SB"/>
                <a:sym typeface="DFKai-SB"/>
              </a:endParaRPr>
            </a:p>
          </p:txBody>
        </p:sp>
        <p:sp>
          <p:nvSpPr>
            <p:cNvPr id="323" name="Google Shape;323;p23"/>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24" name="Google Shape;324;p23"/>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pic>
        <p:nvPicPr>
          <p:cNvPr id="325" name="Google Shape;325;p23" title="資料庫系統-ERD.drawio (3).png"/>
          <p:cNvPicPr preferRelativeResize="0"/>
          <p:nvPr/>
        </p:nvPicPr>
        <p:blipFill>
          <a:blip r:embed="rId3">
            <a:alphaModFix/>
          </a:blip>
          <a:stretch>
            <a:fillRect/>
          </a:stretch>
        </p:blipFill>
        <p:spPr>
          <a:xfrm>
            <a:off x="1021725" y="697850"/>
            <a:ext cx="7100550" cy="4403900"/>
          </a:xfrm>
          <a:prstGeom prst="rect">
            <a:avLst/>
          </a:prstGeom>
          <a:noFill/>
          <a:ln>
            <a:noFill/>
          </a:ln>
        </p:spPr>
      </p:pic>
      <p:pic>
        <p:nvPicPr>
          <p:cNvPr id="326" name="Google Shape;326;p23" title="資料庫系統-ERD-簡圖.drawio.png"/>
          <p:cNvPicPr preferRelativeResize="0"/>
          <p:nvPr/>
        </p:nvPicPr>
        <p:blipFill>
          <a:blip r:embed="rId4">
            <a:alphaModFix/>
          </a:blip>
          <a:stretch>
            <a:fillRect/>
          </a:stretch>
        </p:blipFill>
        <p:spPr>
          <a:xfrm>
            <a:off x="548160" y="685925"/>
            <a:ext cx="8047689" cy="4427750"/>
          </a:xfrm>
          <a:prstGeom prst="rect">
            <a:avLst/>
          </a:prstGeom>
          <a:noFill/>
          <a:ln>
            <a:noFill/>
          </a:ln>
        </p:spPr>
      </p:pic>
      <p:sp>
        <p:nvSpPr>
          <p:cNvPr id="327" name="Google Shape;32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2"/>
        <p:cNvGrpSpPr/>
        <p:nvPr/>
      </p:nvGrpSpPr>
      <p:grpSpPr>
        <a:xfrm>
          <a:off x="0" y="0"/>
          <a:ext cx="0" cy="0"/>
          <a:chOff x="0" y="0"/>
          <a:chExt cx="0" cy="0"/>
        </a:xfrm>
      </p:grpSpPr>
      <p:sp>
        <p:nvSpPr>
          <p:cNvPr id="333" name="Google Shape;333;p24"/>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900"/>
              </a:spcBef>
              <a:spcAft>
                <a:spcPts val="900"/>
              </a:spcAft>
              <a:buSzPts val="800"/>
              <a:buNone/>
            </a:pPr>
            <a:r>
              <a:rPr lang="zh-TW" sz="2700" b="1">
                <a:solidFill>
                  <a:schemeClr val="dk1"/>
                </a:solidFill>
                <a:latin typeface="DFKai-SB"/>
                <a:ea typeface="DFKai-SB"/>
                <a:cs typeface="DFKai-SB"/>
                <a:sym typeface="DFKai-SB"/>
              </a:rPr>
              <a:t>完整性限制</a:t>
            </a:r>
            <a:endParaRPr sz="2700" b="1">
              <a:solidFill>
                <a:schemeClr val="dk1"/>
              </a:solidFill>
              <a:latin typeface="DFKai-SB"/>
              <a:ea typeface="DFKai-SB"/>
              <a:cs typeface="DFKai-SB"/>
              <a:sym typeface="DFKai-SB"/>
            </a:endParaRPr>
          </a:p>
        </p:txBody>
      </p:sp>
      <p:grpSp>
        <p:nvGrpSpPr>
          <p:cNvPr id="334" name="Google Shape;334;p24"/>
          <p:cNvGrpSpPr/>
          <p:nvPr/>
        </p:nvGrpSpPr>
        <p:grpSpPr>
          <a:xfrm>
            <a:off x="3502220" y="2918232"/>
            <a:ext cx="844541" cy="932257"/>
            <a:chOff x="589141" y="2173776"/>
            <a:chExt cx="1126055" cy="1243010"/>
          </a:xfrm>
        </p:grpSpPr>
        <p:grpSp>
          <p:nvGrpSpPr>
            <p:cNvPr id="335" name="Google Shape;335;p24"/>
            <p:cNvGrpSpPr/>
            <p:nvPr/>
          </p:nvGrpSpPr>
          <p:grpSpPr>
            <a:xfrm>
              <a:off x="589141" y="2173776"/>
              <a:ext cx="1126055" cy="1243010"/>
              <a:chOff x="1950418" y="3368985"/>
              <a:chExt cx="432101" cy="476980"/>
            </a:xfrm>
          </p:grpSpPr>
          <p:sp>
            <p:nvSpPr>
              <p:cNvPr id="336" name="Google Shape;336;p24"/>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37" name="Google Shape;337;p24"/>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338" name="Google Shape;338;p24"/>
            <p:cNvSpPr txBox="1"/>
            <p:nvPr/>
          </p:nvSpPr>
          <p:spPr>
            <a:xfrm>
              <a:off x="907668" y="2220553"/>
              <a:ext cx="6111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100" b="1">
                  <a:solidFill>
                    <a:schemeClr val="lt1"/>
                  </a:solidFill>
                  <a:latin typeface="Microsoft Yahei"/>
                  <a:ea typeface="Microsoft Yahei"/>
                  <a:cs typeface="Microsoft Yahei"/>
                  <a:sym typeface="Microsoft Yahei"/>
                </a:rPr>
                <a:t>4</a:t>
              </a:r>
              <a:endParaRPr sz="4100" b="1">
                <a:solidFill>
                  <a:schemeClr val="lt1"/>
                </a:solidFill>
                <a:latin typeface="Microsoft Yahei"/>
                <a:ea typeface="Microsoft Yahei"/>
                <a:cs typeface="Microsoft Yahei"/>
                <a:sym typeface="Microsoft Yahe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grpSp>
        <p:nvGrpSpPr>
          <p:cNvPr id="344" name="Google Shape;344;p25"/>
          <p:cNvGrpSpPr/>
          <p:nvPr/>
        </p:nvGrpSpPr>
        <p:grpSpPr>
          <a:xfrm>
            <a:off x="382271" y="221981"/>
            <a:ext cx="3290235" cy="466772"/>
            <a:chOff x="956666" y="3447855"/>
            <a:chExt cx="4386980" cy="622363"/>
          </a:xfrm>
        </p:grpSpPr>
        <p:sp>
          <p:nvSpPr>
            <p:cNvPr id="345" name="Google Shape;345;p25"/>
            <p:cNvSpPr txBox="1"/>
            <p:nvPr/>
          </p:nvSpPr>
          <p:spPr>
            <a:xfrm>
              <a:off x="1581046" y="3447855"/>
              <a:ext cx="37626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User (使用者)</a:t>
              </a:r>
              <a:endParaRPr sz="2300" b="1">
                <a:solidFill>
                  <a:schemeClr val="dk1"/>
                </a:solidFill>
                <a:latin typeface="DFKai-SB"/>
                <a:ea typeface="DFKai-SB"/>
                <a:cs typeface="DFKai-SB"/>
                <a:sym typeface="DFKai-SB"/>
              </a:endParaRPr>
            </a:p>
          </p:txBody>
        </p:sp>
        <p:sp>
          <p:nvSpPr>
            <p:cNvPr id="346" name="Google Shape;346;p25"/>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47" name="Google Shape;347;p25"/>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aphicFrame>
        <p:nvGraphicFramePr>
          <p:cNvPr id="348" name="Google Shape;348;p25"/>
          <p:cNvGraphicFramePr/>
          <p:nvPr/>
        </p:nvGraphicFramePr>
        <p:xfrm>
          <a:off x="3067444" y="1209994"/>
          <a:ext cx="5948225" cy="2408110"/>
        </p:xfrm>
        <a:graphic>
          <a:graphicData uri="http://schemas.openxmlformats.org/drawingml/2006/table">
            <a:tbl>
              <a:tblPr>
                <a:noFill/>
                <a:tableStyleId>{AC306F20-B5FA-46C3-8F7C-962CBD427640}</a:tableStyleId>
              </a:tblPr>
              <a:tblGrid>
                <a:gridCol w="936950">
                  <a:extLst>
                    <a:ext uri="{9D8B030D-6E8A-4147-A177-3AD203B41FA5}">
                      <a16:colId xmlns:a16="http://schemas.microsoft.com/office/drawing/2014/main" val="20000"/>
                    </a:ext>
                  </a:extLst>
                </a:gridCol>
                <a:gridCol w="1942200">
                  <a:extLst>
                    <a:ext uri="{9D8B030D-6E8A-4147-A177-3AD203B41FA5}">
                      <a16:colId xmlns:a16="http://schemas.microsoft.com/office/drawing/2014/main" val="20001"/>
                    </a:ext>
                  </a:extLst>
                </a:gridCol>
                <a:gridCol w="1093300">
                  <a:extLst>
                    <a:ext uri="{9D8B030D-6E8A-4147-A177-3AD203B41FA5}">
                      <a16:colId xmlns:a16="http://schemas.microsoft.com/office/drawing/2014/main" val="20002"/>
                    </a:ext>
                  </a:extLst>
                </a:gridCol>
                <a:gridCol w="1975775">
                  <a:extLst>
                    <a:ext uri="{9D8B030D-6E8A-4147-A177-3AD203B41FA5}">
                      <a16:colId xmlns:a16="http://schemas.microsoft.com/office/drawing/2014/main" val="20003"/>
                    </a:ext>
                  </a:extLst>
                </a:gridCol>
              </a:tblGrid>
              <a:tr h="464875">
                <a:tc>
                  <a:txBody>
                    <a:bodyPr/>
                    <a:lstStyle/>
                    <a:p>
                      <a:pPr marL="0" lvl="0" indent="0" algn="l" rtl="0">
                        <a:lnSpc>
                          <a:spcPct val="100000"/>
                        </a:lnSpc>
                        <a:spcBef>
                          <a:spcPts val="0"/>
                        </a:spcBef>
                        <a:spcAft>
                          <a:spcPts val="0"/>
                        </a:spcAft>
                        <a:buNone/>
                      </a:pPr>
                      <a:r>
                        <a:rPr lang="zh-TW" sz="1300" b="1">
                          <a:latin typeface="DFKai-SB"/>
                          <a:ea typeface="DFKai-SB"/>
                          <a:cs typeface="DFKai-SB"/>
                          <a:sym typeface="DFKai-SB"/>
                        </a:rPr>
                        <a:t>欄位名稱</a:t>
                      </a:r>
                      <a:endParaRPr sz="13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300" b="1">
                          <a:latin typeface="DFKai-SB"/>
                          <a:ea typeface="DFKai-SB"/>
                          <a:cs typeface="DFKai-SB"/>
                          <a:sym typeface="DFKai-SB"/>
                        </a:rPr>
                        <a:t>說明</a:t>
                      </a:r>
                      <a:endParaRPr sz="13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300" b="1">
                          <a:latin typeface="DFKai-SB"/>
                          <a:ea typeface="DFKai-SB"/>
                          <a:cs typeface="DFKai-SB"/>
                          <a:sym typeface="DFKai-SB"/>
                        </a:rPr>
                        <a:t>是否可為空</a:t>
                      </a:r>
                      <a:endParaRPr sz="13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300" b="1">
                          <a:latin typeface="DFKai-SB"/>
                          <a:ea typeface="DFKai-SB"/>
                          <a:cs typeface="DFKai-SB"/>
                          <a:sym typeface="DFKai-SB"/>
                        </a:rPr>
                        <a:t>Domain</a:t>
                      </a:r>
                      <a:endParaRPr sz="13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user_id</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主鍵，使用者唯一識別碼</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前綴字母+數字；S=學生、T=教師、A=管理員</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75CCBE"/>
                      </a:solidFill>
                      <a:prstDash val="solid"/>
                      <a:round/>
                      <a:headEnd type="none" w="sm" len="sm"/>
                      <a:tailEnd type="none" w="sm" len="sm"/>
                    </a:lnB>
                  </a:tcPr>
                </a:tc>
                <a:extLst>
                  <a:ext uri="{0D108BD9-81ED-4DB2-BD59-A6C34878D82A}">
                    <a16:rowId xmlns:a16="http://schemas.microsoft.com/office/drawing/2014/main" val="10001"/>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name</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姓名</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長度為1~50的文字</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extLst>
                  <a:ext uri="{0D108BD9-81ED-4DB2-BD59-A6C34878D82A}">
                    <a16:rowId xmlns:a16="http://schemas.microsoft.com/office/drawing/2014/main" val="10002"/>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phone</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聯絡電話</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09開頭之10位數字</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extLst>
                  <a:ext uri="{0D108BD9-81ED-4DB2-BD59-A6C34878D82A}">
                    <a16:rowId xmlns:a16="http://schemas.microsoft.com/office/drawing/2014/main" val="10003"/>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role</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角色</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 三者之一</a:t>
                      </a:r>
                      <a:endParaRPr sz="1200">
                        <a:latin typeface="DFKai-SB"/>
                        <a:ea typeface="DFKai-SB"/>
                        <a:cs typeface="DFKai-SB"/>
                        <a:sym typeface="DFKai-SB"/>
                      </a:endParaRPr>
                    </a:p>
                  </a:txBody>
                  <a:tcPr marL="91425" marR="91425" marT="91425" marB="91425">
                    <a:lnL w="18300" cap="flat" cmpd="sng">
                      <a:solidFill>
                        <a:srgbClr val="75CCBE"/>
                      </a:solidFill>
                      <a:prstDash val="solid"/>
                      <a:round/>
                      <a:headEnd type="none" w="sm" len="sm"/>
                      <a:tailEnd type="none" w="sm" len="sm"/>
                    </a:lnL>
                    <a:lnR w="18300" cap="flat" cmpd="sng">
                      <a:solidFill>
                        <a:srgbClr val="75CCBE"/>
                      </a:solidFill>
                      <a:prstDash val="solid"/>
                      <a:round/>
                      <a:headEnd type="none" w="sm" len="sm"/>
                      <a:tailEnd type="none" w="sm" len="sm"/>
                    </a:lnR>
                    <a:lnT w="18300" cap="flat" cmpd="sng">
                      <a:solidFill>
                        <a:srgbClr val="75CCBE"/>
                      </a:solidFill>
                      <a:prstDash val="solid"/>
                      <a:round/>
                      <a:headEnd type="none" w="sm" len="sm"/>
                      <a:tailEnd type="none" w="sm" len="sm"/>
                    </a:lnT>
                    <a:lnB w="18300" cap="flat" cmpd="sng">
                      <a:solidFill>
                        <a:srgbClr val="75CCB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349" name="Google Shape;349;p25" title="ERD-使用者提出借用申請-2.drawio.png"/>
          <p:cNvPicPr preferRelativeResize="0"/>
          <p:nvPr/>
        </p:nvPicPr>
        <p:blipFill>
          <a:blip r:embed="rId3">
            <a:alphaModFix/>
          </a:blip>
          <a:stretch>
            <a:fillRect/>
          </a:stretch>
        </p:blipFill>
        <p:spPr>
          <a:xfrm>
            <a:off x="60800" y="769750"/>
            <a:ext cx="2895930" cy="4340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grpSp>
        <p:nvGrpSpPr>
          <p:cNvPr id="356" name="Google Shape;356;p26"/>
          <p:cNvGrpSpPr/>
          <p:nvPr/>
        </p:nvGrpSpPr>
        <p:grpSpPr>
          <a:xfrm>
            <a:off x="382271" y="221981"/>
            <a:ext cx="3401835" cy="466772"/>
            <a:chOff x="956666" y="3447855"/>
            <a:chExt cx="4535780" cy="622363"/>
          </a:xfrm>
        </p:grpSpPr>
        <p:sp>
          <p:nvSpPr>
            <p:cNvPr id="357" name="Google Shape;357;p26"/>
            <p:cNvSpPr txBox="1"/>
            <p:nvPr/>
          </p:nvSpPr>
          <p:spPr>
            <a:xfrm>
              <a:off x="1581046" y="3447855"/>
              <a:ext cx="39114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User (使用者)</a:t>
              </a:r>
              <a:endParaRPr sz="2300" b="1">
                <a:solidFill>
                  <a:schemeClr val="dk1"/>
                </a:solidFill>
                <a:latin typeface="DFKai-SB"/>
                <a:ea typeface="DFKai-SB"/>
                <a:cs typeface="DFKai-SB"/>
                <a:sym typeface="DFKai-SB"/>
              </a:endParaRPr>
            </a:p>
          </p:txBody>
        </p:sp>
        <p:sp>
          <p:nvSpPr>
            <p:cNvPr id="358" name="Google Shape;358;p26"/>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59" name="Google Shape;359;p26"/>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360" name="Google Shape;360;p26"/>
          <p:cNvSpPr txBox="1"/>
          <p:nvPr/>
        </p:nvSpPr>
        <p:spPr>
          <a:xfrm>
            <a:off x="383850" y="1646400"/>
            <a:ext cx="8376300" cy="1850700"/>
          </a:xfrm>
          <a:prstGeom prst="rect">
            <a:avLst/>
          </a:prstGeom>
          <a:noFill/>
          <a:ln>
            <a:noFill/>
          </a:ln>
        </p:spPr>
        <p:txBody>
          <a:bodyPr spcFirstLastPara="1" wrap="square" lIns="68575" tIns="68575" rIns="68575" bIns="68575" anchor="t" anchorCtr="0">
            <a:noAutofit/>
          </a:bodyPr>
          <a:lstStyle/>
          <a:p>
            <a:pPr marL="3810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user_id 為主鍵，值必須唯一且非空</a:t>
            </a:r>
            <a:endParaRPr sz="2200" dirty="0">
              <a:solidFill>
                <a:schemeClr val="dk1"/>
              </a:solidFill>
              <a:latin typeface="DFKai-SB"/>
              <a:ea typeface="DFKai-SB"/>
              <a:cs typeface="DFKai-SB"/>
              <a:sym typeface="DFKai-SB"/>
            </a:endParaRPr>
          </a:p>
          <a:p>
            <a:pPr marL="3810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role 合法值為：'S'、'T'、'A'，分別代表學生、教師、管理員</a:t>
            </a:r>
            <a:endParaRPr sz="2200" dirty="0">
              <a:solidFill>
                <a:schemeClr val="dk1"/>
              </a:solidFill>
              <a:latin typeface="DFKai-SB"/>
              <a:ea typeface="DFKai-SB"/>
              <a:cs typeface="DFKai-SB"/>
              <a:sym typeface="DFKai-SB"/>
            </a:endParaRPr>
          </a:p>
          <a:p>
            <a:pPr marL="3810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phone 若有填寫，需符合 09 開頭之 10 位數字格式</a:t>
            </a:r>
            <a:endParaRPr sz="2200" dirty="0">
              <a:solidFill>
                <a:schemeClr val="dk1"/>
              </a:solidFill>
              <a:latin typeface="DFKai-SB"/>
              <a:ea typeface="DFKai-SB"/>
              <a:cs typeface="DFKai-SB"/>
              <a:sym typeface="DFKai-SB"/>
            </a:endParaRPr>
          </a:p>
          <a:p>
            <a:pPr marL="3810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至少需有一筆 role = 'A' 的管理員資料，否則系統無法進行審核與管理功能</a:t>
            </a:r>
            <a:endParaRPr sz="2200" dirty="0">
              <a:solidFill>
                <a:schemeClr val="dk1"/>
              </a:solidFill>
              <a:latin typeface="DFKai-SB"/>
              <a:ea typeface="DFKai-SB"/>
              <a:cs typeface="DFKai-SB"/>
              <a:sym typeface="DFKai-SB"/>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grpSp>
        <p:nvGrpSpPr>
          <p:cNvPr id="366" name="Google Shape;366;p27"/>
          <p:cNvGrpSpPr/>
          <p:nvPr/>
        </p:nvGrpSpPr>
        <p:grpSpPr>
          <a:xfrm>
            <a:off x="382271" y="221981"/>
            <a:ext cx="3558210" cy="466772"/>
            <a:chOff x="956666" y="3447855"/>
            <a:chExt cx="4744280" cy="622363"/>
          </a:xfrm>
        </p:grpSpPr>
        <p:sp>
          <p:nvSpPr>
            <p:cNvPr id="367" name="Google Shape;367;p27"/>
            <p:cNvSpPr txBox="1"/>
            <p:nvPr/>
          </p:nvSpPr>
          <p:spPr>
            <a:xfrm>
              <a:off x="1581046" y="3447855"/>
              <a:ext cx="41199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Room (教室)</a:t>
              </a:r>
              <a:endParaRPr sz="2300" b="1">
                <a:solidFill>
                  <a:schemeClr val="dk1"/>
                </a:solidFill>
                <a:latin typeface="DFKai-SB"/>
                <a:ea typeface="DFKai-SB"/>
                <a:cs typeface="DFKai-SB"/>
                <a:sym typeface="DFKai-SB"/>
              </a:endParaRPr>
            </a:p>
          </p:txBody>
        </p:sp>
        <p:sp>
          <p:nvSpPr>
            <p:cNvPr id="368" name="Google Shape;368;p27"/>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69" name="Google Shape;369;p27"/>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aphicFrame>
        <p:nvGraphicFramePr>
          <p:cNvPr id="370" name="Google Shape;370;p27"/>
          <p:cNvGraphicFramePr/>
          <p:nvPr/>
        </p:nvGraphicFramePr>
        <p:xfrm>
          <a:off x="3067444" y="1389778"/>
          <a:ext cx="5919850" cy="3223335"/>
        </p:xfrm>
        <a:graphic>
          <a:graphicData uri="http://schemas.openxmlformats.org/drawingml/2006/table">
            <a:tbl>
              <a:tblPr>
                <a:noFill/>
                <a:tableStyleId>{AC306F20-B5FA-46C3-8F7C-962CBD427640}</a:tableStyleId>
              </a:tblPr>
              <a:tblGrid>
                <a:gridCol w="873050">
                  <a:extLst>
                    <a:ext uri="{9D8B030D-6E8A-4147-A177-3AD203B41FA5}">
                      <a16:colId xmlns:a16="http://schemas.microsoft.com/office/drawing/2014/main" val="20000"/>
                    </a:ext>
                  </a:extLst>
                </a:gridCol>
                <a:gridCol w="1971975">
                  <a:extLst>
                    <a:ext uri="{9D8B030D-6E8A-4147-A177-3AD203B41FA5}">
                      <a16:colId xmlns:a16="http://schemas.microsoft.com/office/drawing/2014/main" val="20001"/>
                    </a:ext>
                  </a:extLst>
                </a:gridCol>
                <a:gridCol w="965450">
                  <a:extLst>
                    <a:ext uri="{9D8B030D-6E8A-4147-A177-3AD203B41FA5}">
                      <a16:colId xmlns:a16="http://schemas.microsoft.com/office/drawing/2014/main" val="20002"/>
                    </a:ext>
                  </a:extLst>
                </a:gridCol>
                <a:gridCol w="2109375">
                  <a:extLst>
                    <a:ext uri="{9D8B030D-6E8A-4147-A177-3AD203B41FA5}">
                      <a16:colId xmlns:a16="http://schemas.microsoft.com/office/drawing/2014/main" val="20003"/>
                    </a:ext>
                  </a:extLst>
                </a:gridCol>
              </a:tblGrid>
              <a:tr h="464875">
                <a:tc>
                  <a:txBody>
                    <a:bodyPr/>
                    <a:lstStyle/>
                    <a:p>
                      <a:pPr marL="0" lvl="0" indent="0" algn="ctr" rtl="0">
                        <a:lnSpc>
                          <a:spcPct val="100000"/>
                        </a:lnSpc>
                        <a:spcBef>
                          <a:spcPts val="0"/>
                        </a:spcBef>
                        <a:spcAft>
                          <a:spcPts val="0"/>
                        </a:spcAft>
                        <a:buNone/>
                      </a:pPr>
                      <a:r>
                        <a:rPr lang="zh-TW" sz="1100" b="1">
                          <a:solidFill>
                            <a:schemeClr val="dk1"/>
                          </a:solidFill>
                          <a:latin typeface="DFKai-SB"/>
                          <a:ea typeface="DFKai-SB"/>
                          <a:cs typeface="DFKai-SB"/>
                          <a:sym typeface="DFKai-SB"/>
                        </a:rPr>
                        <a:t>欄位名稱</a:t>
                      </a:r>
                      <a:endParaRPr sz="1100" b="1">
                        <a:solidFill>
                          <a:schemeClr val="dk1"/>
                        </a:solidFill>
                        <a:latin typeface="DFKai-SB"/>
                        <a:ea typeface="DFKai-SB"/>
                        <a:cs typeface="DFKai-SB"/>
                        <a:sym typeface="DFKai-SB"/>
                      </a:endParaRPr>
                    </a:p>
                  </a:txBody>
                  <a:tcPr marL="95250" marR="95250" marT="47625" marB="47625" anchor="ctr">
                    <a:lnL w="21425" cap="flat" cmpd="sng">
                      <a:solidFill>
                        <a:srgbClr val="0097A7"/>
                      </a:solidFill>
                      <a:prstDash val="solid"/>
                      <a:round/>
                      <a:headEnd type="none" w="sm" len="sm"/>
                      <a:tailEnd type="none" w="sm" len="sm"/>
                    </a:lnL>
                    <a:lnR w="21425" cap="flat" cmpd="sng">
                      <a:solidFill>
                        <a:srgbClr val="0097A7"/>
                      </a:solidFill>
                      <a:prstDash val="solid"/>
                      <a:round/>
                      <a:headEnd type="none" w="sm" len="sm"/>
                      <a:tailEnd type="none" w="sm" len="sm"/>
                    </a:lnR>
                    <a:lnT w="21425"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100" b="1">
                          <a:solidFill>
                            <a:schemeClr val="dk1"/>
                          </a:solidFill>
                          <a:latin typeface="DFKai-SB"/>
                          <a:ea typeface="DFKai-SB"/>
                          <a:cs typeface="DFKai-SB"/>
                          <a:sym typeface="DFKai-SB"/>
                        </a:rPr>
                        <a:t>說明</a:t>
                      </a:r>
                      <a:endParaRPr sz="1100" b="1">
                        <a:solidFill>
                          <a:schemeClr val="dk1"/>
                        </a:solidFill>
                        <a:latin typeface="DFKai-SB"/>
                        <a:ea typeface="DFKai-SB"/>
                        <a:cs typeface="DFKai-SB"/>
                        <a:sym typeface="DFKai-SB"/>
                      </a:endParaRPr>
                    </a:p>
                  </a:txBody>
                  <a:tcPr marL="95250" marR="95250" marT="47625" marB="47625" anchor="ctr">
                    <a:lnL w="21425" cap="flat" cmpd="sng">
                      <a:solidFill>
                        <a:srgbClr val="0097A7"/>
                      </a:solidFill>
                      <a:prstDash val="solid"/>
                      <a:round/>
                      <a:headEnd type="none" w="sm" len="sm"/>
                      <a:tailEnd type="none" w="sm" len="sm"/>
                    </a:lnL>
                    <a:lnR w="21425" cap="flat" cmpd="sng">
                      <a:solidFill>
                        <a:srgbClr val="0097A7"/>
                      </a:solidFill>
                      <a:prstDash val="solid"/>
                      <a:round/>
                      <a:headEnd type="none" w="sm" len="sm"/>
                      <a:tailEnd type="none" w="sm" len="sm"/>
                    </a:lnR>
                    <a:lnT w="21425"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100" b="1">
                          <a:solidFill>
                            <a:schemeClr val="dk1"/>
                          </a:solidFill>
                          <a:latin typeface="DFKai-SB"/>
                          <a:ea typeface="DFKai-SB"/>
                          <a:cs typeface="DFKai-SB"/>
                          <a:sym typeface="DFKai-SB"/>
                        </a:rPr>
                        <a:t>是否可為空</a:t>
                      </a:r>
                      <a:endParaRPr sz="1100">
                        <a:solidFill>
                          <a:schemeClr val="dk1"/>
                        </a:solidFill>
                      </a:endParaRPr>
                    </a:p>
                  </a:txBody>
                  <a:tcPr marL="95250" marR="95250" marT="47625" marB="47625" anchor="ctr">
                    <a:lnL w="21425" cap="flat" cmpd="sng">
                      <a:solidFill>
                        <a:srgbClr val="0097A7"/>
                      </a:solidFill>
                      <a:prstDash val="solid"/>
                      <a:round/>
                      <a:headEnd type="none" w="sm" len="sm"/>
                      <a:tailEnd type="none" w="sm" len="sm"/>
                    </a:lnL>
                    <a:lnR w="21425" cap="flat" cmpd="sng">
                      <a:solidFill>
                        <a:srgbClr val="0097A7"/>
                      </a:solidFill>
                      <a:prstDash val="solid"/>
                      <a:round/>
                      <a:headEnd type="none" w="sm" len="sm"/>
                      <a:tailEnd type="none" w="sm" len="sm"/>
                    </a:lnR>
                    <a:lnT w="21425"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100" b="1">
                          <a:solidFill>
                            <a:schemeClr val="dk1"/>
                          </a:solidFill>
                          <a:latin typeface="DFKai-SB"/>
                          <a:ea typeface="DFKai-SB"/>
                          <a:cs typeface="DFKai-SB"/>
                          <a:sym typeface="DFKai-SB"/>
                        </a:rPr>
                        <a:t>Domain</a:t>
                      </a:r>
                      <a:endParaRPr sz="1100">
                        <a:solidFill>
                          <a:schemeClr val="dk1"/>
                        </a:solidFill>
                      </a:endParaRPr>
                    </a:p>
                  </a:txBody>
                  <a:tcPr marL="95250" marR="95250" marT="47625" marB="47625" anchor="ctr">
                    <a:lnL w="21425" cap="flat" cmpd="sng">
                      <a:solidFill>
                        <a:srgbClr val="0097A7"/>
                      </a:solidFill>
                      <a:prstDash val="solid"/>
                      <a:round/>
                      <a:headEnd type="none" w="sm" len="sm"/>
                      <a:tailEnd type="none" w="sm" len="sm"/>
                    </a:lnL>
                    <a:lnR w="21425" cap="flat" cmpd="sng">
                      <a:solidFill>
                        <a:srgbClr val="0097A7"/>
                      </a:solidFill>
                      <a:prstDash val="solid"/>
                      <a:round/>
                      <a:headEnd type="none" w="sm" len="sm"/>
                      <a:tailEnd type="none" w="sm" len="sm"/>
                    </a:lnR>
                    <a:lnT w="21425"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0"/>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room_id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主鍵，教室代碼</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長度7~10之英數字，例如 BGC0614</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1"/>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room_name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教室名稱</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長度1~20文字，且不可重複</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2"/>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location</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位置</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100">
                          <a:solidFill>
                            <a:schemeClr val="dk1"/>
                          </a:solidFill>
                          <a:latin typeface="DFKai-SB"/>
                          <a:ea typeface="DFKai-SB"/>
                          <a:cs typeface="DFKai-SB"/>
                          <a:sym typeface="DFKai-SB"/>
                        </a:rPr>
                        <a:t>長度為3~50的文字，</a:t>
                      </a:r>
                      <a:r>
                        <a:rPr lang="zh-TW" sz="1200">
                          <a:latin typeface="DFKai-SB"/>
                          <a:ea typeface="DFKai-SB"/>
                          <a:cs typeface="DFKai-SB"/>
                          <a:sym typeface="DFKai-SB"/>
                        </a:rPr>
                        <a:t>例如：綜三館 6F</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3"/>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capacity</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可容人數</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1~100 的整數</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4"/>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status</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教室狀態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'Available'、'UnderMaintenance'、'Disabled' </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371" name="Google Shape;371;p27" title="ERD-借用申請借用教室-2.drawio.png"/>
          <p:cNvPicPr preferRelativeResize="0"/>
          <p:nvPr/>
        </p:nvPicPr>
        <p:blipFill>
          <a:blip r:embed="rId3">
            <a:alphaModFix/>
          </a:blip>
          <a:stretch>
            <a:fillRect/>
          </a:stretch>
        </p:blipFill>
        <p:spPr>
          <a:xfrm>
            <a:off x="0" y="912675"/>
            <a:ext cx="3032825" cy="4056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pSp>
        <p:nvGrpSpPr>
          <p:cNvPr id="377" name="Google Shape;377;p28"/>
          <p:cNvGrpSpPr/>
          <p:nvPr/>
        </p:nvGrpSpPr>
        <p:grpSpPr>
          <a:xfrm>
            <a:off x="382271" y="221981"/>
            <a:ext cx="3401835" cy="466772"/>
            <a:chOff x="956666" y="3447855"/>
            <a:chExt cx="4535780" cy="622363"/>
          </a:xfrm>
        </p:grpSpPr>
        <p:sp>
          <p:nvSpPr>
            <p:cNvPr id="378" name="Google Shape;378;p28"/>
            <p:cNvSpPr txBox="1"/>
            <p:nvPr/>
          </p:nvSpPr>
          <p:spPr>
            <a:xfrm>
              <a:off x="1581046" y="3447855"/>
              <a:ext cx="39114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Room (教室)</a:t>
              </a:r>
              <a:endParaRPr sz="2300" b="1">
                <a:solidFill>
                  <a:schemeClr val="dk1"/>
                </a:solidFill>
                <a:latin typeface="DFKai-SB"/>
                <a:ea typeface="DFKai-SB"/>
                <a:cs typeface="DFKai-SB"/>
                <a:sym typeface="DFKai-SB"/>
              </a:endParaRPr>
            </a:p>
          </p:txBody>
        </p:sp>
        <p:sp>
          <p:nvSpPr>
            <p:cNvPr id="379" name="Google Shape;379;p28"/>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80" name="Google Shape;380;p28"/>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381" name="Google Shape;381;p28"/>
          <p:cNvSpPr txBox="1"/>
          <p:nvPr/>
        </p:nvSpPr>
        <p:spPr>
          <a:xfrm>
            <a:off x="100900" y="1283275"/>
            <a:ext cx="9255600" cy="3193800"/>
          </a:xfrm>
          <a:prstGeom prst="rect">
            <a:avLst/>
          </a:prstGeom>
          <a:noFill/>
          <a:ln>
            <a:noFill/>
          </a:ln>
        </p:spPr>
        <p:txBody>
          <a:bodyPr spcFirstLastPara="1" wrap="square" lIns="68575" tIns="68575" rIns="68575" bIns="68575" anchor="t" anchorCtr="0">
            <a:noAutofit/>
          </a:bodyPr>
          <a:lstStyle/>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room_id 為主鍵，值必須唯一且非空</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room_name 必須唯一，避免同名教室造成混淆</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capacity 必須介於 1 至 100 之間</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status 合法值為：'Available'、'UnderMaintenance'、'Disabled'</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若 status = 'UnderMaintenance' 或 'Disabled'，則該教室不可被核准為 Approved</a:t>
            </a:r>
            <a:endParaRPr sz="2200" dirty="0">
              <a:solidFill>
                <a:schemeClr val="dk1"/>
              </a:solidFill>
              <a:latin typeface="DFKai-SB"/>
              <a:ea typeface="DFKai-SB"/>
              <a:cs typeface="DFKai-SB"/>
              <a:sym typeface="DFKai-SB"/>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grpSp>
        <p:nvGrpSpPr>
          <p:cNvPr id="387" name="Google Shape;387;p29"/>
          <p:cNvGrpSpPr/>
          <p:nvPr/>
        </p:nvGrpSpPr>
        <p:grpSpPr>
          <a:xfrm>
            <a:off x="382271" y="221981"/>
            <a:ext cx="4546410" cy="466772"/>
            <a:chOff x="956666" y="3447855"/>
            <a:chExt cx="6061880" cy="622363"/>
          </a:xfrm>
        </p:grpSpPr>
        <p:sp>
          <p:nvSpPr>
            <p:cNvPr id="388" name="Google Shape;388;p29"/>
            <p:cNvSpPr txBox="1"/>
            <p:nvPr/>
          </p:nvSpPr>
          <p:spPr>
            <a:xfrm>
              <a:off x="1581046" y="3447855"/>
              <a:ext cx="54375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Equipment (教室設備)</a:t>
              </a:r>
              <a:endParaRPr sz="2300" b="1">
                <a:solidFill>
                  <a:schemeClr val="dk1"/>
                </a:solidFill>
                <a:latin typeface="DFKai-SB"/>
                <a:ea typeface="DFKai-SB"/>
                <a:cs typeface="DFKai-SB"/>
                <a:sym typeface="DFKai-SB"/>
              </a:endParaRPr>
            </a:p>
          </p:txBody>
        </p:sp>
        <p:sp>
          <p:nvSpPr>
            <p:cNvPr id="389" name="Google Shape;389;p29"/>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390" name="Google Shape;390;p29"/>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aphicFrame>
        <p:nvGraphicFramePr>
          <p:cNvPr id="391" name="Google Shape;391;p29"/>
          <p:cNvGraphicFramePr/>
          <p:nvPr>
            <p:extLst>
              <p:ext uri="{D42A27DB-BD31-4B8C-83A1-F6EECF244321}">
                <p14:modId xmlns:p14="http://schemas.microsoft.com/office/powerpoint/2010/main" val="2122527746"/>
              </p:ext>
            </p:extLst>
          </p:nvPr>
        </p:nvGraphicFramePr>
        <p:xfrm>
          <a:off x="3174797" y="1422203"/>
          <a:ext cx="5842516" cy="3223335"/>
        </p:xfrm>
        <a:graphic>
          <a:graphicData uri="http://schemas.openxmlformats.org/drawingml/2006/table">
            <a:tbl>
              <a:tblPr>
                <a:noFill/>
                <a:tableStyleId>{AC306F20-B5FA-46C3-8F7C-962CBD427640}</a:tableStyleId>
              </a:tblPr>
              <a:tblGrid>
                <a:gridCol w="985737">
                  <a:extLst>
                    <a:ext uri="{9D8B030D-6E8A-4147-A177-3AD203B41FA5}">
                      <a16:colId xmlns:a16="http://schemas.microsoft.com/office/drawing/2014/main" val="20000"/>
                    </a:ext>
                  </a:extLst>
                </a:gridCol>
                <a:gridCol w="2048090">
                  <a:extLst>
                    <a:ext uri="{9D8B030D-6E8A-4147-A177-3AD203B41FA5}">
                      <a16:colId xmlns:a16="http://schemas.microsoft.com/office/drawing/2014/main" val="20001"/>
                    </a:ext>
                  </a:extLst>
                </a:gridCol>
                <a:gridCol w="1234049">
                  <a:extLst>
                    <a:ext uri="{9D8B030D-6E8A-4147-A177-3AD203B41FA5}">
                      <a16:colId xmlns:a16="http://schemas.microsoft.com/office/drawing/2014/main" val="20002"/>
                    </a:ext>
                  </a:extLst>
                </a:gridCol>
                <a:gridCol w="1574640">
                  <a:extLst>
                    <a:ext uri="{9D8B030D-6E8A-4147-A177-3AD203B41FA5}">
                      <a16:colId xmlns:a16="http://schemas.microsoft.com/office/drawing/2014/main" val="20003"/>
                    </a:ext>
                  </a:extLst>
                </a:gridCol>
              </a:tblGrid>
              <a:tr h="464875">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欄位名稱</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說明</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是否可為空</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Domain</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eq_id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主鍵，設備唯一識別碼</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正整數，由系統指定</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eq_name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設備名稱</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長度1~30文字</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464875">
                <a:tc>
                  <a:txBody>
                    <a:bodyPr/>
                    <a:lstStyle/>
                    <a:p>
                      <a:pPr marL="0" lvl="0" indent="0" algn="l" rtl="0">
                        <a:lnSpc>
                          <a:spcPct val="100000"/>
                        </a:lnSpc>
                        <a:spcBef>
                          <a:spcPts val="0"/>
                        </a:spcBef>
                        <a:spcAft>
                          <a:spcPts val="0"/>
                        </a:spcAft>
                        <a:buNone/>
                      </a:pPr>
                      <a:r>
                        <a:rPr lang="zh-TW" sz="1200" dirty="0">
                          <a:solidFill>
                            <a:schemeClr val="dk1"/>
                          </a:solidFill>
                          <a:latin typeface="DFKai-SB"/>
                          <a:ea typeface="DFKai-SB"/>
                          <a:cs typeface="DFKai-SB"/>
                          <a:sym typeface="DFKai-SB"/>
                        </a:rPr>
                        <a:t>eq_desc</a:t>
                      </a:r>
                      <a:endParaRPr sz="1200" dirty="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設備說明</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是</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例如 HDMI 投影機、無線麥克風</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room_id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外鍵，對應教室編號 (Room.room_id)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參考 Room 的 room_id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status</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設備狀態</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dirty="0">
                          <a:solidFill>
                            <a:schemeClr val="dk1"/>
                          </a:solidFill>
                          <a:latin typeface="DFKai-SB"/>
                          <a:ea typeface="DFKai-SB"/>
                          <a:cs typeface="DFKai-SB"/>
                          <a:sym typeface="DFKai-SB"/>
                        </a:rPr>
                        <a:t>'Available'、'UnderMaintenance'、'Disabled'</a:t>
                      </a:r>
                      <a:endParaRPr sz="1200" dirty="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392" name="Google Shape;392;p29" title="ERD-教室包含設備-2.drawio.png"/>
          <p:cNvPicPr preferRelativeResize="0"/>
          <p:nvPr/>
        </p:nvPicPr>
        <p:blipFill>
          <a:blip r:embed="rId3">
            <a:alphaModFix/>
          </a:blip>
          <a:stretch>
            <a:fillRect/>
          </a:stretch>
        </p:blipFill>
        <p:spPr>
          <a:xfrm>
            <a:off x="36575" y="1422200"/>
            <a:ext cx="3030875" cy="3408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398" name="Google Shape;398;p30"/>
          <p:cNvGrpSpPr/>
          <p:nvPr/>
        </p:nvGrpSpPr>
        <p:grpSpPr>
          <a:xfrm>
            <a:off x="382237" y="221981"/>
            <a:ext cx="4563952" cy="466772"/>
            <a:chOff x="956666" y="3447855"/>
            <a:chExt cx="5712080" cy="622363"/>
          </a:xfrm>
        </p:grpSpPr>
        <p:sp>
          <p:nvSpPr>
            <p:cNvPr id="399" name="Google Shape;399;p30"/>
            <p:cNvSpPr txBox="1"/>
            <p:nvPr/>
          </p:nvSpPr>
          <p:spPr>
            <a:xfrm>
              <a:off x="1581046" y="3447855"/>
              <a:ext cx="50877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Equipment (教室設備)</a:t>
              </a:r>
              <a:endParaRPr sz="2300" b="1">
                <a:solidFill>
                  <a:schemeClr val="dk1"/>
                </a:solidFill>
                <a:latin typeface="DFKai-SB"/>
                <a:ea typeface="DFKai-SB"/>
                <a:cs typeface="DFKai-SB"/>
                <a:sym typeface="DFKai-SB"/>
              </a:endParaRPr>
            </a:p>
          </p:txBody>
        </p:sp>
        <p:sp>
          <p:nvSpPr>
            <p:cNvPr id="400" name="Google Shape;400;p30"/>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01" name="Google Shape;401;p30"/>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402" name="Google Shape;402;p30"/>
          <p:cNvSpPr txBox="1"/>
          <p:nvPr/>
        </p:nvSpPr>
        <p:spPr>
          <a:xfrm>
            <a:off x="145525" y="1112400"/>
            <a:ext cx="9070500" cy="3642000"/>
          </a:xfrm>
          <a:prstGeom prst="rect">
            <a:avLst/>
          </a:prstGeom>
          <a:noFill/>
          <a:ln>
            <a:noFill/>
          </a:ln>
        </p:spPr>
        <p:txBody>
          <a:bodyPr spcFirstLastPara="1" wrap="square" lIns="68575" tIns="68575" rIns="68575" bIns="68575" anchor="t" anchorCtr="0">
            <a:noAutofit/>
          </a:bodyPr>
          <a:lstStyle/>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eq_id 為主鍵，值必須唯一且非空</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eq_name 在同一 room_id 下不可重複</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room_id 必須對應到 Room.room_id（外鍵約束）</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eq_desc 用於記錄設備補充說明</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status 合法值為：'Available'、'UnderMaintenance'、'Disabled'</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若設備 status = 'Disabled'，則不顯示於一般使用者查詢結果</a:t>
            </a:r>
            <a:endParaRPr sz="2200" dirty="0">
              <a:solidFill>
                <a:schemeClr val="dk1"/>
              </a:solidFill>
              <a:latin typeface="DFKai-SB"/>
              <a:ea typeface="DFKai-SB"/>
              <a:cs typeface="DFKai-SB"/>
              <a:sym typeface="DFKai-SB"/>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grpSp>
        <p:nvGrpSpPr>
          <p:cNvPr id="408" name="Google Shape;408;p31"/>
          <p:cNvGrpSpPr/>
          <p:nvPr/>
        </p:nvGrpSpPr>
        <p:grpSpPr>
          <a:xfrm>
            <a:off x="382271" y="221981"/>
            <a:ext cx="5222535" cy="466772"/>
            <a:chOff x="956666" y="3447855"/>
            <a:chExt cx="6963380" cy="622363"/>
          </a:xfrm>
        </p:grpSpPr>
        <p:sp>
          <p:nvSpPr>
            <p:cNvPr id="409" name="Google Shape;409;p31"/>
            <p:cNvSpPr txBox="1"/>
            <p:nvPr/>
          </p:nvSpPr>
          <p:spPr>
            <a:xfrm>
              <a:off x="1581046" y="3447855"/>
              <a:ext cx="63390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BorrowRequest (借用申請)</a:t>
              </a:r>
              <a:endParaRPr sz="2300" b="1">
                <a:solidFill>
                  <a:schemeClr val="dk1"/>
                </a:solidFill>
                <a:latin typeface="DFKai-SB"/>
                <a:ea typeface="DFKai-SB"/>
                <a:cs typeface="DFKai-SB"/>
                <a:sym typeface="DFKai-SB"/>
              </a:endParaRPr>
            </a:p>
          </p:txBody>
        </p:sp>
        <p:sp>
          <p:nvSpPr>
            <p:cNvPr id="410" name="Google Shape;410;p31"/>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11" name="Google Shape;411;p31"/>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aphicFrame>
        <p:nvGraphicFramePr>
          <p:cNvPr id="412" name="Google Shape;412;p31"/>
          <p:cNvGraphicFramePr/>
          <p:nvPr/>
        </p:nvGraphicFramePr>
        <p:xfrm>
          <a:off x="2900288" y="827031"/>
          <a:ext cx="6038800" cy="3970205"/>
        </p:xfrm>
        <a:graphic>
          <a:graphicData uri="http://schemas.openxmlformats.org/drawingml/2006/table">
            <a:tbl>
              <a:tblPr>
                <a:noFill/>
                <a:tableStyleId>{AC306F20-B5FA-46C3-8F7C-962CBD427640}</a:tableStyleId>
              </a:tblPr>
              <a:tblGrid>
                <a:gridCol w="985050">
                  <a:extLst>
                    <a:ext uri="{9D8B030D-6E8A-4147-A177-3AD203B41FA5}">
                      <a16:colId xmlns:a16="http://schemas.microsoft.com/office/drawing/2014/main" val="20000"/>
                    </a:ext>
                  </a:extLst>
                </a:gridCol>
                <a:gridCol w="2049825">
                  <a:extLst>
                    <a:ext uri="{9D8B030D-6E8A-4147-A177-3AD203B41FA5}">
                      <a16:colId xmlns:a16="http://schemas.microsoft.com/office/drawing/2014/main" val="20001"/>
                    </a:ext>
                  </a:extLst>
                </a:gridCol>
                <a:gridCol w="1126750">
                  <a:extLst>
                    <a:ext uri="{9D8B030D-6E8A-4147-A177-3AD203B41FA5}">
                      <a16:colId xmlns:a16="http://schemas.microsoft.com/office/drawing/2014/main" val="20002"/>
                    </a:ext>
                  </a:extLst>
                </a:gridCol>
                <a:gridCol w="1877175">
                  <a:extLst>
                    <a:ext uri="{9D8B030D-6E8A-4147-A177-3AD203B41FA5}">
                      <a16:colId xmlns:a16="http://schemas.microsoft.com/office/drawing/2014/main" val="20003"/>
                    </a:ext>
                  </a:extLst>
                </a:gridCol>
              </a:tblGrid>
              <a:tr h="464875">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欄位名稱</a:t>
                      </a:r>
                      <a:endParaRPr sz="1200" b="1">
                        <a:solidFill>
                          <a:schemeClr val="dk1"/>
                        </a:solidFill>
                        <a:latin typeface="DFKai-SB"/>
                        <a:ea typeface="DFKai-SB"/>
                        <a:cs typeface="DFKai-SB"/>
                        <a:sym typeface="DFKai-SB"/>
                      </a:endParaRPr>
                    </a:p>
                  </a:txBody>
                  <a:tcPr marL="91425" marR="91425" marT="91425" marB="91425">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說明</a:t>
                      </a:r>
                      <a:endParaRPr sz="1200" b="1">
                        <a:solidFill>
                          <a:schemeClr val="dk1"/>
                        </a:solidFill>
                        <a:latin typeface="DFKai-SB"/>
                        <a:ea typeface="DFKai-SB"/>
                        <a:cs typeface="DFKai-SB"/>
                        <a:sym typeface="DFKai-SB"/>
                      </a:endParaRPr>
                    </a:p>
                  </a:txBody>
                  <a:tcPr marL="91425" marR="91425" marT="91425" marB="91425">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是否可為空</a:t>
                      </a:r>
                      <a:endParaRPr sz="1200" b="1">
                        <a:solidFill>
                          <a:schemeClr val="dk1"/>
                        </a:solidFill>
                        <a:latin typeface="DFKai-SB"/>
                        <a:ea typeface="DFKai-SB"/>
                        <a:cs typeface="DFKai-SB"/>
                        <a:sym typeface="DFKai-SB"/>
                      </a:endParaRPr>
                    </a:p>
                  </a:txBody>
                  <a:tcPr marL="91425" marR="91425" marT="91425" marB="91425">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Domain</a:t>
                      </a:r>
                      <a:endParaRPr sz="1200" b="1">
                        <a:solidFill>
                          <a:schemeClr val="dk1"/>
                        </a:solidFill>
                        <a:latin typeface="DFKai-SB"/>
                        <a:ea typeface="DFKai-SB"/>
                        <a:cs typeface="DFKai-SB"/>
                        <a:sym typeface="DFKai-SB"/>
                      </a:endParaRPr>
                    </a:p>
                  </a:txBody>
                  <a:tcPr marL="91425" marR="91425" marT="91425" marB="91425">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chemeClr val="accent5"/>
                      </a:solidFill>
                      <a:prstDash val="solid"/>
                      <a:round/>
                      <a:headEnd type="none" w="sm" len="sm"/>
                      <a:tailEnd type="none" w="sm" len="sm"/>
                    </a:lnB>
                  </a:tcPr>
                </a:tc>
                <a:extLst>
                  <a:ext uri="{0D108BD9-81ED-4DB2-BD59-A6C34878D82A}">
                    <a16:rowId xmlns:a16="http://schemas.microsoft.com/office/drawing/2014/main" val="10000"/>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req_id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主鍵，借用申請唯一識別碼</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正整數，由系統指定</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chemeClr val="accent5"/>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user_id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外鍵，對應借用者</a:t>
                      </a:r>
                      <a:endParaRPr sz="1200">
                        <a:solidFill>
                          <a:schemeClr val="dk1"/>
                        </a:solidFill>
                        <a:latin typeface="DFKai-SB"/>
                        <a:ea typeface="DFKai-SB"/>
                        <a:cs typeface="DFKai-SB"/>
                        <a:sym typeface="DFKai-SB"/>
                      </a:endParaRPr>
                    </a:p>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(User.user_id)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參考 User.user_id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room_id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外鍵，對應借用教室</a:t>
                      </a:r>
                      <a:endParaRPr sz="1200">
                        <a:solidFill>
                          <a:schemeClr val="dk1"/>
                        </a:solidFill>
                        <a:latin typeface="DFKai-SB"/>
                        <a:ea typeface="DFKai-SB"/>
                        <a:cs typeface="DFKai-SB"/>
                        <a:sym typeface="DFKai-SB"/>
                      </a:endParaRPr>
                    </a:p>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(Room.room_id)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參考 Room.room_id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start_date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借用開始日期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合法日期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end_date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借用結束日期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不可早於 start_date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weekday</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長期借用星期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是</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1~7；短期借用可為 NULL</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6"/>
                  </a:ext>
                </a:extLst>
              </a:tr>
              <a:tr h="39722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start_time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借用起始時間</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08:10 以後，且早於 end_time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413" name="Google Shape;413;p31" title="ERD-借用申請產生審核歷程-2.drawio.png"/>
          <p:cNvPicPr preferRelativeResize="0"/>
          <p:nvPr/>
        </p:nvPicPr>
        <p:blipFill>
          <a:blip r:embed="rId3">
            <a:alphaModFix/>
          </a:blip>
          <a:stretch>
            <a:fillRect/>
          </a:stretch>
        </p:blipFill>
        <p:spPr>
          <a:xfrm>
            <a:off x="0" y="722150"/>
            <a:ext cx="2900300" cy="4339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grpSp>
        <p:nvGrpSpPr>
          <p:cNvPr id="419" name="Google Shape;419;p32"/>
          <p:cNvGrpSpPr/>
          <p:nvPr/>
        </p:nvGrpSpPr>
        <p:grpSpPr>
          <a:xfrm>
            <a:off x="382271" y="221981"/>
            <a:ext cx="5222535" cy="466772"/>
            <a:chOff x="956666" y="3447855"/>
            <a:chExt cx="6963380" cy="622363"/>
          </a:xfrm>
        </p:grpSpPr>
        <p:sp>
          <p:nvSpPr>
            <p:cNvPr id="420" name="Google Shape;420;p32"/>
            <p:cNvSpPr txBox="1"/>
            <p:nvPr/>
          </p:nvSpPr>
          <p:spPr>
            <a:xfrm>
              <a:off x="1581046" y="3447855"/>
              <a:ext cx="63390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BorrowRequest (借用申請)</a:t>
              </a:r>
              <a:endParaRPr sz="2300" b="1">
                <a:solidFill>
                  <a:schemeClr val="dk1"/>
                </a:solidFill>
                <a:latin typeface="DFKai-SB"/>
                <a:ea typeface="DFKai-SB"/>
                <a:cs typeface="DFKai-SB"/>
                <a:sym typeface="DFKai-SB"/>
              </a:endParaRPr>
            </a:p>
          </p:txBody>
        </p:sp>
        <p:sp>
          <p:nvSpPr>
            <p:cNvPr id="421" name="Google Shape;421;p32"/>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22" name="Google Shape;422;p32"/>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aphicFrame>
        <p:nvGraphicFramePr>
          <p:cNvPr id="423" name="Google Shape;423;p32"/>
          <p:cNvGraphicFramePr/>
          <p:nvPr/>
        </p:nvGraphicFramePr>
        <p:xfrm>
          <a:off x="2927031" y="841184"/>
          <a:ext cx="6091075" cy="4156290"/>
        </p:xfrm>
        <a:graphic>
          <a:graphicData uri="http://schemas.openxmlformats.org/drawingml/2006/table">
            <a:tbl>
              <a:tblPr>
                <a:noFill/>
                <a:tableStyleId>{AC306F20-B5FA-46C3-8F7C-962CBD427640}</a:tableStyleId>
              </a:tblPr>
              <a:tblGrid>
                <a:gridCol w="1352100">
                  <a:extLst>
                    <a:ext uri="{9D8B030D-6E8A-4147-A177-3AD203B41FA5}">
                      <a16:colId xmlns:a16="http://schemas.microsoft.com/office/drawing/2014/main" val="20000"/>
                    </a:ext>
                  </a:extLst>
                </a:gridCol>
                <a:gridCol w="1427925">
                  <a:extLst>
                    <a:ext uri="{9D8B030D-6E8A-4147-A177-3AD203B41FA5}">
                      <a16:colId xmlns:a16="http://schemas.microsoft.com/office/drawing/2014/main" val="20001"/>
                    </a:ext>
                  </a:extLst>
                </a:gridCol>
                <a:gridCol w="1061375">
                  <a:extLst>
                    <a:ext uri="{9D8B030D-6E8A-4147-A177-3AD203B41FA5}">
                      <a16:colId xmlns:a16="http://schemas.microsoft.com/office/drawing/2014/main" val="20002"/>
                    </a:ext>
                  </a:extLst>
                </a:gridCol>
                <a:gridCol w="2249675">
                  <a:extLst>
                    <a:ext uri="{9D8B030D-6E8A-4147-A177-3AD203B41FA5}">
                      <a16:colId xmlns:a16="http://schemas.microsoft.com/office/drawing/2014/main" val="20003"/>
                    </a:ext>
                  </a:extLst>
                </a:gridCol>
              </a:tblGrid>
              <a:tr h="464875">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欄位名稱</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說明</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是否可為空</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Domain</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end_time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借用結束時間</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22:30 以前，且晚於 start_time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25022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purpose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用途</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長度1~100的文字</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303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borrow_type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借用類型</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'ShortTerm'、'LongTerm'</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status</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申請狀態</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'Pending'、'Approved'、'Rejected'、'Cancelled'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created_at</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申請建立時間</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否</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系統自動記錄</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reviewed_at</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審核完成時間</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是</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核准或拒絕時記錄</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6"/>
                  </a:ext>
                </a:extLst>
              </a:tr>
              <a:tr h="3843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cancelled_at</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取消時間</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是</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使用者取消時記錄</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7"/>
                  </a:ext>
                </a:extLst>
              </a:tr>
              <a:tr h="464875">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is_cleared / cleared_at</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清除系統欄位</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依欄位</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Y/N 與清除時間</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424" name="Google Shape;424;p32" title="ERD-借用申請產生審核歷程-2.drawio.png"/>
          <p:cNvPicPr preferRelativeResize="0"/>
          <p:nvPr/>
        </p:nvPicPr>
        <p:blipFill>
          <a:blip r:embed="rId3">
            <a:alphaModFix/>
          </a:blip>
          <a:stretch>
            <a:fillRect/>
          </a:stretch>
        </p:blipFill>
        <p:spPr>
          <a:xfrm>
            <a:off x="0" y="722150"/>
            <a:ext cx="2927025" cy="4379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grpSp>
        <p:nvGrpSpPr>
          <p:cNvPr id="430" name="Google Shape;430;p33"/>
          <p:cNvGrpSpPr/>
          <p:nvPr/>
        </p:nvGrpSpPr>
        <p:grpSpPr>
          <a:xfrm>
            <a:off x="382237" y="221981"/>
            <a:ext cx="5437417" cy="466772"/>
            <a:chOff x="956666" y="3447855"/>
            <a:chExt cx="6805278" cy="622363"/>
          </a:xfrm>
        </p:grpSpPr>
        <p:sp>
          <p:nvSpPr>
            <p:cNvPr id="431" name="Google Shape;431;p33"/>
            <p:cNvSpPr txBox="1"/>
            <p:nvPr/>
          </p:nvSpPr>
          <p:spPr>
            <a:xfrm>
              <a:off x="1581044" y="3447855"/>
              <a:ext cx="61809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BorrowRequest (借用申請)</a:t>
              </a:r>
              <a:endParaRPr sz="2300" b="1">
                <a:solidFill>
                  <a:schemeClr val="dk1"/>
                </a:solidFill>
                <a:latin typeface="DFKai-SB"/>
                <a:ea typeface="DFKai-SB"/>
                <a:cs typeface="DFKai-SB"/>
                <a:sym typeface="DFKai-SB"/>
              </a:endParaRPr>
            </a:p>
          </p:txBody>
        </p:sp>
        <p:sp>
          <p:nvSpPr>
            <p:cNvPr id="432" name="Google Shape;432;p33"/>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33" name="Google Shape;433;p33"/>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434" name="Google Shape;434;p33"/>
          <p:cNvSpPr txBox="1"/>
          <p:nvPr/>
        </p:nvSpPr>
        <p:spPr>
          <a:xfrm>
            <a:off x="219600" y="1074896"/>
            <a:ext cx="8704800" cy="3693600"/>
          </a:xfrm>
          <a:prstGeom prst="rect">
            <a:avLst/>
          </a:prstGeom>
          <a:noFill/>
          <a:ln>
            <a:noFill/>
          </a:ln>
        </p:spPr>
        <p:txBody>
          <a:bodyPr spcFirstLastPara="1" wrap="square" lIns="68575" tIns="68575" rIns="68575" bIns="68575" anchor="t" anchorCtr="0">
            <a:noAutofit/>
          </a:bodyPr>
          <a:lstStyle/>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req_id 為主鍵，值必須唯一且非空</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user_id 必須對應到 User.user_id（外鍵）</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room_id 必須對應到 Room.room_id（外鍵）</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start_date 不可晚於 end_date</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start_time 必須早於 end_time</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borrow_type 合法值為：'ShortTerm'、'LongTerm'</a:t>
            </a:r>
            <a:endParaRPr sz="2200" dirty="0">
              <a:solidFill>
                <a:schemeClr val="dk1"/>
              </a:solidFill>
              <a:latin typeface="DFKai-SB"/>
              <a:ea typeface="DFKai-SB"/>
              <a:cs typeface="DFKai-SB"/>
              <a:sym typeface="DFKai-SB"/>
            </a:endParaRPr>
          </a:p>
          <a:p>
            <a:pPr marL="431800" lvl="0" indent="-342900" algn="l" rtl="0">
              <a:lnSpc>
                <a:spcPct val="150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若 borrow_type = 'LongTerm'，則 weekday 不可為空</a:t>
            </a:r>
            <a:endParaRPr sz="2200" dirty="0">
              <a:solidFill>
                <a:schemeClr val="dk1"/>
              </a:solidFill>
              <a:latin typeface="DFKai-SB"/>
              <a:ea typeface="DFKai-SB"/>
              <a:cs typeface="DFKai-SB"/>
              <a:sym typeface="DFKai-SB"/>
            </a:endParaRPr>
          </a:p>
          <a:p>
            <a:pPr marL="800100" lvl="0" indent="-342900" algn="l" rtl="0">
              <a:lnSpc>
                <a:spcPct val="150000"/>
              </a:lnSpc>
              <a:spcBef>
                <a:spcPts val="900"/>
              </a:spcBef>
              <a:spcAft>
                <a:spcPts val="900"/>
              </a:spcAft>
              <a:buFont typeface="Arial" panose="020B0604020202020204" pitchFamily="34" charset="0"/>
              <a:buChar char="•"/>
            </a:pPr>
            <a:endParaRPr sz="2200" dirty="0">
              <a:solidFill>
                <a:schemeClr val="dk1"/>
              </a:solidFill>
              <a:latin typeface="DFKai-SB"/>
              <a:ea typeface="DFKai-SB"/>
              <a:cs typeface="DFKai-SB"/>
              <a:sym typeface="DFKai-SB"/>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grpSp>
        <p:nvGrpSpPr>
          <p:cNvPr id="440" name="Google Shape;440;p34"/>
          <p:cNvGrpSpPr/>
          <p:nvPr/>
        </p:nvGrpSpPr>
        <p:grpSpPr>
          <a:xfrm>
            <a:off x="382237" y="221981"/>
            <a:ext cx="5437417" cy="466772"/>
            <a:chOff x="956666" y="3447855"/>
            <a:chExt cx="6805278" cy="622363"/>
          </a:xfrm>
        </p:grpSpPr>
        <p:sp>
          <p:nvSpPr>
            <p:cNvPr id="441" name="Google Shape;441;p34"/>
            <p:cNvSpPr txBox="1"/>
            <p:nvPr/>
          </p:nvSpPr>
          <p:spPr>
            <a:xfrm>
              <a:off x="1581044" y="3447855"/>
              <a:ext cx="61809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BorrowRequest (借用申請)</a:t>
              </a:r>
              <a:endParaRPr sz="2300" b="1">
                <a:solidFill>
                  <a:schemeClr val="dk1"/>
                </a:solidFill>
                <a:latin typeface="DFKai-SB"/>
                <a:ea typeface="DFKai-SB"/>
                <a:cs typeface="DFKai-SB"/>
                <a:sym typeface="DFKai-SB"/>
              </a:endParaRPr>
            </a:p>
          </p:txBody>
        </p:sp>
        <p:sp>
          <p:nvSpPr>
            <p:cNvPr id="442" name="Google Shape;442;p34"/>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43" name="Google Shape;443;p34"/>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444" name="Google Shape;444;p34"/>
          <p:cNvSpPr txBox="1"/>
          <p:nvPr/>
        </p:nvSpPr>
        <p:spPr>
          <a:xfrm>
            <a:off x="69835" y="1200814"/>
            <a:ext cx="9144000" cy="4065600"/>
          </a:xfrm>
          <a:prstGeom prst="rect">
            <a:avLst/>
          </a:prstGeom>
          <a:noFill/>
          <a:ln>
            <a:noFill/>
          </a:ln>
        </p:spPr>
        <p:txBody>
          <a:bodyPr spcFirstLastPara="1" wrap="square" lIns="68575" tIns="68575" rIns="68575" bIns="68575" anchor="t" anchorCtr="0">
            <a:noAutofit/>
          </a:bodyPr>
          <a:lstStyle/>
          <a:p>
            <a:pPr marL="431800" lvl="0" indent="-342900" algn="l" rtl="0">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status 合法值為：'Pending'、'Approved'、'Rejected’</a:t>
            </a:r>
            <a:endParaRPr lang="en-US" altLang="zh-TW" sz="2200" dirty="0">
              <a:solidFill>
                <a:schemeClr val="dk1"/>
              </a:solidFill>
              <a:latin typeface="DFKai-SB"/>
              <a:ea typeface="DFKai-SB"/>
              <a:cs typeface="DFKai-SB"/>
              <a:sym typeface="DFKai-SB"/>
            </a:endParaRPr>
          </a:p>
          <a:p>
            <a:pPr marL="88900" lvl="0" algn="l" rtl="0">
              <a:spcBef>
                <a:spcPts val="0"/>
              </a:spcBef>
              <a:spcAft>
                <a:spcPts val="0"/>
              </a:spcAft>
              <a:buClr>
                <a:schemeClr val="dk1"/>
              </a:buClr>
              <a:buSzPts val="2200"/>
            </a:pPr>
            <a:r>
              <a:rPr lang="en-US" altLang="zh-TW" sz="2200" dirty="0">
                <a:solidFill>
                  <a:schemeClr val="dk1"/>
                </a:solidFill>
                <a:latin typeface="DFKai-SB"/>
                <a:ea typeface="DFKai-SB"/>
                <a:cs typeface="DFKai-SB"/>
                <a:sym typeface="DFKai-SB"/>
              </a:rPr>
              <a:t>	</a:t>
            </a:r>
            <a:r>
              <a:rPr lang="zh-TW" sz="2200" dirty="0">
                <a:solidFill>
                  <a:schemeClr val="dk1"/>
                </a:solidFill>
                <a:latin typeface="DFKai-SB"/>
                <a:ea typeface="DFKai-SB"/>
                <a:cs typeface="DFKai-SB"/>
                <a:sym typeface="DFKai-SB"/>
              </a:rPr>
              <a:t>、'Cancelled'</a:t>
            </a:r>
            <a:endParaRPr sz="2200" dirty="0">
              <a:solidFill>
                <a:schemeClr val="dk1"/>
              </a:solidFill>
              <a:latin typeface="DFKai-SB"/>
              <a:ea typeface="DFKai-SB"/>
              <a:cs typeface="DFKai-SB"/>
              <a:sym typeface="DFKai-SB"/>
            </a:endParaRPr>
          </a:p>
          <a:p>
            <a:pPr marL="431800" lvl="0" indent="-342900" algn="l" rtl="0">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同一 room_id、日期區間重疊、時間區間重疊，且 status = 'Approved' 的借用紀錄不可同時存在</a:t>
            </a:r>
            <a:endParaRPr sz="2200" dirty="0">
              <a:solidFill>
                <a:schemeClr val="dk1"/>
              </a:solidFill>
              <a:latin typeface="DFKai-SB"/>
              <a:ea typeface="DFKai-SB"/>
              <a:cs typeface="DFKai-SB"/>
              <a:sym typeface="DFKai-SB"/>
            </a:endParaRPr>
          </a:p>
          <a:p>
            <a:pPr marL="431800" lvl="0" indent="-342900" algn="l" rtl="0">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若 Room.status = 'UnderMaintenance' 或 'Disabled’</a:t>
            </a:r>
            <a:endParaRPr lang="en-US" altLang="zh-TW" sz="2200" dirty="0">
              <a:solidFill>
                <a:schemeClr val="dk1"/>
              </a:solidFill>
              <a:latin typeface="DFKai-SB"/>
              <a:ea typeface="DFKai-SB"/>
              <a:cs typeface="DFKai-SB"/>
              <a:sym typeface="DFKai-SB"/>
            </a:endParaRPr>
          </a:p>
          <a:p>
            <a:pPr marL="88900" lvl="0" algn="l" rtl="0">
              <a:spcBef>
                <a:spcPts val="0"/>
              </a:spcBef>
              <a:spcAft>
                <a:spcPts val="0"/>
              </a:spcAft>
              <a:buClr>
                <a:schemeClr val="dk1"/>
              </a:buClr>
              <a:buSzPts val="2200"/>
            </a:pPr>
            <a:r>
              <a:rPr lang="en-US" altLang="zh-TW" sz="2200" dirty="0">
                <a:solidFill>
                  <a:schemeClr val="dk1"/>
                </a:solidFill>
                <a:latin typeface="DFKai-SB"/>
                <a:ea typeface="DFKai-SB"/>
                <a:cs typeface="DFKai-SB"/>
                <a:sym typeface="DFKai-SB"/>
              </a:rPr>
              <a:t>	</a:t>
            </a:r>
            <a:r>
              <a:rPr lang="zh-TW" sz="2200" dirty="0">
                <a:solidFill>
                  <a:schemeClr val="dk1"/>
                </a:solidFill>
                <a:latin typeface="DFKai-SB"/>
                <a:ea typeface="DFKai-SB"/>
                <a:cs typeface="DFKai-SB"/>
                <a:sym typeface="DFKai-SB"/>
              </a:rPr>
              <a:t>，則該申請不可被核准為 Approved</a:t>
            </a:r>
            <a:endParaRPr sz="2200" dirty="0">
              <a:solidFill>
                <a:schemeClr val="dk1"/>
              </a:solidFill>
              <a:latin typeface="DFKai-SB"/>
              <a:ea typeface="DFKai-SB"/>
              <a:cs typeface="DFKai-SB"/>
              <a:sym typeface="DFKai-SB"/>
            </a:endParaRPr>
          </a:p>
          <a:p>
            <a:pPr marL="431800" lvl="0" indent="-342900" algn="l" rtl="0">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reviewed_at 不可早於 created_at</a:t>
            </a:r>
            <a:endParaRPr sz="2200" dirty="0">
              <a:solidFill>
                <a:schemeClr val="dk1"/>
              </a:solidFill>
              <a:latin typeface="DFKai-SB"/>
              <a:ea typeface="DFKai-SB"/>
              <a:cs typeface="DFKai-SB"/>
              <a:sym typeface="DFKai-SB"/>
            </a:endParaRPr>
          </a:p>
          <a:p>
            <a:pPr marL="431800" lvl="0" indent="-342900" algn="l" rtl="0">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若 status = 'Cancelled'，則 cancelled_at 不可為空</a:t>
            </a:r>
            <a:endParaRPr sz="2200" dirty="0">
              <a:solidFill>
                <a:schemeClr val="dk1"/>
              </a:solidFill>
              <a:latin typeface="DFKai-SB"/>
              <a:ea typeface="DFKai-SB"/>
              <a:cs typeface="DFKai-SB"/>
              <a:sym typeface="DFKai-SB"/>
            </a:endParaRPr>
          </a:p>
          <a:p>
            <a:pPr marL="431800" lvl="0" indent="-342900" algn="l" rtl="0">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is_cleared 合法值為 'Y' 或 'N'</a:t>
            </a:r>
            <a:endParaRPr sz="2200" dirty="0">
              <a:solidFill>
                <a:schemeClr val="dk1"/>
              </a:solidFill>
              <a:latin typeface="DFKai-SB"/>
              <a:ea typeface="DFKai-SB"/>
              <a:cs typeface="DFKai-SB"/>
              <a:sym typeface="DFKai-SB"/>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grpSp>
        <p:nvGrpSpPr>
          <p:cNvPr id="450" name="Google Shape;450;p35"/>
          <p:cNvGrpSpPr/>
          <p:nvPr/>
        </p:nvGrpSpPr>
        <p:grpSpPr>
          <a:xfrm>
            <a:off x="382271" y="221981"/>
            <a:ext cx="4435935" cy="466772"/>
            <a:chOff x="956666" y="3447855"/>
            <a:chExt cx="5914580" cy="622363"/>
          </a:xfrm>
        </p:grpSpPr>
        <p:sp>
          <p:nvSpPr>
            <p:cNvPr id="451" name="Google Shape;451;p35"/>
            <p:cNvSpPr txBox="1"/>
            <p:nvPr/>
          </p:nvSpPr>
          <p:spPr>
            <a:xfrm>
              <a:off x="1581046" y="3447855"/>
              <a:ext cx="52902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AuditLog (審核歷程)</a:t>
              </a:r>
              <a:endParaRPr sz="2300" b="1">
                <a:solidFill>
                  <a:schemeClr val="dk1"/>
                </a:solidFill>
                <a:latin typeface="DFKai-SB"/>
                <a:ea typeface="DFKai-SB"/>
                <a:cs typeface="DFKai-SB"/>
                <a:sym typeface="DFKai-SB"/>
              </a:endParaRPr>
            </a:p>
          </p:txBody>
        </p:sp>
        <p:sp>
          <p:nvSpPr>
            <p:cNvPr id="452" name="Google Shape;452;p35"/>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53" name="Google Shape;453;p35"/>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aphicFrame>
        <p:nvGraphicFramePr>
          <p:cNvPr id="454" name="Google Shape;454;p35"/>
          <p:cNvGraphicFramePr/>
          <p:nvPr/>
        </p:nvGraphicFramePr>
        <p:xfrm>
          <a:off x="3121725" y="1069847"/>
          <a:ext cx="5949875" cy="3855680"/>
        </p:xfrm>
        <a:graphic>
          <a:graphicData uri="http://schemas.openxmlformats.org/drawingml/2006/table">
            <a:tbl>
              <a:tblPr>
                <a:noFill/>
                <a:tableStyleId>{AC306F20-B5FA-46C3-8F7C-962CBD427640}</a:tableStyleId>
              </a:tblPr>
              <a:tblGrid>
                <a:gridCol w="930325">
                  <a:extLst>
                    <a:ext uri="{9D8B030D-6E8A-4147-A177-3AD203B41FA5}">
                      <a16:colId xmlns:a16="http://schemas.microsoft.com/office/drawing/2014/main" val="20000"/>
                    </a:ext>
                  </a:extLst>
                </a:gridCol>
                <a:gridCol w="2260400">
                  <a:extLst>
                    <a:ext uri="{9D8B030D-6E8A-4147-A177-3AD203B41FA5}">
                      <a16:colId xmlns:a16="http://schemas.microsoft.com/office/drawing/2014/main" val="20001"/>
                    </a:ext>
                  </a:extLst>
                </a:gridCol>
                <a:gridCol w="968475">
                  <a:extLst>
                    <a:ext uri="{9D8B030D-6E8A-4147-A177-3AD203B41FA5}">
                      <a16:colId xmlns:a16="http://schemas.microsoft.com/office/drawing/2014/main" val="20002"/>
                    </a:ext>
                  </a:extLst>
                </a:gridCol>
                <a:gridCol w="1790675">
                  <a:extLst>
                    <a:ext uri="{9D8B030D-6E8A-4147-A177-3AD203B41FA5}">
                      <a16:colId xmlns:a16="http://schemas.microsoft.com/office/drawing/2014/main" val="20003"/>
                    </a:ext>
                  </a:extLst>
                </a:gridCol>
              </a:tblGrid>
              <a:tr h="464875">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欄位名稱</a:t>
                      </a:r>
                      <a:endParaRPr sz="12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說明</a:t>
                      </a:r>
                      <a:endParaRPr sz="12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是否可為空</a:t>
                      </a:r>
                      <a:endParaRPr sz="12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Domain</a:t>
                      </a:r>
                      <a:endParaRPr sz="1200" b="1">
                        <a:latin typeface="DFKai-SB"/>
                        <a:ea typeface="DFKai-SB"/>
                        <a:cs typeface="DFKai-SB"/>
                        <a:sym typeface="DFKai-SB"/>
                      </a:endParaRPr>
                    </a:p>
                  </a:txBody>
                  <a:tcPr marL="91425" marR="91425" marT="91425" marB="91425">
                    <a:lnL w="18300" cap="flat" cmpd="sng">
                      <a:solidFill>
                        <a:srgbClr val="0086B3"/>
                      </a:solidFill>
                      <a:prstDash val="solid"/>
                      <a:round/>
                      <a:headEnd type="none" w="sm" len="sm"/>
                      <a:tailEnd type="none" w="sm" len="sm"/>
                    </a:lnL>
                    <a:lnR w="18300" cap="flat" cmpd="sng">
                      <a:solidFill>
                        <a:srgbClr val="0086B3"/>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log_id</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主鍵，審核紀錄唯一識別碼</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正整數，由系統指定</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0086B3"/>
                      </a:solidFill>
                      <a:prstDash val="solid"/>
                      <a:round/>
                      <a:headEnd type="none" w="sm" len="sm"/>
                      <a:tailEnd type="none" w="sm" len="sm"/>
                    </a:lnT>
                    <a:lnB w="1830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req_id</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外鍵，對應借用申請編號 (BorrowRequest.req_id)</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參考 BorrowRequest.req_id</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admin_id</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外鍵，對應審核者 (User.user_id)</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參考 User.user_id，</a:t>
                      </a:r>
                      <a:endParaRPr sz="1200">
                        <a:latin typeface="DFKai-SB"/>
                        <a:ea typeface="DFKai-SB"/>
                        <a:cs typeface="DFKai-SB"/>
                        <a:sym typeface="DFKai-SB"/>
                      </a:endParaRPr>
                    </a:p>
                    <a:p>
                      <a:pPr marL="0" lvl="0" indent="0" algn="l" rtl="0">
                        <a:lnSpc>
                          <a:spcPct val="100000"/>
                        </a:lnSpc>
                        <a:spcBef>
                          <a:spcPts val="0"/>
                        </a:spcBef>
                        <a:spcAft>
                          <a:spcPts val="0"/>
                        </a:spcAft>
                        <a:buNone/>
                      </a:pPr>
                      <a:r>
                        <a:rPr lang="zh-TW" sz="1200">
                          <a:latin typeface="DFKai-SB"/>
                          <a:ea typeface="DFKai-SB"/>
                          <a:cs typeface="DFKai-SB"/>
                          <a:sym typeface="DFKai-SB"/>
                        </a:rPr>
                        <a:t>且 role 必須為 'A'</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action</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操作</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'Approve'、'Reject' 兩者之一</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reason</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拒絕原因</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長度1~200的文字(</a:t>
                      </a:r>
                      <a:r>
                        <a:rPr lang="zh-TW" sz="1200">
                          <a:latin typeface="DFKai-SB"/>
                          <a:ea typeface="DFKai-SB"/>
                          <a:cs typeface="DFKai-SB"/>
                          <a:sym typeface="DFKai-SB"/>
                        </a:rPr>
                        <a:t>action = 'Reject' 時必填)</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r h="4648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timestamp</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審核完成時間</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不早於對應申請的 created_at</a:t>
                      </a:r>
                      <a:endParaRPr sz="1200">
                        <a:latin typeface="DFKai-SB"/>
                        <a:ea typeface="DFKai-SB"/>
                        <a:cs typeface="DFKai-SB"/>
                        <a:sym typeface="DFKai-SB"/>
                      </a:endParaRPr>
                    </a:p>
                  </a:txBody>
                  <a:tcPr marL="91425" marR="91425" marT="91425" marB="91425">
                    <a:lnL w="18300" cap="flat" cmpd="sng">
                      <a:solidFill>
                        <a:srgbClr val="55C0AF"/>
                      </a:solidFill>
                      <a:prstDash val="solid"/>
                      <a:round/>
                      <a:headEnd type="none" w="sm" len="sm"/>
                      <a:tailEnd type="none" w="sm" len="sm"/>
                    </a:lnL>
                    <a:lnR w="18300" cap="flat" cmpd="sng">
                      <a:solidFill>
                        <a:srgbClr val="55C0AF"/>
                      </a:solidFill>
                      <a:prstDash val="solid"/>
                      <a:round/>
                      <a:headEnd type="none" w="sm" len="sm"/>
                      <a:tailEnd type="none" w="sm" len="sm"/>
                    </a:lnR>
                    <a:lnT w="18300" cap="flat" cmpd="sng">
                      <a:solidFill>
                        <a:srgbClr val="55C0AF"/>
                      </a:solidFill>
                      <a:prstDash val="solid"/>
                      <a:round/>
                      <a:headEnd type="none" w="sm" len="sm"/>
                      <a:tailEnd type="none" w="sm" len="sm"/>
                    </a:lnT>
                    <a:lnB w="18300" cap="flat" cmpd="sng">
                      <a:solidFill>
                        <a:srgbClr val="55C0A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455" name="Google Shape;455;p35" title="ERD-使用者執行審核審核歷程-2.drawio.png"/>
          <p:cNvPicPr preferRelativeResize="0"/>
          <p:nvPr/>
        </p:nvPicPr>
        <p:blipFill>
          <a:blip r:embed="rId3">
            <a:alphaModFix/>
          </a:blip>
          <a:stretch>
            <a:fillRect/>
          </a:stretch>
        </p:blipFill>
        <p:spPr>
          <a:xfrm>
            <a:off x="133902" y="722150"/>
            <a:ext cx="2851998" cy="44213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6"/>
          <p:cNvSpPr txBox="1"/>
          <p:nvPr/>
        </p:nvSpPr>
        <p:spPr>
          <a:xfrm>
            <a:off x="668425" y="1097275"/>
            <a:ext cx="8629200" cy="4104190"/>
          </a:xfrm>
          <a:prstGeom prst="rect">
            <a:avLst/>
          </a:prstGeom>
          <a:noFill/>
          <a:ln>
            <a:noFill/>
          </a:ln>
        </p:spPr>
        <p:txBody>
          <a:bodyPr spcFirstLastPara="1" wrap="square" lIns="68575" tIns="68575" rIns="68575" bIns="68575" anchor="t" anchorCtr="0">
            <a:spAutoFit/>
          </a:bodyPr>
          <a:lstStyle/>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log_id 為主鍵，值必須唯一且非空</a:t>
            </a:r>
            <a:endParaRPr sz="2200"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req_id 必須對應到 BorrowRequest.req_id（外鍵）</a:t>
            </a:r>
            <a:endParaRPr sz="2200"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admin_id 必須對應到 User.user_id（外鍵）</a:t>
            </a:r>
            <a:endParaRPr sz="2200" dirty="0">
              <a:solidFill>
                <a:schemeClr val="dk1"/>
              </a:solidFill>
              <a:latin typeface="DFKai-SB"/>
              <a:ea typeface="DFKai-SB"/>
              <a:cs typeface="DFKai-SB"/>
              <a:sym typeface="DFKai-SB"/>
            </a:endParaRPr>
          </a:p>
          <a:p>
            <a:pPr marL="685800" lvl="0" algn="l" rtl="0">
              <a:lnSpc>
                <a:spcPct val="115000"/>
              </a:lnSpc>
              <a:spcBef>
                <a:spcPts val="900"/>
              </a:spcBef>
              <a:spcAft>
                <a:spcPts val="0"/>
              </a:spcAft>
            </a:pPr>
            <a:r>
              <a:rPr lang="zh-TW" sz="2200" dirty="0">
                <a:solidFill>
                  <a:schemeClr val="dk1"/>
                </a:solidFill>
                <a:latin typeface="DFKai-SB"/>
                <a:ea typeface="DFKai-SB"/>
                <a:cs typeface="DFKai-SB"/>
                <a:sym typeface="DFKai-SB"/>
              </a:rPr>
              <a:t>，且該使用者 role 必須為 'A'</a:t>
            </a:r>
            <a:endParaRPr sz="2200" dirty="0">
              <a:solidFill>
                <a:schemeClr val="dk1"/>
              </a:solidFill>
              <a:latin typeface="DFKai-SB"/>
              <a:ea typeface="DFKai-SB"/>
              <a:cs typeface="DFKai-SB"/>
              <a:sym typeface="DFKai-SB"/>
            </a:endParaRPr>
          </a:p>
          <a:p>
            <a:pPr marL="381000" lvl="0" indent="-342900" algn="l" rtl="0">
              <a:lnSpc>
                <a:spcPct val="115000"/>
              </a:lnSpc>
              <a:spcBef>
                <a:spcPts val="90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action 合法值為：'Approve'、'Reject'</a:t>
            </a:r>
            <a:endParaRPr sz="2200"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若 action = 'Reject'，則 reason 不可為空或只含空白</a:t>
            </a:r>
            <a:endParaRPr sz="2200"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timestamp 不可早於對應 BorrowRequest.created_at</a:t>
            </a:r>
            <a:endParaRPr sz="2200"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200" dirty="0">
                <a:solidFill>
                  <a:schemeClr val="dk1"/>
                </a:solidFill>
                <a:latin typeface="DFKai-SB"/>
                <a:ea typeface="DFKai-SB"/>
                <a:cs typeface="DFKai-SB"/>
                <a:sym typeface="DFKai-SB"/>
              </a:rPr>
              <a:t>取消借用不記錄在 AuditLog，而是記錄在</a:t>
            </a:r>
            <a:endParaRPr sz="2200" dirty="0">
              <a:solidFill>
                <a:schemeClr val="dk1"/>
              </a:solidFill>
              <a:latin typeface="DFKai-SB"/>
              <a:ea typeface="DFKai-SB"/>
              <a:cs typeface="DFKai-SB"/>
              <a:sym typeface="DFKai-SB"/>
            </a:endParaRPr>
          </a:p>
          <a:p>
            <a:pPr marL="342900" lvl="0" algn="l" rtl="0">
              <a:lnSpc>
                <a:spcPct val="115000"/>
              </a:lnSpc>
              <a:spcBef>
                <a:spcPts val="900"/>
              </a:spcBef>
              <a:spcAft>
                <a:spcPts val="900"/>
              </a:spcAft>
            </a:pPr>
            <a:r>
              <a:rPr lang="zh-TW" sz="2200" dirty="0">
                <a:solidFill>
                  <a:schemeClr val="dk1"/>
                </a:solidFill>
                <a:latin typeface="DFKai-SB"/>
                <a:ea typeface="DFKai-SB"/>
                <a:cs typeface="DFKai-SB"/>
                <a:sym typeface="DFKai-SB"/>
              </a:rPr>
              <a:t>BorrowRequest.cancelled_at</a:t>
            </a:r>
            <a:endParaRPr sz="2200" dirty="0">
              <a:solidFill>
                <a:schemeClr val="dk1"/>
              </a:solidFill>
              <a:latin typeface="DFKai-SB"/>
              <a:ea typeface="DFKai-SB"/>
              <a:cs typeface="DFKai-SB"/>
              <a:sym typeface="DFKai-SB"/>
            </a:endParaRPr>
          </a:p>
        </p:txBody>
      </p:sp>
      <p:grpSp>
        <p:nvGrpSpPr>
          <p:cNvPr id="462" name="Google Shape;462;p36"/>
          <p:cNvGrpSpPr/>
          <p:nvPr/>
        </p:nvGrpSpPr>
        <p:grpSpPr>
          <a:xfrm>
            <a:off x="382271" y="221981"/>
            <a:ext cx="4435935" cy="466772"/>
            <a:chOff x="956666" y="3447855"/>
            <a:chExt cx="5914580" cy="622363"/>
          </a:xfrm>
        </p:grpSpPr>
        <p:sp>
          <p:nvSpPr>
            <p:cNvPr id="463" name="Google Shape;463;p36"/>
            <p:cNvSpPr txBox="1"/>
            <p:nvPr/>
          </p:nvSpPr>
          <p:spPr>
            <a:xfrm>
              <a:off x="1581046" y="3447855"/>
              <a:ext cx="52902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AuditLog (審核歷程)</a:t>
              </a:r>
              <a:endParaRPr sz="2300" b="1">
                <a:solidFill>
                  <a:schemeClr val="dk1"/>
                </a:solidFill>
                <a:latin typeface="DFKai-SB"/>
                <a:ea typeface="DFKai-SB"/>
                <a:cs typeface="DFKai-SB"/>
                <a:sym typeface="DFKai-SB"/>
              </a:endParaRPr>
            </a:p>
          </p:txBody>
        </p:sp>
        <p:sp>
          <p:nvSpPr>
            <p:cNvPr id="464" name="Google Shape;464;p36"/>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65" name="Google Shape;465;p36"/>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graphicFrame>
        <p:nvGraphicFramePr>
          <p:cNvPr id="471" name="Google Shape;471;p37"/>
          <p:cNvGraphicFramePr/>
          <p:nvPr/>
        </p:nvGraphicFramePr>
        <p:xfrm>
          <a:off x="436256" y="1394313"/>
          <a:ext cx="8271475" cy="2986830"/>
        </p:xfrm>
        <a:graphic>
          <a:graphicData uri="http://schemas.openxmlformats.org/drawingml/2006/table">
            <a:tbl>
              <a:tblPr>
                <a:noFill/>
                <a:tableStyleId>{AC306F20-B5FA-46C3-8F7C-962CBD427640}</a:tableStyleId>
              </a:tblPr>
              <a:tblGrid>
                <a:gridCol w="3402150">
                  <a:extLst>
                    <a:ext uri="{9D8B030D-6E8A-4147-A177-3AD203B41FA5}">
                      <a16:colId xmlns:a16="http://schemas.microsoft.com/office/drawing/2014/main" val="20000"/>
                    </a:ext>
                  </a:extLst>
                </a:gridCol>
                <a:gridCol w="4869325">
                  <a:extLst>
                    <a:ext uri="{9D8B030D-6E8A-4147-A177-3AD203B41FA5}">
                      <a16:colId xmlns:a16="http://schemas.microsoft.com/office/drawing/2014/main" val="20001"/>
                    </a:ext>
                  </a:extLst>
                </a:gridCol>
              </a:tblGrid>
              <a:tr h="257175">
                <a:tc>
                  <a:txBody>
                    <a:bodyPr/>
                    <a:lstStyle/>
                    <a:p>
                      <a:pPr marL="0" lvl="0" indent="0" algn="l" rtl="0">
                        <a:lnSpc>
                          <a:spcPct val="100000"/>
                        </a:lnSpc>
                        <a:spcBef>
                          <a:spcPts val="0"/>
                        </a:spcBef>
                        <a:spcAft>
                          <a:spcPts val="0"/>
                        </a:spcAft>
                        <a:buNone/>
                      </a:pPr>
                      <a:r>
                        <a:rPr lang="zh-TW" sz="1600" b="1">
                          <a:latin typeface="DFKai-SB"/>
                          <a:ea typeface="DFKai-SB"/>
                          <a:cs typeface="DFKai-SB"/>
                          <a:sym typeface="DFKai-SB"/>
                        </a:rPr>
                        <a:t>規則說明</a:t>
                      </a:r>
                      <a:endParaRPr sz="16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600" b="1">
                          <a:latin typeface="DFKai-SB"/>
                          <a:ea typeface="DFKai-SB"/>
                          <a:cs typeface="DFKai-SB"/>
                          <a:sym typeface="DFKai-SB"/>
                        </a:rPr>
                        <a:t>對應限制</a:t>
                      </a:r>
                      <a:endParaRPr sz="16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0"/>
                  </a:ext>
                </a:extLst>
              </a:tr>
              <a:tr h="2571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每個使用者必須先登入，才能發出借用申請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User 資料存在，且 BorrowRequest.user_id 對應到 User.user_id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1"/>
                  </a:ext>
                </a:extLst>
              </a:tr>
              <a:tr h="2571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教室借用必須經過審核，Pending 時尚未核准</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BorrowRequest.status 必須在審核後才可變為 Approved / Rejected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2"/>
                  </a:ext>
                </a:extLst>
              </a:tr>
              <a:tr h="2571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只有 Admin 可以核准或拒絕申請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AuditLog.admin_id 必須對應到 User.user_id，且 role 必須為 'A'</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3"/>
                  </a:ext>
                </a:extLst>
              </a:tr>
              <a:tr h="2571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使用者只能取消尚未開始的借用</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若系統時間已超過 start_date + start_time，status 不可再變更為 Cancelled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4"/>
                  </a:ext>
                </a:extLst>
              </a:tr>
              <a:tr h="2571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維修或停用中的教室不可被核准借用</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在 INSERT / UPDATE BorrowRequest 時檢查對應 Room.status</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5"/>
                  </a:ext>
                </a:extLst>
              </a:tr>
              <a:tr h="2571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每筆核准或拒絕操作都必須在 AuditLog 中記錄</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凡 BorrowRequest.status 從 Pending → Approved 或 Rejected，必須有一筆對應的 AuditLog 資料</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pSp>
        <p:nvGrpSpPr>
          <p:cNvPr id="472" name="Google Shape;472;p37"/>
          <p:cNvGrpSpPr/>
          <p:nvPr/>
        </p:nvGrpSpPr>
        <p:grpSpPr>
          <a:xfrm>
            <a:off x="382271" y="221981"/>
            <a:ext cx="4435935" cy="466772"/>
            <a:chOff x="956666" y="3447855"/>
            <a:chExt cx="5914580" cy="622363"/>
          </a:xfrm>
        </p:grpSpPr>
        <p:sp>
          <p:nvSpPr>
            <p:cNvPr id="473" name="Google Shape;473;p37"/>
            <p:cNvSpPr txBox="1"/>
            <p:nvPr/>
          </p:nvSpPr>
          <p:spPr>
            <a:xfrm>
              <a:off x="1581046" y="3447855"/>
              <a:ext cx="52902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跨資料表完整性限制</a:t>
              </a:r>
              <a:endParaRPr sz="2300" b="1">
                <a:solidFill>
                  <a:schemeClr val="dk1"/>
                </a:solidFill>
                <a:latin typeface="DFKai-SB"/>
                <a:ea typeface="DFKai-SB"/>
                <a:cs typeface="DFKai-SB"/>
                <a:sym typeface="DFKai-SB"/>
              </a:endParaRPr>
            </a:p>
          </p:txBody>
        </p:sp>
        <p:sp>
          <p:nvSpPr>
            <p:cNvPr id="474" name="Google Shape;474;p37"/>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75" name="Google Shape;475;p37"/>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0"/>
        <p:cNvGrpSpPr/>
        <p:nvPr/>
      </p:nvGrpSpPr>
      <p:grpSpPr>
        <a:xfrm>
          <a:off x="0" y="0"/>
          <a:ext cx="0" cy="0"/>
          <a:chOff x="0" y="0"/>
          <a:chExt cx="0" cy="0"/>
        </a:xfrm>
      </p:grpSpPr>
      <p:sp>
        <p:nvSpPr>
          <p:cNvPr id="481" name="Google Shape;481;p38"/>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zh-TW" sz="2700" b="1">
                <a:solidFill>
                  <a:srgbClr val="262833"/>
                </a:solidFill>
                <a:highlight>
                  <a:srgbClr val="FFFFFF"/>
                </a:highlight>
                <a:latin typeface="DFKai-SB"/>
                <a:ea typeface="DFKai-SB"/>
                <a:cs typeface="DFKai-SB"/>
                <a:sym typeface="DFKai-SB"/>
              </a:rPr>
              <a:t>資料庫  Schema Diagram</a:t>
            </a:r>
            <a:endParaRPr sz="2700" b="1">
              <a:solidFill>
                <a:schemeClr val="dk1"/>
              </a:solidFill>
              <a:latin typeface="DFKai-SB"/>
              <a:ea typeface="DFKai-SB"/>
              <a:cs typeface="DFKai-SB"/>
              <a:sym typeface="DFKai-SB"/>
            </a:endParaRPr>
          </a:p>
        </p:txBody>
      </p:sp>
      <p:grpSp>
        <p:nvGrpSpPr>
          <p:cNvPr id="482" name="Google Shape;482;p38"/>
          <p:cNvGrpSpPr/>
          <p:nvPr/>
        </p:nvGrpSpPr>
        <p:grpSpPr>
          <a:xfrm>
            <a:off x="3502220" y="2918232"/>
            <a:ext cx="844541" cy="932257"/>
            <a:chOff x="589141" y="2173776"/>
            <a:chExt cx="1126055" cy="1243010"/>
          </a:xfrm>
        </p:grpSpPr>
        <p:grpSp>
          <p:nvGrpSpPr>
            <p:cNvPr id="483" name="Google Shape;483;p38"/>
            <p:cNvGrpSpPr/>
            <p:nvPr/>
          </p:nvGrpSpPr>
          <p:grpSpPr>
            <a:xfrm>
              <a:off x="589141" y="2173776"/>
              <a:ext cx="1126055" cy="1243010"/>
              <a:chOff x="1950418" y="3368985"/>
              <a:chExt cx="432101" cy="476980"/>
            </a:xfrm>
          </p:grpSpPr>
          <p:sp>
            <p:nvSpPr>
              <p:cNvPr id="484" name="Google Shape;484;p38"/>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85" name="Google Shape;485;p38"/>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486" name="Google Shape;486;p38"/>
            <p:cNvSpPr txBox="1"/>
            <p:nvPr/>
          </p:nvSpPr>
          <p:spPr>
            <a:xfrm>
              <a:off x="907668" y="2220553"/>
              <a:ext cx="6111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100" b="1">
                  <a:solidFill>
                    <a:schemeClr val="lt1"/>
                  </a:solidFill>
                  <a:latin typeface="Microsoft Yahei"/>
                  <a:ea typeface="Microsoft Yahei"/>
                  <a:cs typeface="Microsoft Yahei"/>
                  <a:sym typeface="Microsoft Yahei"/>
                </a:rPr>
                <a:t>5</a:t>
              </a:r>
              <a:endParaRPr sz="4100" b="1">
                <a:solidFill>
                  <a:schemeClr val="lt1"/>
                </a:solidFill>
                <a:latin typeface="Microsoft Yahei"/>
                <a:ea typeface="Microsoft Yahei"/>
                <a:cs typeface="Microsoft Yahei"/>
                <a:sym typeface="Microsoft Yahei"/>
              </a:endParaRPr>
            </a:p>
          </p:txBody>
        </p:sp>
      </p:grpSp>
      <p:sp>
        <p:nvSpPr>
          <p:cNvPr id="487" name="Google Shape;487;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grpSp>
        <p:nvGrpSpPr>
          <p:cNvPr id="492" name="Google Shape;492;p39"/>
          <p:cNvGrpSpPr/>
          <p:nvPr/>
        </p:nvGrpSpPr>
        <p:grpSpPr>
          <a:xfrm>
            <a:off x="382271" y="221975"/>
            <a:ext cx="3377304" cy="466778"/>
            <a:chOff x="956666" y="3447847"/>
            <a:chExt cx="4503072" cy="622371"/>
          </a:xfrm>
        </p:grpSpPr>
        <p:sp>
          <p:nvSpPr>
            <p:cNvPr id="493" name="Google Shape;493;p39"/>
            <p:cNvSpPr txBox="1"/>
            <p:nvPr/>
          </p:nvSpPr>
          <p:spPr>
            <a:xfrm>
              <a:off x="1581038" y="3447847"/>
              <a:ext cx="38787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教室借用系統資料表</a:t>
              </a:r>
              <a:endParaRPr sz="2300" b="1">
                <a:solidFill>
                  <a:schemeClr val="dk1"/>
                </a:solidFill>
                <a:latin typeface="DFKai-SB"/>
                <a:ea typeface="DFKai-SB"/>
                <a:cs typeface="DFKai-SB"/>
                <a:sym typeface="DFKai-SB"/>
              </a:endParaRPr>
            </a:p>
          </p:txBody>
        </p:sp>
        <p:sp>
          <p:nvSpPr>
            <p:cNvPr id="494" name="Google Shape;494;p39"/>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495" name="Google Shape;495;p39"/>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496" name="Google Shape;496;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27</a:t>
            </a:fld>
            <a:endParaRPr/>
          </a:p>
        </p:txBody>
      </p:sp>
      <p:pic>
        <p:nvPicPr>
          <p:cNvPr id="497" name="Google Shape;497;p39" title="schema Diagram.drawio (2).png"/>
          <p:cNvPicPr preferRelativeResize="0"/>
          <p:nvPr/>
        </p:nvPicPr>
        <p:blipFill>
          <a:blip r:embed="rId3">
            <a:alphaModFix/>
          </a:blip>
          <a:stretch>
            <a:fillRect/>
          </a:stretch>
        </p:blipFill>
        <p:spPr>
          <a:xfrm>
            <a:off x="1525962" y="779450"/>
            <a:ext cx="6092063" cy="422975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2"/>
        <p:cNvGrpSpPr/>
        <p:nvPr/>
      </p:nvGrpSpPr>
      <p:grpSpPr>
        <a:xfrm>
          <a:off x="0" y="0"/>
          <a:ext cx="0" cy="0"/>
          <a:chOff x="0" y="0"/>
          <a:chExt cx="0" cy="0"/>
        </a:xfrm>
      </p:grpSpPr>
      <p:sp>
        <p:nvSpPr>
          <p:cNvPr id="503" name="Google Shape;503;p40"/>
          <p:cNvSpPr txBox="1"/>
          <p:nvPr/>
        </p:nvSpPr>
        <p:spPr>
          <a:xfrm>
            <a:off x="4697081" y="3168722"/>
            <a:ext cx="4158600" cy="900216"/>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zh-TW" sz="2700" b="1" dirty="0">
                <a:solidFill>
                  <a:srgbClr val="262833"/>
                </a:solidFill>
                <a:highlight>
                  <a:srgbClr val="FFFFFF"/>
                </a:highlight>
                <a:latin typeface="DFKai-SB"/>
                <a:ea typeface="DFKai-SB"/>
                <a:cs typeface="DFKai-SB"/>
                <a:sym typeface="DFKai-SB"/>
              </a:rPr>
              <a:t>SQL語法</a:t>
            </a:r>
            <a:r>
              <a:rPr lang="zh-TW" sz="2700" b="1" dirty="0">
                <a:solidFill>
                  <a:schemeClr val="dk1"/>
                </a:solidFill>
                <a:latin typeface="DFKai-SB"/>
                <a:ea typeface="DFKai-SB"/>
                <a:cs typeface="DFKai-SB"/>
                <a:sym typeface="DFKai-SB"/>
              </a:rPr>
              <a:t>+</a:t>
            </a:r>
            <a:r>
              <a:rPr lang="zh-TW" sz="2700" b="1" dirty="0">
                <a:solidFill>
                  <a:srgbClr val="262833"/>
                </a:solidFill>
                <a:highlight>
                  <a:srgbClr val="FFFFFF"/>
                </a:highlight>
                <a:latin typeface="DFKai-SB"/>
                <a:ea typeface="DFKai-SB"/>
                <a:cs typeface="DFKai-SB"/>
                <a:sym typeface="DFKai-SB"/>
              </a:rPr>
              <a:t>概念層</a:t>
            </a:r>
            <a:endParaRPr lang="en-US" altLang="zh-TW" sz="2700" b="1" dirty="0">
              <a:solidFill>
                <a:srgbClr val="262833"/>
              </a:solidFill>
              <a:highlight>
                <a:srgbClr val="FFFFFF"/>
              </a:highlight>
              <a:latin typeface="DFKai-SB"/>
              <a:ea typeface="DFKai-SB"/>
              <a:cs typeface="DFKai-SB"/>
              <a:sym typeface="DFKai-SB"/>
            </a:endParaRPr>
          </a:p>
          <a:p>
            <a:pPr marL="0" lvl="0" indent="0" algn="l" rtl="0">
              <a:spcBef>
                <a:spcPts val="0"/>
              </a:spcBef>
              <a:spcAft>
                <a:spcPts val="0"/>
              </a:spcAft>
              <a:buNone/>
            </a:pPr>
            <a:r>
              <a:rPr lang="zh-TW" altLang="en-US" sz="2700" b="1" dirty="0">
                <a:solidFill>
                  <a:srgbClr val="262833"/>
                </a:solidFill>
                <a:highlight>
                  <a:srgbClr val="FFFFFF"/>
                </a:highlight>
                <a:latin typeface="DFKai-SB"/>
                <a:ea typeface="DFKai-SB"/>
                <a:cs typeface="DFKai-SB"/>
                <a:sym typeface="DFKai-SB"/>
              </a:rPr>
              <a:t>與舉例說明</a:t>
            </a:r>
            <a:r>
              <a:rPr lang="zh-TW" sz="2700" b="1" dirty="0">
                <a:solidFill>
                  <a:schemeClr val="dk1"/>
                </a:solidFill>
                <a:latin typeface="DFKai-SB"/>
                <a:ea typeface="DFKai-SB"/>
                <a:cs typeface="DFKai-SB"/>
                <a:sym typeface="DFKai-SB"/>
              </a:rPr>
              <a:t> </a:t>
            </a:r>
            <a:endParaRPr sz="2700" b="1" dirty="0">
              <a:solidFill>
                <a:schemeClr val="dk1"/>
              </a:solidFill>
              <a:latin typeface="DFKai-SB"/>
              <a:ea typeface="DFKai-SB"/>
              <a:cs typeface="DFKai-SB"/>
              <a:sym typeface="DFKai-SB"/>
            </a:endParaRPr>
          </a:p>
        </p:txBody>
      </p:sp>
      <p:grpSp>
        <p:nvGrpSpPr>
          <p:cNvPr id="504" name="Google Shape;504;p40"/>
          <p:cNvGrpSpPr/>
          <p:nvPr/>
        </p:nvGrpSpPr>
        <p:grpSpPr>
          <a:xfrm>
            <a:off x="3502220" y="2918232"/>
            <a:ext cx="844541" cy="932257"/>
            <a:chOff x="589141" y="2173776"/>
            <a:chExt cx="1126055" cy="1243010"/>
          </a:xfrm>
        </p:grpSpPr>
        <p:grpSp>
          <p:nvGrpSpPr>
            <p:cNvPr id="505" name="Google Shape;505;p40"/>
            <p:cNvGrpSpPr/>
            <p:nvPr/>
          </p:nvGrpSpPr>
          <p:grpSpPr>
            <a:xfrm>
              <a:off x="589141" y="2173776"/>
              <a:ext cx="1126055" cy="1243010"/>
              <a:chOff x="1950418" y="3368985"/>
              <a:chExt cx="432101" cy="476980"/>
            </a:xfrm>
          </p:grpSpPr>
          <p:sp>
            <p:nvSpPr>
              <p:cNvPr id="506" name="Google Shape;506;p40"/>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07" name="Google Shape;507;p40"/>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08" name="Google Shape;508;p40"/>
            <p:cNvSpPr txBox="1"/>
            <p:nvPr/>
          </p:nvSpPr>
          <p:spPr>
            <a:xfrm>
              <a:off x="907668" y="2220553"/>
              <a:ext cx="6111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100" b="1">
                  <a:solidFill>
                    <a:schemeClr val="lt1"/>
                  </a:solidFill>
                  <a:latin typeface="Microsoft Yahei"/>
                  <a:ea typeface="Microsoft Yahei"/>
                  <a:cs typeface="Microsoft Yahei"/>
                  <a:sym typeface="Microsoft Yahei"/>
                </a:rPr>
                <a:t>6</a:t>
              </a:r>
              <a:endParaRPr sz="4100" b="1">
                <a:solidFill>
                  <a:schemeClr val="lt1"/>
                </a:solidFill>
                <a:latin typeface="Microsoft Yahei"/>
                <a:ea typeface="Microsoft Yahei"/>
                <a:cs typeface="Microsoft Yahei"/>
                <a:sym typeface="Microsoft Yahei"/>
              </a:endParaRPr>
            </a:p>
          </p:txBody>
        </p:sp>
      </p:grpSp>
      <p:sp>
        <p:nvSpPr>
          <p:cNvPr id="509" name="Google Shape;509;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7">
          <a:extLst>
            <a:ext uri="{FF2B5EF4-FFF2-40B4-BE49-F238E27FC236}">
              <a16:creationId xmlns:a16="http://schemas.microsoft.com/office/drawing/2014/main" id="{5D25BA17-39FC-4F4F-9C94-A066A303C1DE}"/>
            </a:ext>
          </a:extLst>
        </p:cNvPr>
        <p:cNvGrpSpPr/>
        <p:nvPr/>
      </p:nvGrpSpPr>
      <p:grpSpPr>
        <a:xfrm>
          <a:off x="0" y="0"/>
          <a:ext cx="0" cy="0"/>
          <a:chOff x="0" y="0"/>
          <a:chExt cx="0" cy="0"/>
        </a:xfrm>
      </p:grpSpPr>
      <p:sp>
        <p:nvSpPr>
          <p:cNvPr id="648" name="Google Shape;648;p54">
            <a:extLst>
              <a:ext uri="{FF2B5EF4-FFF2-40B4-BE49-F238E27FC236}">
                <a16:creationId xmlns:a16="http://schemas.microsoft.com/office/drawing/2014/main" id="{0802CB86-63AF-D692-8AB6-0F9AD362768B}"/>
              </a:ext>
            </a:extLst>
          </p:cNvPr>
          <p:cNvSpPr txBox="1"/>
          <p:nvPr/>
        </p:nvSpPr>
        <p:spPr>
          <a:xfrm>
            <a:off x="4733200" y="1819050"/>
            <a:ext cx="4099500" cy="615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endParaRPr sz="2800">
              <a:latin typeface="DFKai-SB"/>
              <a:ea typeface="DFKai-SB"/>
              <a:cs typeface="DFKai-SB"/>
              <a:sym typeface="DFKai-SB"/>
            </a:endParaRPr>
          </a:p>
        </p:txBody>
      </p:sp>
      <p:grpSp>
        <p:nvGrpSpPr>
          <p:cNvPr id="649" name="Google Shape;649;p54">
            <a:extLst>
              <a:ext uri="{FF2B5EF4-FFF2-40B4-BE49-F238E27FC236}">
                <a16:creationId xmlns:a16="http://schemas.microsoft.com/office/drawing/2014/main" id="{4C657A48-5DB1-54D2-4597-5B6A9E302711}"/>
              </a:ext>
            </a:extLst>
          </p:cNvPr>
          <p:cNvGrpSpPr/>
          <p:nvPr/>
        </p:nvGrpSpPr>
        <p:grpSpPr>
          <a:xfrm>
            <a:off x="382271" y="259655"/>
            <a:ext cx="450310" cy="429099"/>
            <a:chOff x="956666" y="3498086"/>
            <a:chExt cx="600413" cy="572132"/>
          </a:xfrm>
        </p:grpSpPr>
        <p:sp>
          <p:nvSpPr>
            <p:cNvPr id="650" name="Google Shape;650;p54">
              <a:extLst>
                <a:ext uri="{FF2B5EF4-FFF2-40B4-BE49-F238E27FC236}">
                  <a16:creationId xmlns:a16="http://schemas.microsoft.com/office/drawing/2014/main" id="{47603FFC-F2BA-85C7-46CD-3364E9F3929B}"/>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51" name="Google Shape;651;p54">
              <a:extLst>
                <a:ext uri="{FF2B5EF4-FFF2-40B4-BE49-F238E27FC236}">
                  <a16:creationId xmlns:a16="http://schemas.microsoft.com/office/drawing/2014/main" id="{1D787B92-5E82-B8DB-3C6B-11C96E225A46}"/>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52" name="Google Shape;652;p54">
            <a:extLst>
              <a:ext uri="{FF2B5EF4-FFF2-40B4-BE49-F238E27FC236}">
                <a16:creationId xmlns:a16="http://schemas.microsoft.com/office/drawing/2014/main" id="{46F0646E-1B5E-ED3B-79BF-5487E5E69423}"/>
              </a:ext>
            </a:extLst>
          </p:cNvPr>
          <p:cNvSpPr txBox="1"/>
          <p:nvPr/>
        </p:nvSpPr>
        <p:spPr>
          <a:xfrm>
            <a:off x="1042750" y="12685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a:solidFill>
                  <a:schemeClr val="dk1"/>
                </a:solidFill>
                <a:latin typeface="DFKai-SB"/>
                <a:ea typeface="DFKai-SB"/>
                <a:cs typeface="DFKai-SB"/>
                <a:sym typeface="DFKai-SB"/>
              </a:rPr>
              <a:t>情境說明</a:t>
            </a:r>
            <a:endParaRPr sz="2300"/>
          </a:p>
        </p:txBody>
      </p:sp>
      <p:pic>
        <p:nvPicPr>
          <p:cNvPr id="653" name="Google Shape;653;p54">
            <a:extLst>
              <a:ext uri="{FF2B5EF4-FFF2-40B4-BE49-F238E27FC236}">
                <a16:creationId xmlns:a16="http://schemas.microsoft.com/office/drawing/2014/main" id="{42B9CC5C-DF3B-3D89-4B38-C56605136D0F}"/>
              </a:ext>
            </a:extLst>
          </p:cNvPr>
          <p:cNvPicPr preferRelativeResize="0"/>
          <p:nvPr/>
        </p:nvPicPr>
        <p:blipFill>
          <a:blip r:embed="rId3">
            <a:alphaModFix/>
          </a:blip>
          <a:stretch>
            <a:fillRect/>
          </a:stretch>
        </p:blipFill>
        <p:spPr>
          <a:xfrm>
            <a:off x="143600" y="1230828"/>
            <a:ext cx="4428401" cy="2492300"/>
          </a:xfrm>
          <a:prstGeom prst="rect">
            <a:avLst/>
          </a:prstGeom>
          <a:noFill/>
          <a:ln>
            <a:noFill/>
          </a:ln>
          <a:effectLst>
            <a:reflection stA="70000" endPos="10000" fadeDir="5400012" sy="-100000" algn="bl" rotWithShape="0"/>
          </a:effectLst>
        </p:spPr>
      </p:pic>
      <p:sp>
        <p:nvSpPr>
          <p:cNvPr id="654" name="Google Shape;654;p54">
            <a:extLst>
              <a:ext uri="{FF2B5EF4-FFF2-40B4-BE49-F238E27FC236}">
                <a16:creationId xmlns:a16="http://schemas.microsoft.com/office/drawing/2014/main" id="{2AFDC534-F002-AD01-DBD2-035DB61127D2}"/>
              </a:ext>
            </a:extLst>
          </p:cNvPr>
          <p:cNvSpPr/>
          <p:nvPr/>
        </p:nvSpPr>
        <p:spPr>
          <a:xfrm>
            <a:off x="4571988" y="977038"/>
            <a:ext cx="5094468" cy="3766716"/>
          </a:xfrm>
          <a:prstGeom prst="cloud">
            <a:avLst/>
          </a:prstGeom>
          <a:solidFill>
            <a:srgbClr val="55C0AF">
              <a:alpha val="52939"/>
            </a:srgbClr>
          </a:solidFill>
          <a:ln w="9525" cap="flat" cmpd="sng">
            <a:solidFill>
              <a:srgbClr val="55C0A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zh-TW" sz="2100">
                <a:solidFill>
                  <a:srgbClr val="333333"/>
                </a:solidFill>
                <a:latin typeface="DFKai-SB"/>
                <a:ea typeface="DFKai-SB"/>
                <a:cs typeface="DFKai-SB"/>
                <a:sym typeface="DFKai-SB"/>
              </a:rPr>
              <a:t>管理員張小明</a:t>
            </a:r>
            <a:endParaRPr sz="2100">
              <a:solidFill>
                <a:srgbClr val="333333"/>
              </a:solidFill>
              <a:latin typeface="DFKai-SB"/>
              <a:ea typeface="DFKai-SB"/>
              <a:cs typeface="DFKai-SB"/>
              <a:sym typeface="DFKai-SB"/>
            </a:endParaRPr>
          </a:p>
          <a:p>
            <a:pPr marL="0" lvl="0" indent="0" algn="ctr" rtl="0">
              <a:lnSpc>
                <a:spcPct val="100000"/>
              </a:lnSpc>
              <a:spcBef>
                <a:spcPts val="0"/>
              </a:spcBef>
              <a:spcAft>
                <a:spcPts val="0"/>
              </a:spcAft>
              <a:buNone/>
            </a:pPr>
            <a:r>
              <a:rPr lang="zh-TW" sz="2100">
                <a:solidFill>
                  <a:srgbClr val="333333"/>
                </a:solidFill>
                <a:latin typeface="DFKai-SB"/>
                <a:ea typeface="DFKai-SB"/>
                <a:cs typeface="DFKai-SB"/>
                <a:sym typeface="DFKai-SB"/>
              </a:rPr>
              <a:t>審核了教師王老師借用</a:t>
            </a:r>
            <a:endParaRPr sz="2100">
              <a:solidFill>
                <a:srgbClr val="333333"/>
              </a:solidFill>
              <a:latin typeface="DFKai-SB"/>
              <a:ea typeface="DFKai-SB"/>
              <a:cs typeface="DFKai-SB"/>
              <a:sym typeface="DFKai-SB"/>
            </a:endParaRPr>
          </a:p>
          <a:p>
            <a:pPr marL="0" lvl="0" indent="0" algn="ctr" rtl="0">
              <a:lnSpc>
                <a:spcPct val="100000"/>
              </a:lnSpc>
              <a:spcBef>
                <a:spcPts val="0"/>
              </a:spcBef>
              <a:spcAft>
                <a:spcPts val="0"/>
              </a:spcAft>
              <a:buNone/>
            </a:pPr>
            <a:r>
              <a:rPr lang="zh-TW" sz="2100">
                <a:solidFill>
                  <a:srgbClr val="333333"/>
                </a:solidFill>
                <a:latin typeface="DFKai-SB"/>
                <a:ea typeface="DFKai-SB"/>
                <a:cs typeface="DFKai-SB"/>
                <a:sym typeface="DFKai-SB"/>
              </a:rPr>
              <a:t> BGC0614 教室的申請</a:t>
            </a:r>
            <a:endParaRPr sz="2100">
              <a:solidFill>
                <a:srgbClr val="333333"/>
              </a:solidFill>
              <a:latin typeface="DFKai-SB"/>
              <a:ea typeface="DFKai-SB"/>
              <a:cs typeface="DFKai-SB"/>
              <a:sym typeface="DFKai-SB"/>
            </a:endParaRPr>
          </a:p>
          <a:p>
            <a:pPr marL="0" lvl="0" indent="0" algn="ctr" rtl="0">
              <a:lnSpc>
                <a:spcPct val="100000"/>
              </a:lnSpc>
              <a:spcBef>
                <a:spcPts val="0"/>
              </a:spcBef>
              <a:spcAft>
                <a:spcPts val="0"/>
              </a:spcAft>
              <a:buNone/>
            </a:pPr>
            <a:r>
              <a:rPr lang="zh-TW" sz="2100">
                <a:solidFill>
                  <a:srgbClr val="333333"/>
                </a:solidFill>
                <a:latin typeface="DFKai-SB"/>
                <a:ea typeface="DFKai-SB"/>
                <a:cs typeface="DFKai-SB"/>
                <a:sym typeface="DFKai-SB"/>
              </a:rPr>
              <a:t>，並核准通過。</a:t>
            </a:r>
            <a:endParaRPr sz="2100">
              <a:solidFill>
                <a:srgbClr val="333333"/>
              </a:solidFill>
              <a:latin typeface="DFKai-SB"/>
              <a:ea typeface="DFKai-SB"/>
              <a:cs typeface="DFKai-SB"/>
              <a:sym typeface="DFKai-SB"/>
            </a:endParaRPr>
          </a:p>
          <a:p>
            <a:pPr marL="0" lvl="0" indent="0" algn="ctr" rtl="0">
              <a:lnSpc>
                <a:spcPct val="100000"/>
              </a:lnSpc>
              <a:spcBef>
                <a:spcPts val="0"/>
              </a:spcBef>
              <a:spcAft>
                <a:spcPts val="0"/>
              </a:spcAft>
              <a:buNone/>
            </a:pPr>
            <a:r>
              <a:rPr lang="zh-TW" sz="2100">
                <a:solidFill>
                  <a:srgbClr val="333333"/>
                </a:solidFill>
                <a:latin typeface="DFKai-SB"/>
                <a:ea typeface="DFKai-SB"/>
                <a:cs typeface="DFKai-SB"/>
                <a:sym typeface="DFKai-SB"/>
              </a:rPr>
              <a:t>另有一筆學生申請遭拒絕</a:t>
            </a:r>
            <a:endParaRPr sz="2100">
              <a:solidFill>
                <a:srgbClr val="333333"/>
              </a:solidFill>
              <a:latin typeface="DFKai-SB"/>
              <a:ea typeface="DFKai-SB"/>
              <a:cs typeface="DFKai-SB"/>
              <a:sym typeface="DFKai-SB"/>
            </a:endParaRPr>
          </a:p>
          <a:p>
            <a:pPr marL="0" lvl="0" indent="0" algn="ctr" rtl="0">
              <a:lnSpc>
                <a:spcPct val="100000"/>
              </a:lnSpc>
              <a:spcBef>
                <a:spcPts val="0"/>
              </a:spcBef>
              <a:spcAft>
                <a:spcPts val="0"/>
              </a:spcAft>
              <a:buClr>
                <a:schemeClr val="dk1"/>
              </a:buClr>
              <a:buSzPts val="1100"/>
              <a:buFont typeface="Arial"/>
              <a:buNone/>
            </a:pPr>
            <a:r>
              <a:rPr lang="zh-TW" sz="2100">
                <a:solidFill>
                  <a:srgbClr val="333333"/>
                </a:solidFill>
                <a:latin typeface="DFKai-SB"/>
                <a:ea typeface="DFKai-SB"/>
                <a:cs typeface="DFKai-SB"/>
                <a:sym typeface="DFKai-SB"/>
              </a:rPr>
              <a:t>，附上拒絕原因。</a:t>
            </a:r>
            <a:endParaRPr sz="2100">
              <a:latin typeface="DFKai-SB"/>
              <a:ea typeface="DFKai-SB"/>
              <a:cs typeface="DFKai-SB"/>
              <a:sym typeface="DFKai-SB"/>
            </a:endParaRPr>
          </a:p>
        </p:txBody>
      </p:sp>
      <p:sp>
        <p:nvSpPr>
          <p:cNvPr id="655" name="Google Shape;655;p54">
            <a:extLst>
              <a:ext uri="{FF2B5EF4-FFF2-40B4-BE49-F238E27FC236}">
                <a16:creationId xmlns:a16="http://schemas.microsoft.com/office/drawing/2014/main" id="{5D466994-F051-E902-35DA-2AF766490760}"/>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29</a:t>
            </a:fld>
            <a:endParaRPr/>
          </a:p>
        </p:txBody>
      </p:sp>
    </p:spTree>
    <p:extLst>
      <p:ext uri="{BB962C8B-B14F-4D97-AF65-F5344CB8AC3E}">
        <p14:creationId xmlns:p14="http://schemas.microsoft.com/office/powerpoint/2010/main" val="755483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graphicFrame>
        <p:nvGraphicFramePr>
          <p:cNvPr id="514" name="Google Shape;514;p41"/>
          <p:cNvGraphicFramePr/>
          <p:nvPr/>
        </p:nvGraphicFramePr>
        <p:xfrm>
          <a:off x="500075" y="1903200"/>
          <a:ext cx="7915425" cy="1828650"/>
        </p:xfrm>
        <a:graphic>
          <a:graphicData uri="http://schemas.openxmlformats.org/drawingml/2006/table">
            <a:tbl>
              <a:tblPr>
                <a:noFill/>
                <a:tableStyleId>{AC306F20-B5FA-46C3-8F7C-962CBD427640}</a:tableStyleId>
              </a:tblPr>
              <a:tblGrid>
                <a:gridCol w="1410075">
                  <a:extLst>
                    <a:ext uri="{9D8B030D-6E8A-4147-A177-3AD203B41FA5}">
                      <a16:colId xmlns:a16="http://schemas.microsoft.com/office/drawing/2014/main" val="20000"/>
                    </a:ext>
                  </a:extLst>
                </a:gridCol>
                <a:gridCol w="1178925">
                  <a:extLst>
                    <a:ext uri="{9D8B030D-6E8A-4147-A177-3AD203B41FA5}">
                      <a16:colId xmlns:a16="http://schemas.microsoft.com/office/drawing/2014/main" val="20001"/>
                    </a:ext>
                  </a:extLst>
                </a:gridCol>
                <a:gridCol w="1053250">
                  <a:extLst>
                    <a:ext uri="{9D8B030D-6E8A-4147-A177-3AD203B41FA5}">
                      <a16:colId xmlns:a16="http://schemas.microsoft.com/office/drawing/2014/main" val="20002"/>
                    </a:ext>
                  </a:extLst>
                </a:gridCol>
                <a:gridCol w="1054500">
                  <a:extLst>
                    <a:ext uri="{9D8B030D-6E8A-4147-A177-3AD203B41FA5}">
                      <a16:colId xmlns:a16="http://schemas.microsoft.com/office/drawing/2014/main" val="20003"/>
                    </a:ext>
                  </a:extLst>
                </a:gridCol>
                <a:gridCol w="1022325">
                  <a:extLst>
                    <a:ext uri="{9D8B030D-6E8A-4147-A177-3AD203B41FA5}">
                      <a16:colId xmlns:a16="http://schemas.microsoft.com/office/drawing/2014/main" val="20004"/>
                    </a:ext>
                  </a:extLst>
                </a:gridCol>
                <a:gridCol w="2196350">
                  <a:extLst>
                    <a:ext uri="{9D8B030D-6E8A-4147-A177-3AD203B41FA5}">
                      <a16:colId xmlns:a16="http://schemas.microsoft.com/office/drawing/2014/main" val="20005"/>
                    </a:ext>
                  </a:extLst>
                </a:gridCol>
              </a:tblGrid>
              <a:tr h="0">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欄位名稱</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說明</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資料型態</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是否可為空</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預設值</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其他說明</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user_id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使用者識別碼</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VARCHAR(15)</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主鍵；S/T/A + 數字編號</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name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姓名</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VARCHAR(50)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使用者姓名</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phone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聯絡電話</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09開頭10位數字</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role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使用者角色</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CHAR(1)</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15" name="Google Shape;515;p41"/>
          <p:cNvSpPr txBox="1"/>
          <p:nvPr/>
        </p:nvSpPr>
        <p:spPr>
          <a:xfrm>
            <a:off x="914400" y="2279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zh-TW" sz="2300" b="1">
                <a:solidFill>
                  <a:schemeClr val="dk1"/>
                </a:solidFill>
                <a:latin typeface="DFKai-SB"/>
                <a:ea typeface="DFKai-SB"/>
                <a:cs typeface="DFKai-SB"/>
                <a:sym typeface="DFKai-SB"/>
              </a:rPr>
              <a:t>User（使用者）</a:t>
            </a:r>
            <a:endParaRPr sz="2300">
              <a:solidFill>
                <a:schemeClr val="dk1"/>
              </a:solidFill>
              <a:latin typeface="DFKai-SB"/>
              <a:ea typeface="DFKai-SB"/>
              <a:cs typeface="DFKai-SB"/>
              <a:sym typeface="DFKai-SB"/>
            </a:endParaRPr>
          </a:p>
        </p:txBody>
      </p:sp>
      <p:grpSp>
        <p:nvGrpSpPr>
          <p:cNvPr id="516" name="Google Shape;516;p41"/>
          <p:cNvGrpSpPr/>
          <p:nvPr/>
        </p:nvGrpSpPr>
        <p:grpSpPr>
          <a:xfrm>
            <a:off x="382271" y="259655"/>
            <a:ext cx="450310" cy="429099"/>
            <a:chOff x="956666" y="3498086"/>
            <a:chExt cx="600413" cy="572132"/>
          </a:xfrm>
        </p:grpSpPr>
        <p:sp>
          <p:nvSpPr>
            <p:cNvPr id="517" name="Google Shape;517;p41"/>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18" name="Google Shape;518;p41"/>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19" name="Google Shape;519;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42"/>
          <p:cNvSpPr txBox="1"/>
          <p:nvPr/>
        </p:nvSpPr>
        <p:spPr>
          <a:xfrm>
            <a:off x="604125" y="880225"/>
            <a:ext cx="7810200" cy="37734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zh-TW" sz="1600" b="1">
                <a:solidFill>
                  <a:srgbClr val="0000FF"/>
                </a:solidFill>
                <a:highlight>
                  <a:srgbClr val="FFFFFF"/>
                </a:highlight>
                <a:latin typeface="DFKai-SB"/>
                <a:ea typeface="DFKai-SB"/>
                <a:cs typeface="DFKai-SB"/>
                <a:sym typeface="DFKai-SB"/>
              </a:rPr>
              <a:t>CREATE</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TABLE</a:t>
            </a:r>
            <a:r>
              <a:rPr lang="zh-TW" sz="1600" b="1">
                <a:solidFill>
                  <a:schemeClr val="dk1"/>
                </a:solidFill>
                <a:highlight>
                  <a:srgbClr val="FFFFFF"/>
                </a:highlight>
                <a:latin typeface="DFKai-SB"/>
                <a:ea typeface="DFKai-SB"/>
                <a:cs typeface="DFKai-SB"/>
                <a:sym typeface="DFKai-SB"/>
              </a:rPr>
              <a:t> </a:t>
            </a:r>
            <a:r>
              <a:rPr lang="zh-TW" sz="1600" b="1">
                <a:solidFill>
                  <a:srgbClr val="795E26"/>
                </a:solidFill>
                <a:highlight>
                  <a:srgbClr val="FFFFFF"/>
                </a:highlight>
                <a:latin typeface="DFKai-SB"/>
                <a:ea typeface="DFKai-SB"/>
                <a:cs typeface="DFKai-SB"/>
                <a:sym typeface="DFKai-SB"/>
              </a:rPr>
              <a:t>User</a:t>
            </a:r>
            <a:r>
              <a:rPr lang="zh-TW" sz="1600" b="1">
                <a:solidFill>
                  <a:schemeClr val="dk1"/>
                </a:solidFill>
                <a:highlight>
                  <a:srgbClr val="FFFFFF"/>
                </a:highlight>
                <a:latin typeface="DFKai-SB"/>
                <a:ea typeface="DFKai-SB"/>
                <a:cs typeface="DFKai-SB"/>
                <a:sym typeface="DFKai-SB"/>
              </a:rPr>
              <a:t> (</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user_id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15</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name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50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phone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10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role    </a:t>
            </a:r>
            <a:r>
              <a:rPr lang="zh-TW" sz="1600" b="1">
                <a:solidFill>
                  <a:srgbClr val="0000FF"/>
                </a:solidFill>
                <a:highlight>
                  <a:srgbClr val="FFFFFF"/>
                </a:highlight>
                <a:latin typeface="DFKai-SB"/>
                <a:ea typeface="DFKai-SB"/>
                <a:cs typeface="DFKai-SB"/>
                <a:sym typeface="DFKai-SB"/>
              </a:rPr>
              <a:t>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1</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PRIMARY KEY</a:t>
            </a:r>
            <a:r>
              <a:rPr lang="zh-TW" sz="1600" b="1">
                <a:solidFill>
                  <a:schemeClr val="dk1"/>
                </a:solidFill>
                <a:highlight>
                  <a:srgbClr val="FFFFFF"/>
                </a:highlight>
                <a:latin typeface="DFKai-SB"/>
                <a:ea typeface="DFKai-SB"/>
                <a:cs typeface="DFKai-SB"/>
                <a:sym typeface="DFKai-SB"/>
              </a:rPr>
              <a:t> (user_id),</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CHECK</a:t>
            </a:r>
            <a:r>
              <a:rPr lang="zh-TW" sz="1600" b="1">
                <a:solidFill>
                  <a:schemeClr val="dk1"/>
                </a:solidFill>
                <a:highlight>
                  <a:srgbClr val="FFFFFF"/>
                </a:highlight>
                <a:latin typeface="DFKai-SB"/>
                <a:ea typeface="DFKai-SB"/>
                <a:cs typeface="DFKai-SB"/>
                <a:sym typeface="DFKai-SB"/>
              </a:rPr>
              <a:t> (user_id REGEXP </a:t>
            </a:r>
            <a:r>
              <a:rPr lang="zh-TW" sz="1600" b="1">
                <a:solidFill>
                  <a:srgbClr val="A31515"/>
                </a:solidFill>
                <a:highlight>
                  <a:srgbClr val="FFFFFF"/>
                </a:highlight>
                <a:latin typeface="DFKai-SB"/>
                <a:ea typeface="DFKai-SB"/>
                <a:cs typeface="DFKai-SB"/>
                <a:sym typeface="DFKai-SB"/>
              </a:rPr>
              <a:t>'^[STA][0-9]+$'</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CHECK</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role</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IN</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'S'</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'T'</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'A'</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CHECK</a:t>
            </a:r>
            <a:r>
              <a:rPr lang="zh-TW" sz="1600" b="1">
                <a:solidFill>
                  <a:schemeClr val="dk1"/>
                </a:solidFill>
                <a:highlight>
                  <a:srgbClr val="FFFFFF"/>
                </a:highlight>
                <a:latin typeface="DFKai-SB"/>
                <a:ea typeface="DFKai-SB"/>
                <a:cs typeface="DFKai-SB"/>
                <a:sym typeface="DFKai-SB"/>
              </a:rPr>
              <a:t> (phone </a:t>
            </a:r>
            <a:r>
              <a:rPr lang="zh-TW" sz="1600" b="1">
                <a:solidFill>
                  <a:srgbClr val="0000FF"/>
                </a:solidFill>
                <a:highlight>
                  <a:srgbClr val="FFFFFF"/>
                </a:highlight>
                <a:latin typeface="DFKai-SB"/>
                <a:ea typeface="DFKai-SB"/>
                <a:cs typeface="DFKai-SB"/>
                <a:sym typeface="DFKai-SB"/>
              </a:rPr>
              <a:t>IS</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NULL</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OR</a:t>
            </a:r>
            <a:r>
              <a:rPr lang="zh-TW" sz="1600" b="1">
                <a:solidFill>
                  <a:schemeClr val="dk1"/>
                </a:solidFill>
                <a:highlight>
                  <a:srgbClr val="FFFFFF"/>
                </a:highlight>
                <a:latin typeface="DFKai-SB"/>
                <a:ea typeface="DFKai-SB"/>
                <a:cs typeface="DFKai-SB"/>
                <a:sym typeface="DFKai-SB"/>
              </a:rPr>
              <a:t> phone REGEXP </a:t>
            </a:r>
            <a:r>
              <a:rPr lang="zh-TW" sz="1600" b="1">
                <a:solidFill>
                  <a:srgbClr val="A31515"/>
                </a:solidFill>
                <a:highlight>
                  <a:srgbClr val="FFFFFF"/>
                </a:highlight>
                <a:latin typeface="DFKai-SB"/>
                <a:ea typeface="DFKai-SB"/>
                <a:cs typeface="DFKai-SB"/>
                <a:sym typeface="DFKai-SB"/>
              </a:rPr>
              <a:t>'^09[0-9]{8}$'</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a:t>
            </a:r>
            <a:endParaRPr sz="1600" b="1">
              <a:solidFill>
                <a:schemeClr val="dk1"/>
              </a:solidFill>
              <a:latin typeface="DFKai-SB"/>
              <a:ea typeface="DFKai-SB"/>
              <a:cs typeface="DFKai-SB"/>
              <a:sym typeface="DFKai-SB"/>
            </a:endParaRPr>
          </a:p>
        </p:txBody>
      </p:sp>
      <p:sp>
        <p:nvSpPr>
          <p:cNvPr id="525" name="Google Shape;525;p42"/>
          <p:cNvSpPr txBox="1"/>
          <p:nvPr/>
        </p:nvSpPr>
        <p:spPr>
          <a:xfrm>
            <a:off x="882325" y="243350"/>
            <a:ext cx="37395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Clr>
                <a:schemeClr val="dk1"/>
              </a:buClr>
              <a:buSzPts val="1100"/>
              <a:buFont typeface="Arial"/>
              <a:buNone/>
            </a:pPr>
            <a:r>
              <a:rPr lang="zh-TW" sz="2300" b="1">
                <a:solidFill>
                  <a:schemeClr val="dk1"/>
                </a:solidFill>
                <a:latin typeface="DFKai-SB"/>
                <a:ea typeface="DFKai-SB"/>
                <a:cs typeface="DFKai-SB"/>
                <a:sym typeface="DFKai-SB"/>
              </a:rPr>
              <a:t>User（使用者）</a:t>
            </a:r>
            <a:endParaRPr sz="2300" b="1">
              <a:latin typeface="DFKai-SB"/>
              <a:ea typeface="DFKai-SB"/>
              <a:cs typeface="DFKai-SB"/>
              <a:sym typeface="DFKai-SB"/>
            </a:endParaRPr>
          </a:p>
        </p:txBody>
      </p:sp>
      <p:grpSp>
        <p:nvGrpSpPr>
          <p:cNvPr id="526" name="Google Shape;526;p42"/>
          <p:cNvGrpSpPr/>
          <p:nvPr/>
        </p:nvGrpSpPr>
        <p:grpSpPr>
          <a:xfrm>
            <a:off x="382271" y="259655"/>
            <a:ext cx="450310" cy="429099"/>
            <a:chOff x="956666" y="3498086"/>
            <a:chExt cx="600413" cy="572132"/>
          </a:xfrm>
        </p:grpSpPr>
        <p:sp>
          <p:nvSpPr>
            <p:cNvPr id="527" name="Google Shape;527;p42"/>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28" name="Google Shape;528;p42"/>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29" name="Google Shape;529;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842CC493-E1E2-EACA-521A-B6EFEECAD441}"/>
            </a:ext>
          </a:extLst>
        </p:cNvPr>
        <p:cNvGrpSpPr/>
        <p:nvPr/>
      </p:nvGrpSpPr>
      <p:grpSpPr>
        <a:xfrm>
          <a:off x="0" y="0"/>
          <a:ext cx="0" cy="0"/>
          <a:chOff x="0" y="0"/>
          <a:chExt cx="0" cy="0"/>
        </a:xfrm>
      </p:grpSpPr>
      <p:sp>
        <p:nvSpPr>
          <p:cNvPr id="660" name="Google Shape;660;p55">
            <a:extLst>
              <a:ext uri="{FF2B5EF4-FFF2-40B4-BE49-F238E27FC236}">
                <a16:creationId xmlns:a16="http://schemas.microsoft.com/office/drawing/2014/main" id="{AE93BFFE-3936-238A-0792-1239F82D17DB}"/>
              </a:ext>
            </a:extLst>
          </p:cNvPr>
          <p:cNvSpPr txBox="1"/>
          <p:nvPr/>
        </p:nvSpPr>
        <p:spPr>
          <a:xfrm>
            <a:off x="882325" y="285075"/>
            <a:ext cx="3739500" cy="763256"/>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Aft>
                <a:spcPts val="1200"/>
              </a:spcAft>
              <a:buClr>
                <a:schemeClr val="dk1"/>
              </a:buClr>
              <a:buSzPts val="1100"/>
              <a:buFont typeface="Arial"/>
              <a:buNone/>
            </a:pPr>
            <a:r>
              <a:rPr lang="zh-TW" sz="2300" b="1" dirty="0">
                <a:solidFill>
                  <a:schemeClr val="dk1"/>
                </a:solidFill>
                <a:latin typeface="DFKai-SB"/>
                <a:ea typeface="DFKai-SB"/>
                <a:cs typeface="DFKai-SB"/>
                <a:sym typeface="DFKai-SB"/>
              </a:rPr>
              <a:t>User 資料範例</a:t>
            </a:r>
            <a:endParaRPr sz="2300" b="1" dirty="0">
              <a:latin typeface="DFKai-SB"/>
              <a:ea typeface="DFKai-SB"/>
              <a:cs typeface="DFKai-SB"/>
              <a:sym typeface="DFKai-SB"/>
            </a:endParaRPr>
          </a:p>
        </p:txBody>
      </p:sp>
      <p:grpSp>
        <p:nvGrpSpPr>
          <p:cNvPr id="661" name="Google Shape;661;p55">
            <a:extLst>
              <a:ext uri="{FF2B5EF4-FFF2-40B4-BE49-F238E27FC236}">
                <a16:creationId xmlns:a16="http://schemas.microsoft.com/office/drawing/2014/main" id="{2B50CEC2-A439-EA17-5748-AA21E1CF70CD}"/>
              </a:ext>
            </a:extLst>
          </p:cNvPr>
          <p:cNvGrpSpPr/>
          <p:nvPr/>
        </p:nvGrpSpPr>
        <p:grpSpPr>
          <a:xfrm>
            <a:off x="382271" y="301380"/>
            <a:ext cx="450310" cy="429099"/>
            <a:chOff x="956666" y="3498086"/>
            <a:chExt cx="600413" cy="572132"/>
          </a:xfrm>
        </p:grpSpPr>
        <p:sp>
          <p:nvSpPr>
            <p:cNvPr id="662" name="Google Shape;662;p55">
              <a:extLst>
                <a:ext uri="{FF2B5EF4-FFF2-40B4-BE49-F238E27FC236}">
                  <a16:creationId xmlns:a16="http://schemas.microsoft.com/office/drawing/2014/main" id="{227D15AC-E3E2-6AAC-053B-1C27EB5EB4C6}"/>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63" name="Google Shape;663;p55">
              <a:extLst>
                <a:ext uri="{FF2B5EF4-FFF2-40B4-BE49-F238E27FC236}">
                  <a16:creationId xmlns:a16="http://schemas.microsoft.com/office/drawing/2014/main" id="{56E29EAF-FB1E-DC31-325C-98C112A9FDA5}"/>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64" name="Google Shape;664;p55">
            <a:extLst>
              <a:ext uri="{FF2B5EF4-FFF2-40B4-BE49-F238E27FC236}">
                <a16:creationId xmlns:a16="http://schemas.microsoft.com/office/drawing/2014/main" id="{2B2DCAF1-1C37-9DF7-B076-84F04B60AA48}"/>
              </a:ext>
            </a:extLst>
          </p:cNvPr>
          <p:cNvSpPr txBox="1"/>
          <p:nvPr/>
        </p:nvSpPr>
        <p:spPr>
          <a:xfrm>
            <a:off x="643375" y="816075"/>
            <a:ext cx="8218200" cy="206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1200" b="1">
                <a:solidFill>
                  <a:schemeClr val="dk1"/>
                </a:solidFill>
                <a:latin typeface="Courier New"/>
                <a:ea typeface="Courier New"/>
                <a:cs typeface="Courier New"/>
                <a:sym typeface="Courier New"/>
              </a:rPr>
              <a:t>INSERT INTO User (user_id, name, phone, role) VALUES</a:t>
            </a: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200" b="1">
                <a:solidFill>
                  <a:schemeClr val="dk1"/>
                </a:solidFill>
                <a:latin typeface="Courier New"/>
                <a:ea typeface="Courier New"/>
                <a:cs typeface="Courier New"/>
                <a:sym typeface="Courier New"/>
              </a:rPr>
              <a:t>('A0001', '張小明', '0912345678', 'A'),</a:t>
            </a: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200" b="1">
                <a:solidFill>
                  <a:schemeClr val="dk1"/>
                </a:solidFill>
                <a:latin typeface="Courier New"/>
                <a:ea typeface="Courier New"/>
                <a:cs typeface="Courier New"/>
                <a:sym typeface="Courier New"/>
              </a:rPr>
              <a:t>('T0001', '王老師', '0933111222', 'T'),</a:t>
            </a: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200" b="1">
                <a:solidFill>
                  <a:schemeClr val="dk1"/>
                </a:solidFill>
                <a:latin typeface="Courier New"/>
                <a:ea typeface="Courier New"/>
                <a:cs typeface="Courier New"/>
                <a:sym typeface="Courier New"/>
              </a:rPr>
              <a:t>('T0002', '陳老師', '0922333444', 'T'),</a:t>
            </a: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200" b="1">
                <a:solidFill>
                  <a:schemeClr val="dk1"/>
                </a:solidFill>
                <a:latin typeface="Courier New"/>
                <a:ea typeface="Courier New"/>
                <a:cs typeface="Courier New"/>
                <a:sym typeface="Courier New"/>
              </a:rPr>
              <a:t>('S41243101', '李同學', '0987654321', 'S'),</a:t>
            </a: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200" b="1">
                <a:solidFill>
                  <a:schemeClr val="dk1"/>
                </a:solidFill>
                <a:latin typeface="Courier New"/>
                <a:ea typeface="Courier New"/>
                <a:cs typeface="Courier New"/>
                <a:sym typeface="Courier New"/>
              </a:rPr>
              <a:t>('S41243103', '林同學', '0966123456', 'S'),</a:t>
            </a: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200" b="1">
                <a:solidFill>
                  <a:schemeClr val="dk1"/>
                </a:solidFill>
                <a:latin typeface="Courier New"/>
                <a:ea typeface="Courier New"/>
                <a:cs typeface="Courier New"/>
                <a:sym typeface="Courier New"/>
              </a:rPr>
              <a:t>('S41243107', '潘同學', '0955123456', 'S');</a:t>
            </a: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sz="12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200" b="1">
              <a:solidFill>
                <a:schemeClr val="dk1"/>
              </a:solidFill>
              <a:latin typeface="Courier New"/>
              <a:ea typeface="Courier New"/>
              <a:cs typeface="Courier New"/>
              <a:sym typeface="Courier New"/>
            </a:endParaRPr>
          </a:p>
        </p:txBody>
      </p:sp>
      <p:graphicFrame>
        <p:nvGraphicFramePr>
          <p:cNvPr id="665" name="Google Shape;665;p55">
            <a:extLst>
              <a:ext uri="{FF2B5EF4-FFF2-40B4-BE49-F238E27FC236}">
                <a16:creationId xmlns:a16="http://schemas.microsoft.com/office/drawing/2014/main" id="{7F2C4BDF-E954-49B8-F610-2F3A468CA2B4}"/>
              </a:ext>
            </a:extLst>
          </p:cNvPr>
          <p:cNvGraphicFramePr/>
          <p:nvPr/>
        </p:nvGraphicFramePr>
        <p:xfrm>
          <a:off x="832563" y="2571750"/>
          <a:ext cx="4364875" cy="2194380"/>
        </p:xfrm>
        <a:graphic>
          <a:graphicData uri="http://schemas.openxmlformats.org/drawingml/2006/table">
            <a:tbl>
              <a:tblPr>
                <a:noFill/>
                <a:tableStyleId>{AC306F20-B5FA-46C3-8F7C-962CBD427640}</a:tableStyleId>
              </a:tblPr>
              <a:tblGrid>
                <a:gridCol w="912075">
                  <a:extLst>
                    <a:ext uri="{9D8B030D-6E8A-4147-A177-3AD203B41FA5}">
                      <a16:colId xmlns:a16="http://schemas.microsoft.com/office/drawing/2014/main" val="20000"/>
                    </a:ext>
                  </a:extLst>
                </a:gridCol>
                <a:gridCol w="814350">
                  <a:extLst>
                    <a:ext uri="{9D8B030D-6E8A-4147-A177-3AD203B41FA5}">
                      <a16:colId xmlns:a16="http://schemas.microsoft.com/office/drawing/2014/main" val="20001"/>
                    </a:ext>
                  </a:extLst>
                </a:gridCol>
                <a:gridCol w="1259500">
                  <a:extLst>
                    <a:ext uri="{9D8B030D-6E8A-4147-A177-3AD203B41FA5}">
                      <a16:colId xmlns:a16="http://schemas.microsoft.com/office/drawing/2014/main" val="20002"/>
                    </a:ext>
                  </a:extLst>
                </a:gridCol>
                <a:gridCol w="1378950">
                  <a:extLst>
                    <a:ext uri="{9D8B030D-6E8A-4147-A177-3AD203B41FA5}">
                      <a16:colId xmlns:a16="http://schemas.microsoft.com/office/drawing/2014/main" val="20003"/>
                    </a:ext>
                  </a:extLst>
                </a:gridCol>
              </a:tblGrid>
              <a:tr h="295275">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user_id</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name</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phone</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role</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34290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A0001</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張小明</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0912345678</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T0001</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王老師</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0933111222</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T0002</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陳老師</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0922333444</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S41243101</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李同學</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0987654321</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S41243103</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林同學</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0966123456</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666" name="Google Shape;666;p55">
            <a:extLst>
              <a:ext uri="{FF2B5EF4-FFF2-40B4-BE49-F238E27FC236}">
                <a16:creationId xmlns:a16="http://schemas.microsoft.com/office/drawing/2014/main" id="{099F1070-5EB1-09A7-7735-D82460248CE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32</a:t>
            </a:fld>
            <a:endParaRPr/>
          </a:p>
        </p:txBody>
      </p:sp>
    </p:spTree>
    <p:extLst>
      <p:ext uri="{BB962C8B-B14F-4D97-AF65-F5344CB8AC3E}">
        <p14:creationId xmlns:p14="http://schemas.microsoft.com/office/powerpoint/2010/main" val="3185255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graphicFrame>
        <p:nvGraphicFramePr>
          <p:cNvPr id="534" name="Google Shape;534;p43"/>
          <p:cNvGraphicFramePr/>
          <p:nvPr/>
        </p:nvGraphicFramePr>
        <p:xfrm>
          <a:off x="236588" y="1766625"/>
          <a:ext cx="8670825" cy="2560140"/>
        </p:xfrm>
        <a:graphic>
          <a:graphicData uri="http://schemas.openxmlformats.org/drawingml/2006/table">
            <a:tbl>
              <a:tblPr>
                <a:noFill/>
                <a:tableStyleId>{AC306F20-B5FA-46C3-8F7C-962CBD427640}</a:tableStyleId>
              </a:tblPr>
              <a:tblGrid>
                <a:gridCol w="1105075">
                  <a:extLst>
                    <a:ext uri="{9D8B030D-6E8A-4147-A177-3AD203B41FA5}">
                      <a16:colId xmlns:a16="http://schemas.microsoft.com/office/drawing/2014/main" val="20000"/>
                    </a:ext>
                  </a:extLst>
                </a:gridCol>
                <a:gridCol w="1166750">
                  <a:extLst>
                    <a:ext uri="{9D8B030D-6E8A-4147-A177-3AD203B41FA5}">
                      <a16:colId xmlns:a16="http://schemas.microsoft.com/office/drawing/2014/main" val="20001"/>
                    </a:ext>
                  </a:extLst>
                </a:gridCol>
                <a:gridCol w="1467075">
                  <a:extLst>
                    <a:ext uri="{9D8B030D-6E8A-4147-A177-3AD203B41FA5}">
                      <a16:colId xmlns:a16="http://schemas.microsoft.com/office/drawing/2014/main" val="20002"/>
                    </a:ext>
                  </a:extLst>
                </a:gridCol>
                <a:gridCol w="804550">
                  <a:extLst>
                    <a:ext uri="{9D8B030D-6E8A-4147-A177-3AD203B41FA5}">
                      <a16:colId xmlns:a16="http://schemas.microsoft.com/office/drawing/2014/main" val="20003"/>
                    </a:ext>
                  </a:extLst>
                </a:gridCol>
                <a:gridCol w="1079775">
                  <a:extLst>
                    <a:ext uri="{9D8B030D-6E8A-4147-A177-3AD203B41FA5}">
                      <a16:colId xmlns:a16="http://schemas.microsoft.com/office/drawing/2014/main" val="20004"/>
                    </a:ext>
                  </a:extLst>
                </a:gridCol>
                <a:gridCol w="3047600">
                  <a:extLst>
                    <a:ext uri="{9D8B030D-6E8A-4147-A177-3AD203B41FA5}">
                      <a16:colId xmlns:a16="http://schemas.microsoft.com/office/drawing/2014/main" val="20005"/>
                    </a:ext>
                  </a:extLst>
                </a:gridCol>
              </a:tblGrid>
              <a:tr h="0">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欄位名稱</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說明</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資料</a:t>
                      </a:r>
                      <a:endParaRPr sz="1200" b="1">
                        <a:latin typeface="DFKai-SB"/>
                        <a:ea typeface="DFKai-SB"/>
                        <a:cs typeface="DFKai-SB"/>
                        <a:sym typeface="DFKai-SB"/>
                      </a:endParaRPr>
                    </a:p>
                    <a:p>
                      <a:pPr marL="0" lvl="0" indent="0" algn="l" rtl="0">
                        <a:lnSpc>
                          <a:spcPct val="100000"/>
                        </a:lnSpc>
                        <a:spcBef>
                          <a:spcPts val="0"/>
                        </a:spcBef>
                        <a:spcAft>
                          <a:spcPts val="0"/>
                        </a:spcAft>
                        <a:buNone/>
                      </a:pPr>
                      <a:r>
                        <a:rPr lang="zh-TW" sz="1200" b="1">
                          <a:latin typeface="DFKai-SB"/>
                          <a:ea typeface="DFKai-SB"/>
                          <a:cs typeface="DFKai-SB"/>
                          <a:sym typeface="DFKai-SB"/>
                        </a:rPr>
                        <a:t>型態</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是否</a:t>
                      </a:r>
                      <a:endParaRPr sz="1200" b="1">
                        <a:latin typeface="DFKai-SB"/>
                        <a:ea typeface="DFKai-SB"/>
                        <a:cs typeface="DFKai-SB"/>
                        <a:sym typeface="DFKai-SB"/>
                      </a:endParaRPr>
                    </a:p>
                    <a:p>
                      <a:pPr marL="0" lvl="0" indent="0" algn="l" rtl="0">
                        <a:lnSpc>
                          <a:spcPct val="100000"/>
                        </a:lnSpc>
                        <a:spcBef>
                          <a:spcPts val="0"/>
                        </a:spcBef>
                        <a:spcAft>
                          <a:spcPts val="0"/>
                        </a:spcAft>
                        <a:buNone/>
                      </a:pPr>
                      <a:r>
                        <a:rPr lang="zh-TW" sz="1200" b="1">
                          <a:latin typeface="DFKai-SB"/>
                          <a:ea typeface="DFKai-SB"/>
                          <a:cs typeface="DFKai-SB"/>
                          <a:sym typeface="DFKai-SB"/>
                        </a:rPr>
                        <a:t>可為空</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預設值</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latin typeface="DFKai-SB"/>
                          <a:ea typeface="DFKai-SB"/>
                          <a:cs typeface="DFKai-SB"/>
                          <a:sym typeface="DFKai-SB"/>
                        </a:rPr>
                        <a:t>其他說明</a:t>
                      </a:r>
                      <a:endParaRPr sz="1200" b="1">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room_id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教室代碼</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主鍵，唯一</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room_name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教室名稱</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VARCHAR(20)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唯一，完整教室名稱</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location</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位置</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VARCHAR(50)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例如 綜三館6F</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capacity</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可容人數</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INT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1 ≤ capacity ≤ 100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4"/>
                  </a:ext>
                </a:extLst>
              </a:tr>
              <a:tr h="21062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status</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教室狀態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VARCHAR(20)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Available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Available / UnderMaintenance / Disabled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35" name="Google Shape;535;p43"/>
          <p:cNvSpPr txBox="1"/>
          <p:nvPr/>
        </p:nvSpPr>
        <p:spPr>
          <a:xfrm>
            <a:off x="914400" y="2279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Clr>
                <a:schemeClr val="dk1"/>
              </a:buClr>
              <a:buSzPts val="1100"/>
              <a:buFont typeface="Arial"/>
              <a:buNone/>
            </a:pPr>
            <a:r>
              <a:rPr lang="zh-TW" sz="2300" b="1">
                <a:solidFill>
                  <a:schemeClr val="dk1"/>
                </a:solidFill>
                <a:latin typeface="DFKai-SB"/>
                <a:ea typeface="DFKai-SB"/>
                <a:cs typeface="DFKai-SB"/>
                <a:sym typeface="DFKai-SB"/>
              </a:rPr>
              <a:t>Room（教室）</a:t>
            </a:r>
            <a:endParaRPr sz="2300">
              <a:solidFill>
                <a:schemeClr val="dk1"/>
              </a:solidFill>
              <a:latin typeface="DFKai-SB"/>
              <a:ea typeface="DFKai-SB"/>
              <a:cs typeface="DFKai-SB"/>
              <a:sym typeface="DFKai-SB"/>
            </a:endParaRPr>
          </a:p>
        </p:txBody>
      </p:sp>
      <p:grpSp>
        <p:nvGrpSpPr>
          <p:cNvPr id="536" name="Google Shape;536;p43"/>
          <p:cNvGrpSpPr/>
          <p:nvPr/>
        </p:nvGrpSpPr>
        <p:grpSpPr>
          <a:xfrm>
            <a:off x="382271" y="259655"/>
            <a:ext cx="450310" cy="429099"/>
            <a:chOff x="956666" y="3498086"/>
            <a:chExt cx="600413" cy="572132"/>
          </a:xfrm>
        </p:grpSpPr>
        <p:sp>
          <p:nvSpPr>
            <p:cNvPr id="537" name="Google Shape;537;p43"/>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38" name="Google Shape;538;p43"/>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39" name="Google Shape;539;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4"/>
          <p:cNvSpPr txBox="1"/>
          <p:nvPr/>
        </p:nvSpPr>
        <p:spPr>
          <a:xfrm>
            <a:off x="561475" y="1193150"/>
            <a:ext cx="7810200" cy="41691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zh-TW" sz="1600" b="1">
                <a:solidFill>
                  <a:srgbClr val="0000FF"/>
                </a:solidFill>
                <a:highlight>
                  <a:srgbClr val="FFFFFF"/>
                </a:highlight>
                <a:latin typeface="DFKai-SB"/>
                <a:ea typeface="DFKai-SB"/>
                <a:cs typeface="DFKai-SB"/>
                <a:sym typeface="DFKai-SB"/>
              </a:rPr>
              <a:t>CREATE</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TABLE</a:t>
            </a:r>
            <a:r>
              <a:rPr lang="zh-TW" sz="1600" b="1">
                <a:solidFill>
                  <a:schemeClr val="dk1"/>
                </a:solidFill>
                <a:highlight>
                  <a:srgbClr val="FFFFFF"/>
                </a:highlight>
                <a:latin typeface="DFKai-SB"/>
                <a:ea typeface="DFKai-SB"/>
                <a:cs typeface="DFKai-SB"/>
                <a:sym typeface="DFKai-SB"/>
              </a:rPr>
              <a:t> </a:t>
            </a:r>
            <a:r>
              <a:rPr lang="zh-TW" sz="1600" b="1">
                <a:solidFill>
                  <a:srgbClr val="795E26"/>
                </a:solidFill>
                <a:highlight>
                  <a:srgbClr val="FFFFFF"/>
                </a:highlight>
                <a:latin typeface="DFKai-SB"/>
                <a:ea typeface="DFKai-SB"/>
                <a:cs typeface="DFKai-SB"/>
                <a:sym typeface="DFKai-SB"/>
              </a:rPr>
              <a:t>Room</a:t>
            </a:r>
            <a:r>
              <a:rPr lang="zh-TW" sz="1600" b="1">
                <a:solidFill>
                  <a:schemeClr val="dk1"/>
                </a:solidFill>
                <a:highlight>
                  <a:srgbClr val="FFFFFF"/>
                </a:highlight>
                <a:latin typeface="DFKai-SB"/>
                <a:ea typeface="DFKai-SB"/>
                <a:cs typeface="DFKai-SB"/>
                <a:sym typeface="DFKai-SB"/>
              </a:rPr>
              <a:t> (</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room_id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10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room_name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20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location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50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capacity  </a:t>
            </a:r>
            <a:r>
              <a:rPr lang="zh-TW" sz="1600" b="1">
                <a:solidFill>
                  <a:srgbClr val="0000FF"/>
                </a:solidFill>
                <a:highlight>
                  <a:srgbClr val="FFFFFF"/>
                </a:highlight>
                <a:latin typeface="DFKai-SB"/>
                <a:ea typeface="DFKai-SB"/>
                <a:cs typeface="DFKai-SB"/>
                <a:sym typeface="DFKai-SB"/>
              </a:rPr>
              <a:t>INT</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status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20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DEFAULT</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'Available'</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PRIMARY KEY</a:t>
            </a:r>
            <a:r>
              <a:rPr lang="zh-TW" sz="1600" b="1">
                <a:solidFill>
                  <a:schemeClr val="dk1"/>
                </a:solidFill>
                <a:highlight>
                  <a:srgbClr val="FFFFFF"/>
                </a:highlight>
                <a:latin typeface="DFKai-SB"/>
                <a:ea typeface="DFKai-SB"/>
                <a:cs typeface="DFKai-SB"/>
                <a:sym typeface="DFKai-SB"/>
              </a:rPr>
              <a:t> (room_id),</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CHECK</a:t>
            </a:r>
            <a:r>
              <a:rPr lang="zh-TW" sz="1600" b="1">
                <a:solidFill>
                  <a:schemeClr val="dk1"/>
                </a:solidFill>
                <a:highlight>
                  <a:srgbClr val="FFFFFF"/>
                </a:highlight>
                <a:latin typeface="DFKai-SB"/>
                <a:ea typeface="DFKai-SB"/>
                <a:cs typeface="DFKai-SB"/>
                <a:sym typeface="DFKai-SB"/>
              </a:rPr>
              <a:t> (capacity </a:t>
            </a:r>
            <a:r>
              <a:rPr lang="zh-TW" sz="1600" b="1">
                <a:solidFill>
                  <a:srgbClr val="0000FF"/>
                </a:solidFill>
                <a:highlight>
                  <a:srgbClr val="FFFFFF"/>
                </a:highlight>
                <a:latin typeface="DFKai-SB"/>
                <a:ea typeface="DFKai-SB"/>
                <a:cs typeface="DFKai-SB"/>
                <a:sym typeface="DFKai-SB"/>
              </a:rPr>
              <a:t>BETWEEN</a:t>
            </a:r>
            <a:r>
              <a:rPr lang="zh-TW" sz="1600" b="1">
                <a:solidFill>
                  <a:schemeClr val="dk1"/>
                </a:solidFill>
                <a:highlight>
                  <a:srgbClr val="FFFFFF"/>
                </a:highlight>
                <a:latin typeface="DFKai-SB"/>
                <a:ea typeface="DFKai-SB"/>
                <a:cs typeface="DFKai-SB"/>
                <a:sym typeface="DFKai-SB"/>
              </a:rPr>
              <a:t> </a:t>
            </a:r>
            <a:r>
              <a:rPr lang="zh-TW" sz="1600" b="1">
                <a:solidFill>
                  <a:srgbClr val="098658"/>
                </a:solidFill>
                <a:highlight>
                  <a:srgbClr val="FFFFFF"/>
                </a:highlight>
                <a:latin typeface="DFKai-SB"/>
                <a:ea typeface="DFKai-SB"/>
                <a:cs typeface="DFKai-SB"/>
                <a:sym typeface="DFKai-SB"/>
              </a:rPr>
              <a:t>1</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AND</a:t>
            </a:r>
            <a:r>
              <a:rPr lang="zh-TW" sz="1600" b="1">
                <a:solidFill>
                  <a:schemeClr val="dk1"/>
                </a:solidFill>
                <a:highlight>
                  <a:srgbClr val="FFFFFF"/>
                </a:highlight>
                <a:latin typeface="DFKai-SB"/>
                <a:ea typeface="DFKai-SB"/>
                <a:cs typeface="DFKai-SB"/>
                <a:sym typeface="DFKai-SB"/>
              </a:rPr>
              <a:t> </a:t>
            </a:r>
            <a:r>
              <a:rPr lang="zh-TW" sz="1600" b="1">
                <a:solidFill>
                  <a:srgbClr val="098658"/>
                </a:solidFill>
                <a:highlight>
                  <a:srgbClr val="FFFFFF"/>
                </a:highlight>
                <a:latin typeface="DFKai-SB"/>
                <a:ea typeface="DFKai-SB"/>
                <a:cs typeface="DFKai-SB"/>
                <a:sym typeface="DFKai-SB"/>
              </a:rPr>
              <a:t>100</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CHECK</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status</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IN</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'Available'</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'UnderMaintenance'</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'Disabled'</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15000"/>
              </a:lnSpc>
              <a:spcBef>
                <a:spcPts val="0"/>
              </a:spcBef>
              <a:spcAft>
                <a:spcPts val="0"/>
              </a:spcAft>
              <a:buClr>
                <a:schemeClr val="dk1"/>
              </a:buClr>
              <a:buSzPts val="1100"/>
              <a:buFont typeface="Arial"/>
              <a:buNone/>
            </a:pPr>
            <a:endParaRPr sz="2000" b="1">
              <a:solidFill>
                <a:schemeClr val="dk1"/>
              </a:solidFill>
              <a:latin typeface="DFKai-SB"/>
              <a:ea typeface="DFKai-SB"/>
              <a:cs typeface="DFKai-SB"/>
              <a:sym typeface="DFKai-SB"/>
            </a:endParaRPr>
          </a:p>
        </p:txBody>
      </p:sp>
      <p:sp>
        <p:nvSpPr>
          <p:cNvPr id="545" name="Google Shape;545;p44"/>
          <p:cNvSpPr txBox="1"/>
          <p:nvPr/>
        </p:nvSpPr>
        <p:spPr>
          <a:xfrm>
            <a:off x="902375" y="300775"/>
            <a:ext cx="37395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2300" b="1">
                <a:solidFill>
                  <a:schemeClr val="dk1"/>
                </a:solidFill>
                <a:latin typeface="DFKai-SB"/>
                <a:ea typeface="DFKai-SB"/>
                <a:cs typeface="DFKai-SB"/>
                <a:sym typeface="DFKai-SB"/>
              </a:rPr>
              <a:t>建立 Room 資料表</a:t>
            </a:r>
            <a:endParaRPr sz="2300" b="1">
              <a:latin typeface="DFKai-SB"/>
              <a:ea typeface="DFKai-SB"/>
              <a:cs typeface="DFKai-SB"/>
              <a:sym typeface="DFKai-SB"/>
            </a:endParaRPr>
          </a:p>
        </p:txBody>
      </p:sp>
      <p:grpSp>
        <p:nvGrpSpPr>
          <p:cNvPr id="546" name="Google Shape;546;p44"/>
          <p:cNvGrpSpPr/>
          <p:nvPr/>
        </p:nvGrpSpPr>
        <p:grpSpPr>
          <a:xfrm>
            <a:off x="382271" y="259655"/>
            <a:ext cx="450310" cy="429099"/>
            <a:chOff x="956666" y="3498086"/>
            <a:chExt cx="600413" cy="572132"/>
          </a:xfrm>
        </p:grpSpPr>
        <p:sp>
          <p:nvSpPr>
            <p:cNvPr id="547" name="Google Shape;547;p44"/>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48" name="Google Shape;548;p44"/>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49" name="Google Shape;549;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70">
          <a:extLst>
            <a:ext uri="{FF2B5EF4-FFF2-40B4-BE49-F238E27FC236}">
              <a16:creationId xmlns:a16="http://schemas.microsoft.com/office/drawing/2014/main" id="{4025B7E5-41C5-619F-FD84-398600EB5ABF}"/>
            </a:ext>
          </a:extLst>
        </p:cNvPr>
        <p:cNvGrpSpPr/>
        <p:nvPr/>
      </p:nvGrpSpPr>
      <p:grpSpPr>
        <a:xfrm>
          <a:off x="0" y="0"/>
          <a:ext cx="0" cy="0"/>
          <a:chOff x="0" y="0"/>
          <a:chExt cx="0" cy="0"/>
        </a:xfrm>
      </p:grpSpPr>
      <p:sp>
        <p:nvSpPr>
          <p:cNvPr id="671" name="Google Shape;671;p56">
            <a:extLst>
              <a:ext uri="{FF2B5EF4-FFF2-40B4-BE49-F238E27FC236}">
                <a16:creationId xmlns:a16="http://schemas.microsoft.com/office/drawing/2014/main" id="{C73F4068-6147-07CB-B0BD-BC94833DE6FC}"/>
              </a:ext>
            </a:extLst>
          </p:cNvPr>
          <p:cNvSpPr txBox="1"/>
          <p:nvPr/>
        </p:nvSpPr>
        <p:spPr>
          <a:xfrm>
            <a:off x="889950"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a:solidFill>
                  <a:schemeClr val="dk1"/>
                </a:solidFill>
                <a:latin typeface="DFKai-SB"/>
                <a:ea typeface="DFKai-SB"/>
                <a:cs typeface="DFKai-SB"/>
                <a:sym typeface="DFKai-SB"/>
              </a:rPr>
              <a:t>Room 資料範例</a:t>
            </a:r>
            <a:endParaRPr sz="2300"/>
          </a:p>
        </p:txBody>
      </p:sp>
      <p:grpSp>
        <p:nvGrpSpPr>
          <p:cNvPr id="672" name="Google Shape;672;p56">
            <a:extLst>
              <a:ext uri="{FF2B5EF4-FFF2-40B4-BE49-F238E27FC236}">
                <a16:creationId xmlns:a16="http://schemas.microsoft.com/office/drawing/2014/main" id="{3573EFB4-C9B5-C88C-9087-B44669C5E00B}"/>
              </a:ext>
            </a:extLst>
          </p:cNvPr>
          <p:cNvGrpSpPr/>
          <p:nvPr/>
        </p:nvGrpSpPr>
        <p:grpSpPr>
          <a:xfrm>
            <a:off x="382271" y="259655"/>
            <a:ext cx="450310" cy="429099"/>
            <a:chOff x="956666" y="3498086"/>
            <a:chExt cx="600413" cy="572132"/>
          </a:xfrm>
        </p:grpSpPr>
        <p:sp>
          <p:nvSpPr>
            <p:cNvPr id="673" name="Google Shape;673;p56">
              <a:extLst>
                <a:ext uri="{FF2B5EF4-FFF2-40B4-BE49-F238E27FC236}">
                  <a16:creationId xmlns:a16="http://schemas.microsoft.com/office/drawing/2014/main" id="{77E5A591-0867-2F21-BB47-6E8D3EB50112}"/>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74" name="Google Shape;674;p56">
              <a:extLst>
                <a:ext uri="{FF2B5EF4-FFF2-40B4-BE49-F238E27FC236}">
                  <a16:creationId xmlns:a16="http://schemas.microsoft.com/office/drawing/2014/main" id="{543D7E0C-BA69-60B7-8DB7-4DF90560E68E}"/>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75" name="Google Shape;675;p56">
            <a:extLst>
              <a:ext uri="{FF2B5EF4-FFF2-40B4-BE49-F238E27FC236}">
                <a16:creationId xmlns:a16="http://schemas.microsoft.com/office/drawing/2014/main" id="{F1277A08-D1FA-164F-F066-EB74A0245DB2}"/>
              </a:ext>
            </a:extLst>
          </p:cNvPr>
          <p:cNvSpPr txBox="1"/>
          <p:nvPr/>
        </p:nvSpPr>
        <p:spPr>
          <a:xfrm>
            <a:off x="482325" y="901025"/>
            <a:ext cx="7990200" cy="21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INSERT INTO Room (room_id, room_name, location, capacity, status) VALUES</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('BGC0614', '多功能教學實驗室', '綜三館 6F', 60, 'Available'),</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('BGC0513', '一般教室', '綜三館 5F', 60, 'UnderMaintenance'),</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('BGC0501', '討論教室', '綜三館 5F', 40, 'Available'),</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('BGC0701', '專題討論室', '綜三館 7F', 30, 'Available'),</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('BGC0402', '舊設備教室', '綜三館 4F', 50, 'Disabled');</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latin typeface="Courier New"/>
              <a:ea typeface="Courier New"/>
              <a:cs typeface="Courier New"/>
              <a:sym typeface="Courier New"/>
            </a:endParaRPr>
          </a:p>
        </p:txBody>
      </p:sp>
      <p:graphicFrame>
        <p:nvGraphicFramePr>
          <p:cNvPr id="676" name="Google Shape;676;p56">
            <a:extLst>
              <a:ext uri="{FF2B5EF4-FFF2-40B4-BE49-F238E27FC236}">
                <a16:creationId xmlns:a16="http://schemas.microsoft.com/office/drawing/2014/main" id="{94EB8FFF-CC99-A4F9-8684-ACB247C9FE9F}"/>
              </a:ext>
            </a:extLst>
          </p:cNvPr>
          <p:cNvGraphicFramePr/>
          <p:nvPr/>
        </p:nvGraphicFramePr>
        <p:xfrm>
          <a:off x="832575" y="2571750"/>
          <a:ext cx="7541150" cy="2194380"/>
        </p:xfrm>
        <a:graphic>
          <a:graphicData uri="http://schemas.openxmlformats.org/drawingml/2006/table">
            <a:tbl>
              <a:tblPr>
                <a:noFill/>
                <a:tableStyleId>{AC306F20-B5FA-46C3-8F7C-962CBD427640}</a:tableStyleId>
              </a:tblPr>
              <a:tblGrid>
                <a:gridCol w="1214125">
                  <a:extLst>
                    <a:ext uri="{9D8B030D-6E8A-4147-A177-3AD203B41FA5}">
                      <a16:colId xmlns:a16="http://schemas.microsoft.com/office/drawing/2014/main" val="20000"/>
                    </a:ext>
                  </a:extLst>
                </a:gridCol>
                <a:gridCol w="1591875">
                  <a:extLst>
                    <a:ext uri="{9D8B030D-6E8A-4147-A177-3AD203B41FA5}">
                      <a16:colId xmlns:a16="http://schemas.microsoft.com/office/drawing/2014/main" val="20001"/>
                    </a:ext>
                  </a:extLst>
                </a:gridCol>
                <a:gridCol w="1322075">
                  <a:extLst>
                    <a:ext uri="{9D8B030D-6E8A-4147-A177-3AD203B41FA5}">
                      <a16:colId xmlns:a16="http://schemas.microsoft.com/office/drawing/2014/main" val="20002"/>
                    </a:ext>
                  </a:extLst>
                </a:gridCol>
                <a:gridCol w="1227625">
                  <a:extLst>
                    <a:ext uri="{9D8B030D-6E8A-4147-A177-3AD203B41FA5}">
                      <a16:colId xmlns:a16="http://schemas.microsoft.com/office/drawing/2014/main" val="20003"/>
                    </a:ext>
                  </a:extLst>
                </a:gridCol>
                <a:gridCol w="2185450">
                  <a:extLst>
                    <a:ext uri="{9D8B030D-6E8A-4147-A177-3AD203B41FA5}">
                      <a16:colId xmlns:a16="http://schemas.microsoft.com/office/drawing/2014/main" val="20004"/>
                    </a:ext>
                  </a:extLst>
                </a:gridCol>
              </a:tblGrid>
              <a:tr h="295275">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room_id</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room_name</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location</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capacity</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status</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0"/>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BGC0614</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多功能教學實驗室</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綜三館 6F</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60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Available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BGC0513</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一般教室</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綜三館 5F</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60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UnderMaintenance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BGC0501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討論教室</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綜三館 5F</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40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Available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BGC0701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專題討論室</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綜三館 7F</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30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Available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BGC0402</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舊設備教室</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綜三館 4F</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50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Disabled</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677" name="Google Shape;677;p56">
            <a:extLst>
              <a:ext uri="{FF2B5EF4-FFF2-40B4-BE49-F238E27FC236}">
                <a16:creationId xmlns:a16="http://schemas.microsoft.com/office/drawing/2014/main" id="{26AE5C00-82B5-CBEE-4536-3880A5C0C94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35</a:t>
            </a:fld>
            <a:endParaRPr/>
          </a:p>
        </p:txBody>
      </p:sp>
    </p:spTree>
    <p:extLst>
      <p:ext uri="{BB962C8B-B14F-4D97-AF65-F5344CB8AC3E}">
        <p14:creationId xmlns:p14="http://schemas.microsoft.com/office/powerpoint/2010/main" val="1000450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graphicFrame>
        <p:nvGraphicFramePr>
          <p:cNvPr id="554" name="Google Shape;554;p45"/>
          <p:cNvGraphicFramePr/>
          <p:nvPr/>
        </p:nvGraphicFramePr>
        <p:xfrm>
          <a:off x="413763" y="1689100"/>
          <a:ext cx="8316475" cy="2560140"/>
        </p:xfrm>
        <a:graphic>
          <a:graphicData uri="http://schemas.openxmlformats.org/drawingml/2006/table">
            <a:tbl>
              <a:tblPr>
                <a:noFill/>
                <a:tableStyleId>{AC306F20-B5FA-46C3-8F7C-962CBD427640}</a:tableStyleId>
              </a:tblPr>
              <a:tblGrid>
                <a:gridCol w="1481525">
                  <a:extLst>
                    <a:ext uri="{9D8B030D-6E8A-4147-A177-3AD203B41FA5}">
                      <a16:colId xmlns:a16="http://schemas.microsoft.com/office/drawing/2014/main" val="20000"/>
                    </a:ext>
                  </a:extLst>
                </a:gridCol>
                <a:gridCol w="1238650">
                  <a:extLst>
                    <a:ext uri="{9D8B030D-6E8A-4147-A177-3AD203B41FA5}">
                      <a16:colId xmlns:a16="http://schemas.microsoft.com/office/drawing/2014/main" val="20001"/>
                    </a:ext>
                  </a:extLst>
                </a:gridCol>
                <a:gridCol w="1164475">
                  <a:extLst>
                    <a:ext uri="{9D8B030D-6E8A-4147-A177-3AD203B41FA5}">
                      <a16:colId xmlns:a16="http://schemas.microsoft.com/office/drawing/2014/main" val="20002"/>
                    </a:ext>
                  </a:extLst>
                </a:gridCol>
                <a:gridCol w="1050075">
                  <a:extLst>
                    <a:ext uri="{9D8B030D-6E8A-4147-A177-3AD203B41FA5}">
                      <a16:colId xmlns:a16="http://schemas.microsoft.com/office/drawing/2014/main" val="20003"/>
                    </a:ext>
                  </a:extLst>
                </a:gridCol>
                <a:gridCol w="1074125">
                  <a:extLst>
                    <a:ext uri="{9D8B030D-6E8A-4147-A177-3AD203B41FA5}">
                      <a16:colId xmlns:a16="http://schemas.microsoft.com/office/drawing/2014/main" val="20004"/>
                    </a:ext>
                  </a:extLst>
                </a:gridCol>
                <a:gridCol w="2307625">
                  <a:extLst>
                    <a:ext uri="{9D8B030D-6E8A-4147-A177-3AD203B41FA5}">
                      <a16:colId xmlns:a16="http://schemas.microsoft.com/office/drawing/2014/main" val="20005"/>
                    </a:ext>
                  </a:extLst>
                </a:gridCol>
              </a:tblGrid>
              <a:tr h="503000">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欄位名稱</a:t>
                      </a:r>
                      <a:endParaRPr sz="1200" b="1">
                        <a:solidFill>
                          <a:schemeClr val="dk1"/>
                        </a:solidFill>
                        <a:latin typeface="DFKai-SB"/>
                        <a:ea typeface="DFKai-SB"/>
                        <a:cs typeface="DFKai-SB"/>
                        <a:sym typeface="DFKai-SB"/>
                      </a:endParaRPr>
                    </a:p>
                  </a:txBody>
                  <a:tcPr marL="91425" marR="91425" marT="91425" marB="91425">
                    <a:lnL w="6100" cap="flat" cmpd="sng">
                      <a:solidFill>
                        <a:srgbClr val="0086B3"/>
                      </a:solidFill>
                      <a:prstDash val="solid"/>
                      <a:round/>
                      <a:headEnd type="none" w="sm" len="sm"/>
                      <a:tailEnd type="none" w="sm" len="sm"/>
                    </a:lnL>
                    <a:lnR w="6100" cap="flat" cmpd="sng">
                      <a:solidFill>
                        <a:srgbClr val="0086B3"/>
                      </a:solidFill>
                      <a:prstDash val="solid"/>
                      <a:round/>
                      <a:headEnd type="none" w="sm" len="sm"/>
                      <a:tailEnd type="none" w="sm" len="sm"/>
                    </a:lnR>
                    <a:lnT w="610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說明</a:t>
                      </a:r>
                      <a:endParaRPr sz="1200" b="1">
                        <a:solidFill>
                          <a:schemeClr val="dk1"/>
                        </a:solidFill>
                        <a:latin typeface="DFKai-SB"/>
                        <a:ea typeface="DFKai-SB"/>
                        <a:cs typeface="DFKai-SB"/>
                        <a:sym typeface="DFKai-SB"/>
                      </a:endParaRPr>
                    </a:p>
                  </a:txBody>
                  <a:tcPr marL="91425" marR="91425" marT="91425" marB="91425">
                    <a:lnL w="6100" cap="flat" cmpd="sng">
                      <a:solidFill>
                        <a:srgbClr val="0086B3"/>
                      </a:solidFill>
                      <a:prstDash val="solid"/>
                      <a:round/>
                      <a:headEnd type="none" w="sm" len="sm"/>
                      <a:tailEnd type="none" w="sm" len="sm"/>
                    </a:lnL>
                    <a:lnR w="6100" cap="flat" cmpd="sng">
                      <a:solidFill>
                        <a:srgbClr val="0086B3"/>
                      </a:solidFill>
                      <a:prstDash val="solid"/>
                      <a:round/>
                      <a:headEnd type="none" w="sm" len="sm"/>
                      <a:tailEnd type="none" w="sm" len="sm"/>
                    </a:lnR>
                    <a:lnT w="610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資料</a:t>
                      </a:r>
                      <a:endParaRPr sz="1200" b="1">
                        <a:solidFill>
                          <a:schemeClr val="dk1"/>
                        </a:solidFill>
                        <a:latin typeface="DFKai-SB"/>
                        <a:ea typeface="DFKai-SB"/>
                        <a:cs typeface="DFKai-SB"/>
                        <a:sym typeface="DFKai-SB"/>
                      </a:endParaRPr>
                    </a:p>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型態</a:t>
                      </a:r>
                      <a:endParaRPr sz="1200" b="1">
                        <a:solidFill>
                          <a:schemeClr val="dk1"/>
                        </a:solidFill>
                        <a:latin typeface="DFKai-SB"/>
                        <a:ea typeface="DFKai-SB"/>
                        <a:cs typeface="DFKai-SB"/>
                        <a:sym typeface="DFKai-SB"/>
                      </a:endParaRPr>
                    </a:p>
                  </a:txBody>
                  <a:tcPr marL="91425" marR="91425" marT="91425" marB="91425">
                    <a:lnL w="6100" cap="flat" cmpd="sng">
                      <a:solidFill>
                        <a:srgbClr val="0086B3"/>
                      </a:solidFill>
                      <a:prstDash val="solid"/>
                      <a:round/>
                      <a:headEnd type="none" w="sm" len="sm"/>
                      <a:tailEnd type="none" w="sm" len="sm"/>
                    </a:lnL>
                    <a:lnR w="6100" cap="flat" cmpd="sng">
                      <a:solidFill>
                        <a:srgbClr val="0086B3"/>
                      </a:solidFill>
                      <a:prstDash val="solid"/>
                      <a:round/>
                      <a:headEnd type="none" w="sm" len="sm"/>
                      <a:tailEnd type="none" w="sm" len="sm"/>
                    </a:lnR>
                    <a:lnT w="610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是否可為空</a:t>
                      </a:r>
                      <a:endParaRPr sz="1200" b="1">
                        <a:solidFill>
                          <a:schemeClr val="dk1"/>
                        </a:solidFill>
                        <a:latin typeface="DFKai-SB"/>
                        <a:ea typeface="DFKai-SB"/>
                        <a:cs typeface="DFKai-SB"/>
                        <a:sym typeface="DFKai-SB"/>
                      </a:endParaRPr>
                    </a:p>
                  </a:txBody>
                  <a:tcPr marL="91425" marR="91425" marT="91425" marB="91425">
                    <a:lnL w="6100" cap="flat" cmpd="sng">
                      <a:solidFill>
                        <a:srgbClr val="0086B3"/>
                      </a:solidFill>
                      <a:prstDash val="solid"/>
                      <a:round/>
                      <a:headEnd type="none" w="sm" len="sm"/>
                      <a:tailEnd type="none" w="sm" len="sm"/>
                    </a:lnL>
                    <a:lnR w="6100" cap="flat" cmpd="sng">
                      <a:solidFill>
                        <a:srgbClr val="0086B3"/>
                      </a:solidFill>
                      <a:prstDash val="solid"/>
                      <a:round/>
                      <a:headEnd type="none" w="sm" len="sm"/>
                      <a:tailEnd type="none" w="sm" len="sm"/>
                    </a:lnR>
                    <a:lnT w="610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預設值</a:t>
                      </a:r>
                      <a:endParaRPr sz="1200" b="1">
                        <a:solidFill>
                          <a:schemeClr val="dk1"/>
                        </a:solidFill>
                        <a:latin typeface="DFKai-SB"/>
                        <a:ea typeface="DFKai-SB"/>
                        <a:cs typeface="DFKai-SB"/>
                        <a:sym typeface="DFKai-SB"/>
                      </a:endParaRPr>
                    </a:p>
                  </a:txBody>
                  <a:tcPr marL="91425" marR="91425" marT="91425" marB="91425">
                    <a:lnL w="6100" cap="flat" cmpd="sng">
                      <a:solidFill>
                        <a:srgbClr val="0086B3"/>
                      </a:solidFill>
                      <a:prstDash val="solid"/>
                      <a:round/>
                      <a:headEnd type="none" w="sm" len="sm"/>
                      <a:tailEnd type="none" w="sm" len="sm"/>
                    </a:lnL>
                    <a:lnR w="6100" cap="flat" cmpd="sng">
                      <a:solidFill>
                        <a:srgbClr val="0086B3"/>
                      </a:solidFill>
                      <a:prstDash val="solid"/>
                      <a:round/>
                      <a:headEnd type="none" w="sm" len="sm"/>
                      <a:tailEnd type="none" w="sm" len="sm"/>
                    </a:lnR>
                    <a:lnT w="610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其他說明</a:t>
                      </a:r>
                      <a:endParaRPr sz="1200" b="1">
                        <a:solidFill>
                          <a:schemeClr val="dk1"/>
                        </a:solidFill>
                        <a:latin typeface="DFKai-SB"/>
                        <a:ea typeface="DFKai-SB"/>
                        <a:cs typeface="DFKai-SB"/>
                        <a:sym typeface="DFKai-SB"/>
                      </a:endParaRPr>
                    </a:p>
                  </a:txBody>
                  <a:tcPr marL="91425" marR="91425" marT="91425" marB="91425">
                    <a:lnL w="6100" cap="flat" cmpd="sng">
                      <a:solidFill>
                        <a:srgbClr val="0086B3"/>
                      </a:solidFill>
                      <a:prstDash val="solid"/>
                      <a:round/>
                      <a:headEnd type="none" w="sm" len="sm"/>
                      <a:tailEnd type="none" w="sm" len="sm"/>
                    </a:lnL>
                    <a:lnR w="6100" cap="flat" cmpd="sng">
                      <a:solidFill>
                        <a:srgbClr val="0086B3"/>
                      </a:solidFill>
                      <a:prstDash val="solid"/>
                      <a:round/>
                      <a:headEnd type="none" w="sm" len="sm"/>
                      <a:tailEnd type="none" w="sm" len="sm"/>
                    </a:lnR>
                    <a:lnT w="610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eq_id</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設備識別碼</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INT</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主鍵</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eq_name</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設備名稱</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VARCHAR(30)</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同一教室內不可重複</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room_id</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所屬教室</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外鍵，參考 Room.room_id</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eq_desc</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設備說明</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VARCHAR(100)</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例如 HDMI 投影機</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status</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設備狀態</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VARCHAR(20)</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Available</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Available / UnderMaintenance / Disabled</a:t>
                      </a:r>
                      <a:endParaRPr sz="1200">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55" name="Google Shape;555;p45"/>
          <p:cNvSpPr txBox="1"/>
          <p:nvPr/>
        </p:nvSpPr>
        <p:spPr>
          <a:xfrm>
            <a:off x="914400" y="227900"/>
            <a:ext cx="34518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Clr>
                <a:schemeClr val="dk1"/>
              </a:buClr>
              <a:buSzPts val="1100"/>
              <a:buFont typeface="Arial"/>
              <a:buNone/>
            </a:pPr>
            <a:r>
              <a:rPr lang="zh-TW" sz="2300" b="1">
                <a:solidFill>
                  <a:schemeClr val="dk1"/>
                </a:solidFill>
                <a:latin typeface="DFKai-SB"/>
                <a:ea typeface="DFKai-SB"/>
                <a:cs typeface="DFKai-SB"/>
                <a:sym typeface="DFKai-SB"/>
              </a:rPr>
              <a:t>Equipment（教室設備）</a:t>
            </a:r>
            <a:endParaRPr sz="2300" b="1">
              <a:solidFill>
                <a:schemeClr val="dk1"/>
              </a:solidFill>
              <a:latin typeface="DFKai-SB"/>
              <a:ea typeface="DFKai-SB"/>
              <a:cs typeface="DFKai-SB"/>
              <a:sym typeface="DFKai-SB"/>
            </a:endParaRPr>
          </a:p>
        </p:txBody>
      </p:sp>
      <p:grpSp>
        <p:nvGrpSpPr>
          <p:cNvPr id="556" name="Google Shape;556;p45"/>
          <p:cNvGrpSpPr/>
          <p:nvPr/>
        </p:nvGrpSpPr>
        <p:grpSpPr>
          <a:xfrm>
            <a:off x="382271" y="259655"/>
            <a:ext cx="450310" cy="429099"/>
            <a:chOff x="956666" y="3498086"/>
            <a:chExt cx="600413" cy="572132"/>
          </a:xfrm>
        </p:grpSpPr>
        <p:sp>
          <p:nvSpPr>
            <p:cNvPr id="557" name="Google Shape;557;p45"/>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58" name="Google Shape;558;p45"/>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59" name="Google Shape;55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46"/>
          <p:cNvSpPr txBox="1"/>
          <p:nvPr/>
        </p:nvSpPr>
        <p:spPr>
          <a:xfrm>
            <a:off x="382275" y="880225"/>
            <a:ext cx="8539200" cy="44418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zh-TW" sz="1600" b="1">
                <a:solidFill>
                  <a:srgbClr val="0000FF"/>
                </a:solidFill>
                <a:highlight>
                  <a:srgbClr val="FFFFFF"/>
                </a:highlight>
                <a:latin typeface="DFKai-SB"/>
                <a:ea typeface="DFKai-SB"/>
                <a:cs typeface="DFKai-SB"/>
                <a:sym typeface="DFKai-SB"/>
              </a:rPr>
              <a:t>CREATE</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TABLE</a:t>
            </a:r>
            <a:r>
              <a:rPr lang="zh-TW" sz="1600" b="1">
                <a:solidFill>
                  <a:schemeClr val="dk1"/>
                </a:solidFill>
                <a:highlight>
                  <a:srgbClr val="FFFFFF"/>
                </a:highlight>
                <a:latin typeface="DFKai-SB"/>
                <a:ea typeface="DFKai-SB"/>
                <a:cs typeface="DFKai-SB"/>
                <a:sym typeface="DFKai-SB"/>
              </a:rPr>
              <a:t> </a:t>
            </a:r>
            <a:r>
              <a:rPr lang="zh-TW" sz="1600" b="1">
                <a:solidFill>
                  <a:srgbClr val="795E26"/>
                </a:solidFill>
                <a:highlight>
                  <a:srgbClr val="FFFFFF"/>
                </a:highlight>
                <a:latin typeface="DFKai-SB"/>
                <a:ea typeface="DFKai-SB"/>
                <a:cs typeface="DFKai-SB"/>
                <a:sym typeface="DFKai-SB"/>
              </a:rPr>
              <a:t>Equipment</a:t>
            </a:r>
            <a:r>
              <a:rPr lang="zh-TW" sz="1600" b="1">
                <a:solidFill>
                  <a:schemeClr val="dk1"/>
                </a:solidFill>
                <a:highlight>
                  <a:srgbClr val="FFFFFF"/>
                </a:highlight>
                <a:latin typeface="DFKai-SB"/>
                <a:ea typeface="DFKai-SB"/>
                <a:cs typeface="DFKai-SB"/>
                <a:sym typeface="DFKai-SB"/>
              </a:rPr>
              <a:t> (</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eq_id   </a:t>
            </a:r>
            <a:r>
              <a:rPr lang="zh-TW" sz="1600" b="1">
                <a:solidFill>
                  <a:srgbClr val="0000FF"/>
                </a:solidFill>
                <a:highlight>
                  <a:srgbClr val="FFFFFF"/>
                </a:highlight>
                <a:latin typeface="DFKai-SB"/>
                <a:ea typeface="DFKai-SB"/>
                <a:cs typeface="DFKai-SB"/>
                <a:sym typeface="DFKai-SB"/>
              </a:rPr>
              <a:t>INT</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 AUTO_INCREMENT,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eq_name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30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eq_desc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100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room_id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10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status  </a:t>
            </a:r>
            <a:r>
              <a:rPr lang="zh-TW" sz="1600" b="1">
                <a:solidFill>
                  <a:srgbClr val="0000FF"/>
                </a:solidFill>
                <a:highlight>
                  <a:srgbClr val="FFFFFF"/>
                </a:highlight>
                <a:latin typeface="DFKai-SB"/>
                <a:ea typeface="DFKai-SB"/>
                <a:cs typeface="DFKai-SB"/>
                <a:sym typeface="DFKai-SB"/>
              </a:rPr>
              <a:t>VARCHAR</a:t>
            </a:r>
            <a:r>
              <a:rPr lang="zh-TW" sz="1600" b="1">
                <a:solidFill>
                  <a:schemeClr val="dk1"/>
                </a:solidFill>
                <a:highlight>
                  <a:srgbClr val="FFFFFF"/>
                </a:highlight>
                <a:latin typeface="DFKai-SB"/>
                <a:ea typeface="DFKai-SB"/>
                <a:cs typeface="DFKai-SB"/>
                <a:sym typeface="DFKai-SB"/>
              </a:rPr>
              <a:t>(</a:t>
            </a:r>
            <a:r>
              <a:rPr lang="zh-TW" sz="1600" b="1">
                <a:solidFill>
                  <a:srgbClr val="098658"/>
                </a:solidFill>
                <a:highlight>
                  <a:srgbClr val="FFFFFF"/>
                </a:highlight>
                <a:latin typeface="DFKai-SB"/>
                <a:ea typeface="DFKai-SB"/>
                <a:cs typeface="DFKai-SB"/>
                <a:sym typeface="DFKai-SB"/>
              </a:rPr>
              <a:t>20</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NOT NULL</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DEFAULT</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'Available'</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PRIMARY KEY</a:t>
            </a:r>
            <a:r>
              <a:rPr lang="zh-TW" sz="1600" b="1">
                <a:solidFill>
                  <a:schemeClr val="dk1"/>
                </a:solidFill>
                <a:highlight>
                  <a:srgbClr val="FFFFFF"/>
                </a:highlight>
                <a:latin typeface="DFKai-SB"/>
                <a:ea typeface="DFKai-SB"/>
                <a:cs typeface="DFKai-SB"/>
                <a:sym typeface="DFKai-SB"/>
              </a:rPr>
              <a:t> (eq_id),</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UNIQUE</a:t>
            </a:r>
            <a:r>
              <a:rPr lang="zh-TW" sz="1600" b="1">
                <a:solidFill>
                  <a:schemeClr val="dk1"/>
                </a:solidFill>
                <a:highlight>
                  <a:srgbClr val="FFFFFF"/>
                </a:highlight>
                <a:latin typeface="DFKai-SB"/>
                <a:ea typeface="DFKai-SB"/>
                <a:cs typeface="DFKai-SB"/>
                <a:sym typeface="DFKai-SB"/>
              </a:rPr>
              <a:t> (eq_name, room_id),</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FOREIGN KEY</a:t>
            </a:r>
            <a:r>
              <a:rPr lang="zh-TW" sz="1600" b="1">
                <a:solidFill>
                  <a:schemeClr val="dk1"/>
                </a:solidFill>
                <a:highlight>
                  <a:srgbClr val="FFFFFF"/>
                </a:highlight>
                <a:latin typeface="DFKai-SB"/>
                <a:ea typeface="DFKai-SB"/>
                <a:cs typeface="DFKai-SB"/>
                <a:sym typeface="DFKai-SB"/>
              </a:rPr>
              <a:t> (room_id) </a:t>
            </a:r>
            <a:r>
              <a:rPr lang="zh-TW" sz="1600" b="1">
                <a:solidFill>
                  <a:srgbClr val="0000FF"/>
                </a:solidFill>
                <a:highlight>
                  <a:srgbClr val="FFFFFF"/>
                </a:highlight>
                <a:latin typeface="DFKai-SB"/>
                <a:ea typeface="DFKai-SB"/>
                <a:cs typeface="DFKai-SB"/>
                <a:sym typeface="DFKai-SB"/>
              </a:rPr>
              <a:t>REFERENCES</a:t>
            </a:r>
            <a:r>
              <a:rPr lang="zh-TW" sz="1600" b="1">
                <a:solidFill>
                  <a:schemeClr val="dk1"/>
                </a:solidFill>
                <a:highlight>
                  <a:srgbClr val="FFFFFF"/>
                </a:highlight>
                <a:latin typeface="DFKai-SB"/>
                <a:ea typeface="DFKai-SB"/>
                <a:cs typeface="DFKai-SB"/>
                <a:sym typeface="DFKai-SB"/>
              </a:rPr>
              <a:t> Room(room_id),</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CHECK</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status</a:t>
            </a:r>
            <a:r>
              <a:rPr lang="zh-TW" sz="1600" b="1">
                <a:solidFill>
                  <a:schemeClr val="dk1"/>
                </a:solidFill>
                <a:highlight>
                  <a:srgbClr val="FFFFFF"/>
                </a:highlight>
                <a:latin typeface="DFKai-SB"/>
                <a:ea typeface="DFKai-SB"/>
                <a:cs typeface="DFKai-SB"/>
                <a:sym typeface="DFKai-SB"/>
              </a:rPr>
              <a:t> </a:t>
            </a:r>
            <a:r>
              <a:rPr lang="zh-TW" sz="1600" b="1">
                <a:solidFill>
                  <a:srgbClr val="0000FF"/>
                </a:solidFill>
                <a:highlight>
                  <a:srgbClr val="FFFFFF"/>
                </a:highlight>
                <a:latin typeface="DFKai-SB"/>
                <a:ea typeface="DFKai-SB"/>
                <a:cs typeface="DFKai-SB"/>
                <a:sym typeface="DFKai-SB"/>
              </a:rPr>
              <a:t>IN</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'Available'</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'UnderMaintenance'</a:t>
            </a:r>
            <a:r>
              <a:rPr lang="zh-TW" sz="1600" b="1">
                <a:solidFill>
                  <a:schemeClr val="dk1"/>
                </a:solidFill>
                <a:highlight>
                  <a:srgbClr val="FFFFFF"/>
                </a:highlight>
                <a:latin typeface="DFKai-SB"/>
                <a:ea typeface="DFKai-SB"/>
                <a:cs typeface="DFKai-SB"/>
                <a:sym typeface="DFKai-SB"/>
              </a:rPr>
              <a:t>, </a:t>
            </a:r>
            <a:r>
              <a:rPr lang="zh-TW" sz="1600" b="1">
                <a:solidFill>
                  <a:srgbClr val="A31515"/>
                </a:solidFill>
                <a:highlight>
                  <a:srgbClr val="FFFFFF"/>
                </a:highlight>
                <a:latin typeface="DFKai-SB"/>
                <a:ea typeface="DFKai-SB"/>
                <a:cs typeface="DFKai-SB"/>
                <a:sym typeface="DFKai-SB"/>
              </a:rPr>
              <a:t>'Disabled'</a:t>
            </a: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600" b="1">
                <a:solidFill>
                  <a:schemeClr val="dk1"/>
                </a:solidFill>
                <a:highlight>
                  <a:srgbClr val="FFFFFF"/>
                </a:highlight>
                <a:latin typeface="DFKai-SB"/>
                <a:ea typeface="DFKai-SB"/>
                <a:cs typeface="DFKai-SB"/>
                <a:sym typeface="DFKai-SB"/>
              </a:rPr>
              <a:t>);</a:t>
            </a:r>
            <a:endParaRPr sz="1600" b="1">
              <a:solidFill>
                <a:schemeClr val="dk1"/>
              </a:solidFill>
              <a:highlight>
                <a:srgbClr val="FFFFFF"/>
              </a:highlight>
              <a:latin typeface="DFKai-SB"/>
              <a:ea typeface="DFKai-SB"/>
              <a:cs typeface="DFKai-SB"/>
              <a:sym typeface="DFKai-SB"/>
            </a:endParaRPr>
          </a:p>
          <a:p>
            <a:pPr marL="0" lvl="0" indent="0" algn="l" rtl="0">
              <a:lnSpc>
                <a:spcPct val="115000"/>
              </a:lnSpc>
              <a:spcBef>
                <a:spcPts val="0"/>
              </a:spcBef>
              <a:spcAft>
                <a:spcPts val="0"/>
              </a:spcAft>
              <a:buClr>
                <a:schemeClr val="dk1"/>
              </a:buClr>
              <a:buSzPts val="1100"/>
              <a:buFont typeface="Arial"/>
              <a:buNone/>
            </a:pPr>
            <a:endParaRPr sz="1600" b="1">
              <a:solidFill>
                <a:schemeClr val="dk1"/>
              </a:solidFill>
              <a:latin typeface="DFKai-SB"/>
              <a:ea typeface="DFKai-SB"/>
              <a:cs typeface="DFKai-SB"/>
              <a:sym typeface="DFKai-SB"/>
            </a:endParaRPr>
          </a:p>
        </p:txBody>
      </p:sp>
      <p:sp>
        <p:nvSpPr>
          <p:cNvPr id="565" name="Google Shape;565;p46"/>
          <p:cNvSpPr txBox="1"/>
          <p:nvPr/>
        </p:nvSpPr>
        <p:spPr>
          <a:xfrm>
            <a:off x="902375" y="300775"/>
            <a:ext cx="37395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2300" b="1">
                <a:solidFill>
                  <a:schemeClr val="dk1"/>
                </a:solidFill>
                <a:latin typeface="DFKai-SB"/>
                <a:ea typeface="DFKai-SB"/>
                <a:cs typeface="DFKai-SB"/>
                <a:sym typeface="DFKai-SB"/>
              </a:rPr>
              <a:t>建立 Equipment 資料表</a:t>
            </a:r>
            <a:endParaRPr sz="2300" b="1">
              <a:latin typeface="DFKai-SB"/>
              <a:ea typeface="DFKai-SB"/>
              <a:cs typeface="DFKai-SB"/>
              <a:sym typeface="DFKai-SB"/>
            </a:endParaRPr>
          </a:p>
        </p:txBody>
      </p:sp>
      <p:grpSp>
        <p:nvGrpSpPr>
          <p:cNvPr id="566" name="Google Shape;566;p46"/>
          <p:cNvGrpSpPr/>
          <p:nvPr/>
        </p:nvGrpSpPr>
        <p:grpSpPr>
          <a:xfrm>
            <a:off x="382271" y="259655"/>
            <a:ext cx="450310" cy="429099"/>
            <a:chOff x="956666" y="3498086"/>
            <a:chExt cx="600413" cy="572132"/>
          </a:xfrm>
        </p:grpSpPr>
        <p:sp>
          <p:nvSpPr>
            <p:cNvPr id="567" name="Google Shape;567;p46"/>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68" name="Google Shape;568;p46"/>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69" name="Google Shape;569;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1">
          <a:extLst>
            <a:ext uri="{FF2B5EF4-FFF2-40B4-BE49-F238E27FC236}">
              <a16:creationId xmlns:a16="http://schemas.microsoft.com/office/drawing/2014/main" id="{04D5E654-BBC5-3918-D328-32F15FBCAB51}"/>
            </a:ext>
          </a:extLst>
        </p:cNvPr>
        <p:cNvGrpSpPr/>
        <p:nvPr/>
      </p:nvGrpSpPr>
      <p:grpSpPr>
        <a:xfrm>
          <a:off x="0" y="0"/>
          <a:ext cx="0" cy="0"/>
          <a:chOff x="0" y="0"/>
          <a:chExt cx="0" cy="0"/>
        </a:xfrm>
      </p:grpSpPr>
      <p:grpSp>
        <p:nvGrpSpPr>
          <p:cNvPr id="682" name="Google Shape;682;p57">
            <a:extLst>
              <a:ext uri="{FF2B5EF4-FFF2-40B4-BE49-F238E27FC236}">
                <a16:creationId xmlns:a16="http://schemas.microsoft.com/office/drawing/2014/main" id="{ED56F0D2-E94F-26D6-82A5-73F02FBE1912}"/>
              </a:ext>
            </a:extLst>
          </p:cNvPr>
          <p:cNvGrpSpPr/>
          <p:nvPr/>
        </p:nvGrpSpPr>
        <p:grpSpPr>
          <a:xfrm>
            <a:off x="382271" y="259655"/>
            <a:ext cx="450310" cy="429099"/>
            <a:chOff x="956666" y="3498086"/>
            <a:chExt cx="600413" cy="572132"/>
          </a:xfrm>
        </p:grpSpPr>
        <p:sp>
          <p:nvSpPr>
            <p:cNvPr id="683" name="Google Shape;683;p57">
              <a:extLst>
                <a:ext uri="{FF2B5EF4-FFF2-40B4-BE49-F238E27FC236}">
                  <a16:creationId xmlns:a16="http://schemas.microsoft.com/office/drawing/2014/main" id="{CD885163-3D7E-4225-A515-F921DDC68AA7}"/>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84" name="Google Shape;684;p57">
              <a:extLst>
                <a:ext uri="{FF2B5EF4-FFF2-40B4-BE49-F238E27FC236}">
                  <a16:creationId xmlns:a16="http://schemas.microsoft.com/office/drawing/2014/main" id="{B8CAA2EF-FBC1-E068-505B-6B3C7DC8839F}"/>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85" name="Google Shape;685;p57">
            <a:extLst>
              <a:ext uri="{FF2B5EF4-FFF2-40B4-BE49-F238E27FC236}">
                <a16:creationId xmlns:a16="http://schemas.microsoft.com/office/drawing/2014/main" id="{560F46FF-366A-2A31-AB6F-E3F75AA50783}"/>
              </a:ext>
            </a:extLst>
          </p:cNvPr>
          <p:cNvSpPr txBox="1"/>
          <p:nvPr/>
        </p:nvSpPr>
        <p:spPr>
          <a:xfrm>
            <a:off x="1054775" y="231800"/>
            <a:ext cx="3000000" cy="763256"/>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Aft>
                <a:spcPts val="1200"/>
              </a:spcAft>
              <a:buNone/>
            </a:pPr>
            <a:r>
              <a:rPr lang="zh-TW" sz="2300" b="1" dirty="0">
                <a:solidFill>
                  <a:schemeClr val="dk1"/>
                </a:solidFill>
                <a:latin typeface="DFKai-SB"/>
                <a:ea typeface="DFKai-SB"/>
                <a:cs typeface="DFKai-SB"/>
                <a:sym typeface="DFKai-SB"/>
              </a:rPr>
              <a:t>Equipment 資料範例</a:t>
            </a:r>
            <a:endParaRPr sz="2300" dirty="0"/>
          </a:p>
        </p:txBody>
      </p:sp>
      <p:sp>
        <p:nvSpPr>
          <p:cNvPr id="686" name="Google Shape;686;p57">
            <a:extLst>
              <a:ext uri="{FF2B5EF4-FFF2-40B4-BE49-F238E27FC236}">
                <a16:creationId xmlns:a16="http://schemas.microsoft.com/office/drawing/2014/main" id="{A8AABF64-BD86-804F-927F-4638BCE01188}"/>
              </a:ext>
            </a:extLst>
          </p:cNvPr>
          <p:cNvSpPr txBox="1"/>
          <p:nvPr/>
        </p:nvSpPr>
        <p:spPr>
          <a:xfrm>
            <a:off x="209550" y="688750"/>
            <a:ext cx="8262900" cy="184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1600" b="1">
                <a:solidFill>
                  <a:schemeClr val="dk1"/>
                </a:solidFill>
                <a:latin typeface="Courier New"/>
                <a:ea typeface="Courier New"/>
                <a:cs typeface="Courier New"/>
                <a:sym typeface="Courier New"/>
              </a:rPr>
              <a:t>INSERT INTO Equipment (eq_name, eq_desc, room_id, status) VALUES</a:t>
            </a:r>
            <a:endParaRPr sz="16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600" b="1">
                <a:solidFill>
                  <a:schemeClr val="dk1"/>
                </a:solidFill>
                <a:latin typeface="Courier New"/>
                <a:ea typeface="Courier New"/>
                <a:cs typeface="Courier New"/>
                <a:sym typeface="Courier New"/>
              </a:rPr>
              <a:t>('投影機', 'HDMI 投影機', 'BGC0614', 'Available'),</a:t>
            </a:r>
            <a:endParaRPr sz="16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600" b="1">
                <a:solidFill>
                  <a:schemeClr val="dk1"/>
                </a:solidFill>
                <a:latin typeface="Courier New"/>
                <a:ea typeface="Courier New"/>
                <a:cs typeface="Courier New"/>
                <a:sym typeface="Courier New"/>
              </a:rPr>
              <a:t>('麥克風', '無線麥克風', 'BGC0614', 'Available'),</a:t>
            </a:r>
            <a:endParaRPr sz="16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600" b="1">
                <a:solidFill>
                  <a:schemeClr val="dk1"/>
                </a:solidFill>
                <a:latin typeface="Courier New"/>
                <a:ea typeface="Courier New"/>
                <a:cs typeface="Courier New"/>
                <a:sym typeface="Courier New"/>
              </a:rPr>
              <a:t>('白板', '固定式白板', 'BGC0614', 'Available'),</a:t>
            </a:r>
            <a:endParaRPr sz="16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600" b="1">
                <a:solidFill>
                  <a:schemeClr val="dk1"/>
                </a:solidFill>
                <a:latin typeface="Courier New"/>
                <a:ea typeface="Courier New"/>
                <a:cs typeface="Courier New"/>
                <a:sym typeface="Courier New"/>
              </a:rPr>
              <a:t>('投影機', 'HDMI 投影機', 'BGC0501', 'Available'),</a:t>
            </a:r>
            <a:endParaRPr sz="16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600" b="1">
                <a:solidFill>
                  <a:schemeClr val="dk1"/>
                </a:solidFill>
                <a:latin typeface="Courier New"/>
                <a:ea typeface="Courier New"/>
                <a:cs typeface="Courier New"/>
                <a:sym typeface="Courier New"/>
              </a:rPr>
              <a:t>('冷氣', '分離式冷氣', 'BGC0513', 'UnderMaintenance');</a:t>
            </a:r>
            <a:endParaRPr sz="1600" b="1">
              <a:solidFill>
                <a:schemeClr val="dk1"/>
              </a:solidFill>
              <a:latin typeface="Courier New"/>
              <a:ea typeface="Courier New"/>
              <a:cs typeface="Courier New"/>
              <a:sym typeface="Courier New"/>
            </a:endParaRPr>
          </a:p>
        </p:txBody>
      </p:sp>
      <p:graphicFrame>
        <p:nvGraphicFramePr>
          <p:cNvPr id="687" name="Google Shape;687;p57">
            <a:extLst>
              <a:ext uri="{FF2B5EF4-FFF2-40B4-BE49-F238E27FC236}">
                <a16:creationId xmlns:a16="http://schemas.microsoft.com/office/drawing/2014/main" id="{1D113AD5-E12A-93C4-5C8D-1704D0272A4A}"/>
              </a:ext>
            </a:extLst>
          </p:cNvPr>
          <p:cNvGraphicFramePr/>
          <p:nvPr/>
        </p:nvGraphicFramePr>
        <p:xfrm>
          <a:off x="320375" y="2683950"/>
          <a:ext cx="8503250" cy="2194380"/>
        </p:xfrm>
        <a:graphic>
          <a:graphicData uri="http://schemas.openxmlformats.org/drawingml/2006/table">
            <a:tbl>
              <a:tblPr>
                <a:noFill/>
                <a:tableStyleId>{AC306F20-B5FA-46C3-8F7C-962CBD427640}</a:tableStyleId>
              </a:tblPr>
              <a:tblGrid>
                <a:gridCol w="1348800">
                  <a:extLst>
                    <a:ext uri="{9D8B030D-6E8A-4147-A177-3AD203B41FA5}">
                      <a16:colId xmlns:a16="http://schemas.microsoft.com/office/drawing/2014/main" val="20000"/>
                    </a:ext>
                  </a:extLst>
                </a:gridCol>
                <a:gridCol w="1876550">
                  <a:extLst>
                    <a:ext uri="{9D8B030D-6E8A-4147-A177-3AD203B41FA5}">
                      <a16:colId xmlns:a16="http://schemas.microsoft.com/office/drawing/2014/main" val="20001"/>
                    </a:ext>
                  </a:extLst>
                </a:gridCol>
                <a:gridCol w="1759300">
                  <a:extLst>
                    <a:ext uri="{9D8B030D-6E8A-4147-A177-3AD203B41FA5}">
                      <a16:colId xmlns:a16="http://schemas.microsoft.com/office/drawing/2014/main" val="20002"/>
                    </a:ext>
                  </a:extLst>
                </a:gridCol>
                <a:gridCol w="1759300">
                  <a:extLst>
                    <a:ext uri="{9D8B030D-6E8A-4147-A177-3AD203B41FA5}">
                      <a16:colId xmlns:a16="http://schemas.microsoft.com/office/drawing/2014/main" val="20003"/>
                    </a:ext>
                  </a:extLst>
                </a:gridCol>
                <a:gridCol w="1759300">
                  <a:extLst>
                    <a:ext uri="{9D8B030D-6E8A-4147-A177-3AD203B41FA5}">
                      <a16:colId xmlns:a16="http://schemas.microsoft.com/office/drawing/2014/main" val="20004"/>
                    </a:ext>
                  </a:extLst>
                </a:gridCol>
              </a:tblGrid>
              <a:tr h="295275">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eq_id</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eq_name</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eq_desc</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room_id</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status</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投影機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HDMI 投影機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BGC0614</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Available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2</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麥克風</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無線麥克風</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BGC0614</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Available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3</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白板</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固定式白板</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BGC0614</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Available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4</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投影機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HDMI 投影機</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BGC0501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Available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5</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冷氣</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分離式冷氣</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BGC0513</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UnderMaintenance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688" name="Google Shape;688;p57">
            <a:extLst>
              <a:ext uri="{FF2B5EF4-FFF2-40B4-BE49-F238E27FC236}">
                <a16:creationId xmlns:a16="http://schemas.microsoft.com/office/drawing/2014/main" id="{3D95E0CA-79A5-7BE4-75C3-1A04747295B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38</a:t>
            </a:fld>
            <a:endParaRPr/>
          </a:p>
        </p:txBody>
      </p:sp>
    </p:spTree>
    <p:extLst>
      <p:ext uri="{BB962C8B-B14F-4D97-AF65-F5344CB8AC3E}">
        <p14:creationId xmlns:p14="http://schemas.microsoft.com/office/powerpoint/2010/main" val="26412290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47"/>
          <p:cNvSpPr txBox="1"/>
          <p:nvPr/>
        </p:nvSpPr>
        <p:spPr>
          <a:xfrm>
            <a:off x="914400" y="227900"/>
            <a:ext cx="4043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Clr>
                <a:schemeClr val="dk1"/>
              </a:buClr>
              <a:buSzPts val="1100"/>
              <a:buFont typeface="Arial"/>
              <a:buNone/>
            </a:pPr>
            <a:r>
              <a:rPr lang="zh-TW" sz="2300" b="1">
                <a:solidFill>
                  <a:schemeClr val="dk1"/>
                </a:solidFill>
                <a:latin typeface="DFKai-SB"/>
                <a:ea typeface="DFKai-SB"/>
                <a:cs typeface="DFKai-SB"/>
                <a:sym typeface="DFKai-SB"/>
              </a:rPr>
              <a:t>BorrowRequest（借用申請）</a:t>
            </a:r>
            <a:endParaRPr sz="2300" b="1">
              <a:solidFill>
                <a:schemeClr val="dk1"/>
              </a:solidFill>
              <a:latin typeface="DFKai-SB"/>
              <a:ea typeface="DFKai-SB"/>
              <a:cs typeface="DFKai-SB"/>
              <a:sym typeface="DFKai-SB"/>
            </a:endParaRPr>
          </a:p>
        </p:txBody>
      </p:sp>
      <p:grpSp>
        <p:nvGrpSpPr>
          <p:cNvPr id="575" name="Google Shape;575;p47"/>
          <p:cNvGrpSpPr/>
          <p:nvPr/>
        </p:nvGrpSpPr>
        <p:grpSpPr>
          <a:xfrm>
            <a:off x="382271" y="259655"/>
            <a:ext cx="450310" cy="429099"/>
            <a:chOff x="956666" y="3498086"/>
            <a:chExt cx="600413" cy="572132"/>
          </a:xfrm>
        </p:grpSpPr>
        <p:sp>
          <p:nvSpPr>
            <p:cNvPr id="576" name="Google Shape;576;p47"/>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77" name="Google Shape;577;p47"/>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graphicFrame>
        <p:nvGraphicFramePr>
          <p:cNvPr id="578" name="Google Shape;578;p47"/>
          <p:cNvGraphicFramePr/>
          <p:nvPr/>
        </p:nvGraphicFramePr>
        <p:xfrm>
          <a:off x="299288" y="1440975"/>
          <a:ext cx="8545425" cy="3015440"/>
        </p:xfrm>
        <a:graphic>
          <a:graphicData uri="http://schemas.openxmlformats.org/drawingml/2006/table">
            <a:tbl>
              <a:tblPr>
                <a:noFill/>
                <a:tableStyleId>{AC306F20-B5FA-46C3-8F7C-962CBD427640}</a:tableStyleId>
              </a:tblPr>
              <a:tblGrid>
                <a:gridCol w="1185725">
                  <a:extLst>
                    <a:ext uri="{9D8B030D-6E8A-4147-A177-3AD203B41FA5}">
                      <a16:colId xmlns:a16="http://schemas.microsoft.com/office/drawing/2014/main" val="20000"/>
                    </a:ext>
                  </a:extLst>
                </a:gridCol>
                <a:gridCol w="1196400">
                  <a:extLst>
                    <a:ext uri="{9D8B030D-6E8A-4147-A177-3AD203B41FA5}">
                      <a16:colId xmlns:a16="http://schemas.microsoft.com/office/drawing/2014/main" val="20001"/>
                    </a:ext>
                  </a:extLst>
                </a:gridCol>
                <a:gridCol w="1054250">
                  <a:extLst>
                    <a:ext uri="{9D8B030D-6E8A-4147-A177-3AD203B41FA5}">
                      <a16:colId xmlns:a16="http://schemas.microsoft.com/office/drawing/2014/main" val="20002"/>
                    </a:ext>
                  </a:extLst>
                </a:gridCol>
                <a:gridCol w="942475">
                  <a:extLst>
                    <a:ext uri="{9D8B030D-6E8A-4147-A177-3AD203B41FA5}">
                      <a16:colId xmlns:a16="http://schemas.microsoft.com/office/drawing/2014/main" val="20003"/>
                    </a:ext>
                  </a:extLst>
                </a:gridCol>
                <a:gridCol w="1339575">
                  <a:extLst>
                    <a:ext uri="{9D8B030D-6E8A-4147-A177-3AD203B41FA5}">
                      <a16:colId xmlns:a16="http://schemas.microsoft.com/office/drawing/2014/main" val="20004"/>
                    </a:ext>
                  </a:extLst>
                </a:gridCol>
                <a:gridCol w="2827000">
                  <a:extLst>
                    <a:ext uri="{9D8B030D-6E8A-4147-A177-3AD203B41FA5}">
                      <a16:colId xmlns:a16="http://schemas.microsoft.com/office/drawing/2014/main" val="20005"/>
                    </a:ext>
                  </a:extLst>
                </a:gridCol>
              </a:tblGrid>
              <a:tr h="319275">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欄位名稱</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資料型態</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是否可為空</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預設值</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其他說明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0"/>
                  </a:ext>
                </a:extLst>
              </a:tr>
              <a:tr h="25810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req_id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申請識別碼</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INT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主鍵</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1"/>
                  </a:ext>
                </a:extLst>
              </a:tr>
              <a:tr h="3192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user_id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借用者</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VARCHAR(15)</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外鍵，參考 User.user_id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2"/>
                  </a:ext>
                </a:extLst>
              </a:tr>
              <a:tr h="3192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room_id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借用教室</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外鍵，參考 Room.room_id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3"/>
                  </a:ext>
                </a:extLst>
              </a:tr>
              <a:tr h="3192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start_date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借用開始日期</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DATE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合法日期</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4"/>
                  </a:ext>
                </a:extLst>
              </a:tr>
              <a:tr h="48075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end_date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借用結束日期</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DATE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不可早於 start_date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5"/>
                  </a:ext>
                </a:extLst>
              </a:tr>
              <a:tr h="51805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weekday</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長期借用星期</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INT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1~7；短期借用可為 NULL</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579" name="Google Shape;57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graphicFrame>
        <p:nvGraphicFramePr>
          <p:cNvPr id="584" name="Google Shape;584;p48"/>
          <p:cNvGraphicFramePr/>
          <p:nvPr/>
        </p:nvGraphicFramePr>
        <p:xfrm>
          <a:off x="222375" y="1152925"/>
          <a:ext cx="8485000" cy="3686905"/>
        </p:xfrm>
        <a:graphic>
          <a:graphicData uri="http://schemas.openxmlformats.org/drawingml/2006/table">
            <a:tbl>
              <a:tblPr>
                <a:noFill/>
                <a:tableStyleId>{AC306F20-B5FA-46C3-8F7C-962CBD427640}</a:tableStyleId>
              </a:tblPr>
              <a:tblGrid>
                <a:gridCol w="1312425">
                  <a:extLst>
                    <a:ext uri="{9D8B030D-6E8A-4147-A177-3AD203B41FA5}">
                      <a16:colId xmlns:a16="http://schemas.microsoft.com/office/drawing/2014/main" val="20000"/>
                    </a:ext>
                  </a:extLst>
                </a:gridCol>
                <a:gridCol w="1187950">
                  <a:extLst>
                    <a:ext uri="{9D8B030D-6E8A-4147-A177-3AD203B41FA5}">
                      <a16:colId xmlns:a16="http://schemas.microsoft.com/office/drawing/2014/main" val="20001"/>
                    </a:ext>
                  </a:extLst>
                </a:gridCol>
                <a:gridCol w="1140550">
                  <a:extLst>
                    <a:ext uri="{9D8B030D-6E8A-4147-A177-3AD203B41FA5}">
                      <a16:colId xmlns:a16="http://schemas.microsoft.com/office/drawing/2014/main" val="20002"/>
                    </a:ext>
                  </a:extLst>
                </a:gridCol>
                <a:gridCol w="856175">
                  <a:extLst>
                    <a:ext uri="{9D8B030D-6E8A-4147-A177-3AD203B41FA5}">
                      <a16:colId xmlns:a16="http://schemas.microsoft.com/office/drawing/2014/main" val="20003"/>
                    </a:ext>
                  </a:extLst>
                </a:gridCol>
                <a:gridCol w="1113350">
                  <a:extLst>
                    <a:ext uri="{9D8B030D-6E8A-4147-A177-3AD203B41FA5}">
                      <a16:colId xmlns:a16="http://schemas.microsoft.com/office/drawing/2014/main" val="20004"/>
                    </a:ext>
                  </a:extLst>
                </a:gridCol>
                <a:gridCol w="2874550">
                  <a:extLst>
                    <a:ext uri="{9D8B030D-6E8A-4147-A177-3AD203B41FA5}">
                      <a16:colId xmlns:a16="http://schemas.microsoft.com/office/drawing/2014/main" val="20005"/>
                    </a:ext>
                  </a:extLst>
                </a:gridCol>
              </a:tblGrid>
              <a:tr h="526500">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欄位名稱</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資料型態</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是否</a:t>
                      </a:r>
                      <a:endParaRPr b="1">
                        <a:latin typeface="DFKai-SB"/>
                        <a:ea typeface="DFKai-SB"/>
                        <a:cs typeface="DFKai-SB"/>
                        <a:sym typeface="DFKai-SB"/>
                      </a:endParaRPr>
                    </a:p>
                    <a:p>
                      <a:pPr marL="0" lvl="0" indent="0" algn="ctr" rtl="0">
                        <a:lnSpc>
                          <a:spcPct val="100000"/>
                        </a:lnSpc>
                        <a:spcBef>
                          <a:spcPts val="0"/>
                        </a:spcBef>
                        <a:spcAft>
                          <a:spcPts val="0"/>
                        </a:spcAft>
                        <a:buNone/>
                      </a:pPr>
                      <a:r>
                        <a:rPr lang="zh-TW" b="1">
                          <a:latin typeface="DFKai-SB"/>
                          <a:ea typeface="DFKai-SB"/>
                          <a:cs typeface="DFKai-SB"/>
                          <a:sym typeface="DFKai-SB"/>
                        </a:rPr>
                        <a:t>可為空</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預設值</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其他說明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0"/>
                  </a:ext>
                </a:extLst>
              </a:tr>
              <a:tr h="49945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start_time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起始時間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08:10以後，早於 end_time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1"/>
                  </a:ext>
                </a:extLst>
              </a:tr>
              <a:tr h="49945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end_time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結束時間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22:30以前，晚於 start_time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2"/>
                  </a:ext>
                </a:extLst>
              </a:tr>
              <a:tr h="58677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purpose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用途</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借用目的</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3"/>
                  </a:ext>
                </a:extLst>
              </a:tr>
              <a:tr h="49945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borrow_type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借用類型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ShortTerm / LongTerm</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4"/>
                  </a:ext>
                </a:extLst>
              </a:tr>
              <a:tr h="49945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status</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申請狀態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None/>
                      </a:pPr>
                      <a:r>
                        <a:rPr lang="zh-TW" sz="1200">
                          <a:solidFill>
                            <a:schemeClr val="dk1"/>
                          </a:solidFill>
                          <a:latin typeface="DFKai-SB"/>
                          <a:ea typeface="DFKai-SB"/>
                          <a:cs typeface="DFKai-SB"/>
                          <a:sym typeface="DFKai-SB"/>
                        </a:rPr>
                        <a:t>VARCHAR(10)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否</a:t>
                      </a:r>
                      <a:endParaRPr sz="13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'Pending'</a:t>
                      </a:r>
                      <a:endParaRPr sz="13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Pending / Approved / Rejected / Cancelled</a:t>
                      </a:r>
                      <a:endParaRPr sz="13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5"/>
                  </a:ext>
                </a:extLst>
              </a:tr>
              <a:tr h="499450">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created_at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建立時間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DATETIME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系統當前時間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系統自動記錄</a:t>
                      </a:r>
                      <a:endParaRPr sz="13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585" name="Google Shape;585;p48"/>
          <p:cNvSpPr txBox="1"/>
          <p:nvPr/>
        </p:nvSpPr>
        <p:spPr>
          <a:xfrm>
            <a:off x="623625" y="278050"/>
            <a:ext cx="4487400" cy="74555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zh-TW" sz="2300" b="1" dirty="0">
                <a:solidFill>
                  <a:schemeClr val="dk1"/>
                </a:solidFill>
                <a:latin typeface="DFKai-SB"/>
                <a:ea typeface="DFKai-SB"/>
                <a:cs typeface="DFKai-SB"/>
                <a:sym typeface="DFKai-SB"/>
              </a:rPr>
              <a:t>BorrowRequest（借用申請）</a:t>
            </a:r>
            <a:r>
              <a:rPr lang="en-US" altLang="zh-TW" sz="2300" b="1" dirty="0">
                <a:solidFill>
                  <a:schemeClr val="dk1"/>
                </a:solidFill>
                <a:latin typeface="DFKai-SB"/>
                <a:ea typeface="DFKai-SB"/>
                <a:cs typeface="DFKai-SB"/>
                <a:sym typeface="DFKai-SB"/>
              </a:rPr>
              <a:t>I</a:t>
            </a:r>
            <a:endParaRPr sz="2300" b="1" dirty="0">
              <a:solidFill>
                <a:schemeClr val="dk1"/>
              </a:solidFill>
              <a:latin typeface="DFKai-SB"/>
              <a:ea typeface="DFKai-SB"/>
              <a:cs typeface="DFKai-SB"/>
              <a:sym typeface="DFKai-SB"/>
            </a:endParaRPr>
          </a:p>
        </p:txBody>
      </p:sp>
      <p:grpSp>
        <p:nvGrpSpPr>
          <p:cNvPr id="586" name="Google Shape;586;p48"/>
          <p:cNvGrpSpPr/>
          <p:nvPr/>
        </p:nvGrpSpPr>
        <p:grpSpPr>
          <a:xfrm>
            <a:off x="91496" y="309805"/>
            <a:ext cx="450310" cy="429099"/>
            <a:chOff x="956666" y="3498086"/>
            <a:chExt cx="600413" cy="572132"/>
          </a:xfrm>
        </p:grpSpPr>
        <p:sp>
          <p:nvSpPr>
            <p:cNvPr id="587" name="Google Shape;587;p48"/>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88" name="Google Shape;588;p48"/>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89" name="Google Shape;589;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graphicFrame>
        <p:nvGraphicFramePr>
          <p:cNvPr id="594" name="Google Shape;594;p49"/>
          <p:cNvGraphicFramePr/>
          <p:nvPr/>
        </p:nvGraphicFramePr>
        <p:xfrm>
          <a:off x="329500" y="1550950"/>
          <a:ext cx="8485000" cy="2638845"/>
        </p:xfrm>
        <a:graphic>
          <a:graphicData uri="http://schemas.openxmlformats.org/drawingml/2006/table">
            <a:tbl>
              <a:tblPr>
                <a:noFill/>
                <a:tableStyleId>{AC306F20-B5FA-46C3-8F7C-962CBD427640}</a:tableStyleId>
              </a:tblPr>
              <a:tblGrid>
                <a:gridCol w="1312425">
                  <a:extLst>
                    <a:ext uri="{9D8B030D-6E8A-4147-A177-3AD203B41FA5}">
                      <a16:colId xmlns:a16="http://schemas.microsoft.com/office/drawing/2014/main" val="20000"/>
                    </a:ext>
                  </a:extLst>
                </a:gridCol>
                <a:gridCol w="1187950">
                  <a:extLst>
                    <a:ext uri="{9D8B030D-6E8A-4147-A177-3AD203B41FA5}">
                      <a16:colId xmlns:a16="http://schemas.microsoft.com/office/drawing/2014/main" val="20001"/>
                    </a:ext>
                  </a:extLst>
                </a:gridCol>
                <a:gridCol w="1140550">
                  <a:extLst>
                    <a:ext uri="{9D8B030D-6E8A-4147-A177-3AD203B41FA5}">
                      <a16:colId xmlns:a16="http://schemas.microsoft.com/office/drawing/2014/main" val="20002"/>
                    </a:ext>
                  </a:extLst>
                </a:gridCol>
                <a:gridCol w="856175">
                  <a:extLst>
                    <a:ext uri="{9D8B030D-6E8A-4147-A177-3AD203B41FA5}">
                      <a16:colId xmlns:a16="http://schemas.microsoft.com/office/drawing/2014/main" val="20003"/>
                    </a:ext>
                  </a:extLst>
                </a:gridCol>
                <a:gridCol w="1113350">
                  <a:extLst>
                    <a:ext uri="{9D8B030D-6E8A-4147-A177-3AD203B41FA5}">
                      <a16:colId xmlns:a16="http://schemas.microsoft.com/office/drawing/2014/main" val="20004"/>
                    </a:ext>
                  </a:extLst>
                </a:gridCol>
                <a:gridCol w="2874550">
                  <a:extLst>
                    <a:ext uri="{9D8B030D-6E8A-4147-A177-3AD203B41FA5}">
                      <a16:colId xmlns:a16="http://schemas.microsoft.com/office/drawing/2014/main" val="20005"/>
                    </a:ext>
                  </a:extLst>
                </a:gridCol>
              </a:tblGrid>
              <a:tr h="526500">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欄位名稱</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資料型態</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是否</a:t>
                      </a:r>
                      <a:endParaRPr b="1">
                        <a:latin typeface="DFKai-SB"/>
                        <a:ea typeface="DFKai-SB"/>
                        <a:cs typeface="DFKai-SB"/>
                        <a:sym typeface="DFKai-SB"/>
                      </a:endParaRPr>
                    </a:p>
                    <a:p>
                      <a:pPr marL="0" lvl="0" indent="0" algn="ctr" rtl="0">
                        <a:lnSpc>
                          <a:spcPct val="100000"/>
                        </a:lnSpc>
                        <a:spcBef>
                          <a:spcPts val="0"/>
                        </a:spcBef>
                        <a:spcAft>
                          <a:spcPts val="0"/>
                        </a:spcAft>
                        <a:buNone/>
                      </a:pPr>
                      <a:r>
                        <a:rPr lang="zh-TW" b="1">
                          <a:latin typeface="DFKai-SB"/>
                          <a:ea typeface="DFKai-SB"/>
                          <a:cs typeface="DFKai-SB"/>
                          <a:sym typeface="DFKai-SB"/>
                        </a:rPr>
                        <a:t>可為空</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預設值</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其他說明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0"/>
                  </a:ext>
                </a:extLst>
              </a:tr>
              <a:tr h="499450">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reviewed_at</a:t>
                      </a:r>
                      <a:endParaRPr sz="13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審核完成時間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DATETIME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管理員核准或拒絕時記錄</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1"/>
                  </a:ext>
                </a:extLst>
              </a:tr>
              <a:tr h="499450">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cancelled_at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取消時間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None/>
                      </a:pPr>
                      <a:r>
                        <a:rPr lang="zh-TW" sz="1200">
                          <a:solidFill>
                            <a:schemeClr val="dk1"/>
                          </a:solidFill>
                          <a:latin typeface="DFKai-SB"/>
                          <a:ea typeface="DFKai-SB"/>
                          <a:cs typeface="DFKai-SB"/>
                          <a:sym typeface="DFKai-SB"/>
                        </a:rPr>
                        <a:t>DATETIME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使用者取消借用時記錄</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2"/>
                  </a:ext>
                </a:extLst>
              </a:tr>
              <a:tr h="586775">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is_cleared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是否已清除</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CHAR(1)</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N</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Y、N 兩者之一</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3"/>
                  </a:ext>
                </a:extLst>
              </a:tr>
              <a:tr h="499450">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cleared_at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清除時間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None/>
                      </a:pPr>
                      <a:r>
                        <a:rPr lang="zh-TW" sz="1200">
                          <a:solidFill>
                            <a:schemeClr val="dk1"/>
                          </a:solidFill>
                          <a:latin typeface="DFKai-SB"/>
                          <a:ea typeface="DFKai-SB"/>
                          <a:cs typeface="DFKai-SB"/>
                          <a:sym typeface="DFKai-SB"/>
                        </a:rPr>
                        <a:t>DATETIME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清除系統時記錄</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95" name="Google Shape;595;p49"/>
          <p:cNvSpPr txBox="1"/>
          <p:nvPr/>
        </p:nvSpPr>
        <p:spPr>
          <a:xfrm>
            <a:off x="623625" y="278050"/>
            <a:ext cx="4518000" cy="74555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zh-TW" sz="2300" b="1" dirty="0">
                <a:solidFill>
                  <a:schemeClr val="dk1"/>
                </a:solidFill>
                <a:latin typeface="DFKai-SB"/>
                <a:ea typeface="DFKai-SB"/>
                <a:cs typeface="DFKai-SB"/>
                <a:sym typeface="DFKai-SB"/>
              </a:rPr>
              <a:t>BorrowRequest（借用申請）</a:t>
            </a:r>
            <a:r>
              <a:rPr lang="en-US" altLang="zh-TW" sz="2300" b="1" dirty="0">
                <a:solidFill>
                  <a:schemeClr val="dk1"/>
                </a:solidFill>
                <a:latin typeface="DFKai-SB"/>
                <a:ea typeface="DFKai-SB"/>
                <a:cs typeface="DFKai-SB"/>
                <a:sym typeface="DFKai-SB"/>
              </a:rPr>
              <a:t>II</a:t>
            </a:r>
            <a:endParaRPr sz="2300" b="1" dirty="0">
              <a:solidFill>
                <a:schemeClr val="dk1"/>
              </a:solidFill>
              <a:latin typeface="DFKai-SB"/>
              <a:ea typeface="DFKai-SB"/>
              <a:cs typeface="DFKai-SB"/>
              <a:sym typeface="DFKai-SB"/>
            </a:endParaRPr>
          </a:p>
        </p:txBody>
      </p:sp>
      <p:grpSp>
        <p:nvGrpSpPr>
          <p:cNvPr id="596" name="Google Shape;596;p49"/>
          <p:cNvGrpSpPr/>
          <p:nvPr/>
        </p:nvGrpSpPr>
        <p:grpSpPr>
          <a:xfrm>
            <a:off x="91496" y="309805"/>
            <a:ext cx="450310" cy="429099"/>
            <a:chOff x="956666" y="3498086"/>
            <a:chExt cx="600413" cy="572132"/>
          </a:xfrm>
        </p:grpSpPr>
        <p:sp>
          <p:nvSpPr>
            <p:cNvPr id="597" name="Google Shape;597;p49"/>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598" name="Google Shape;598;p49"/>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599" name="Google Shape;599;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50"/>
          <p:cNvSpPr txBox="1"/>
          <p:nvPr/>
        </p:nvSpPr>
        <p:spPr>
          <a:xfrm>
            <a:off x="503725" y="1020525"/>
            <a:ext cx="3873000" cy="38952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zh-TW" sz="950" b="1">
                <a:solidFill>
                  <a:srgbClr val="0000FF"/>
                </a:solidFill>
                <a:highlight>
                  <a:srgbClr val="FFFFFF"/>
                </a:highlight>
                <a:latin typeface="DFKai-SB"/>
                <a:ea typeface="DFKai-SB"/>
                <a:cs typeface="DFKai-SB"/>
                <a:sym typeface="DFKai-SB"/>
              </a:rPr>
              <a:t>CREATE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TABLE</a:t>
            </a:r>
            <a:r>
              <a:rPr lang="zh-TW" sz="950" b="1">
                <a:solidFill>
                  <a:schemeClr val="dk1"/>
                </a:solidFill>
                <a:highlight>
                  <a:srgbClr val="FFFFFF"/>
                </a:highlight>
                <a:latin typeface="DFKai-SB"/>
                <a:ea typeface="DFKai-SB"/>
                <a:cs typeface="DFKai-SB"/>
                <a:sym typeface="DFKai-SB"/>
              </a:rPr>
              <a:t> </a:t>
            </a:r>
            <a:r>
              <a:rPr lang="zh-TW" sz="950" b="1">
                <a:solidFill>
                  <a:srgbClr val="795E26"/>
                </a:solidFill>
                <a:highlight>
                  <a:srgbClr val="FFFFFF"/>
                </a:highlight>
                <a:latin typeface="DFKai-SB"/>
                <a:ea typeface="DFKai-SB"/>
                <a:cs typeface="DFKai-SB"/>
                <a:sym typeface="DFKai-SB"/>
              </a:rPr>
              <a:t>BorrowRequest</a:t>
            </a:r>
            <a:r>
              <a:rPr lang="zh-TW" sz="950" b="1">
                <a:solidFill>
                  <a:schemeClr val="dk1"/>
                </a:solidFill>
                <a:highlight>
                  <a:srgbClr val="FFFFFF"/>
                </a:highlight>
                <a:latin typeface="DFKai-SB"/>
                <a:ea typeface="DFKai-SB"/>
                <a:cs typeface="DFKai-SB"/>
                <a:sym typeface="DFKai-SB"/>
              </a:rPr>
              <a:t> (</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req_id       </a:t>
            </a:r>
            <a:r>
              <a:rPr lang="zh-TW" sz="950" b="1">
                <a:solidFill>
                  <a:srgbClr val="0000FF"/>
                </a:solidFill>
                <a:highlight>
                  <a:srgbClr val="FFFFFF"/>
                </a:highlight>
                <a:latin typeface="DFKai-SB"/>
                <a:ea typeface="DFKai-SB"/>
                <a:cs typeface="DFKai-SB"/>
                <a:sym typeface="DFKai-SB"/>
              </a:rPr>
              <a:t>INT</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 AUTO_INCREMENT,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user_id      </a:t>
            </a:r>
            <a:r>
              <a:rPr lang="zh-TW" sz="950" b="1">
                <a:solidFill>
                  <a:srgbClr val="0000FF"/>
                </a:solidFill>
                <a:highlight>
                  <a:srgbClr val="FFFFFF"/>
                </a:highlight>
                <a:latin typeface="DFKai-SB"/>
                <a:ea typeface="DFKai-SB"/>
                <a:cs typeface="DFKai-SB"/>
                <a:sym typeface="DFKai-SB"/>
              </a:rPr>
              <a:t>VARCHAR</a:t>
            </a:r>
            <a:r>
              <a:rPr lang="zh-TW" sz="950" b="1">
                <a:solidFill>
                  <a:schemeClr val="dk1"/>
                </a:solidFill>
                <a:highlight>
                  <a:srgbClr val="FFFFFF"/>
                </a:highlight>
                <a:latin typeface="DFKai-SB"/>
                <a:ea typeface="DFKai-SB"/>
                <a:cs typeface="DFKai-SB"/>
                <a:sym typeface="DFKai-SB"/>
              </a:rPr>
              <a:t>(</a:t>
            </a:r>
            <a:r>
              <a:rPr lang="zh-TW" sz="950" b="1">
                <a:solidFill>
                  <a:srgbClr val="098658"/>
                </a:solidFill>
                <a:highlight>
                  <a:srgbClr val="FFFFFF"/>
                </a:highlight>
                <a:latin typeface="DFKai-SB"/>
                <a:ea typeface="DFKai-SB"/>
                <a:cs typeface="DFKai-SB"/>
                <a:sym typeface="DFKai-SB"/>
              </a:rPr>
              <a:t>15</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room_id      </a:t>
            </a:r>
            <a:r>
              <a:rPr lang="zh-TW" sz="950" b="1">
                <a:solidFill>
                  <a:srgbClr val="0000FF"/>
                </a:solidFill>
                <a:highlight>
                  <a:srgbClr val="FFFFFF"/>
                </a:highlight>
                <a:latin typeface="DFKai-SB"/>
                <a:ea typeface="DFKai-SB"/>
                <a:cs typeface="DFKai-SB"/>
                <a:sym typeface="DFKai-SB"/>
              </a:rPr>
              <a:t>VARCHAR</a:t>
            </a:r>
            <a:r>
              <a:rPr lang="zh-TW" sz="950" b="1">
                <a:solidFill>
                  <a:schemeClr val="dk1"/>
                </a:solidFill>
                <a:highlight>
                  <a:srgbClr val="FFFFFF"/>
                </a:highlight>
                <a:latin typeface="DFKai-SB"/>
                <a:ea typeface="DFKai-SB"/>
                <a:cs typeface="DFKai-SB"/>
                <a:sym typeface="DFKai-SB"/>
              </a:rPr>
              <a:t>(</a:t>
            </a:r>
            <a:r>
              <a:rPr lang="zh-TW" sz="950" b="1">
                <a:solidFill>
                  <a:srgbClr val="098658"/>
                </a:solidFill>
                <a:highlight>
                  <a:srgbClr val="FFFFFF"/>
                </a:highlight>
                <a:latin typeface="DFKai-SB"/>
                <a:ea typeface="DFKai-SB"/>
                <a:cs typeface="DFKai-SB"/>
                <a:sym typeface="DFKai-SB"/>
              </a:rPr>
              <a:t>10</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start_date   </a:t>
            </a:r>
            <a:r>
              <a:rPr lang="zh-TW" sz="950" b="1">
                <a:solidFill>
                  <a:srgbClr val="0000FF"/>
                </a:solidFill>
                <a:highlight>
                  <a:srgbClr val="FFFFFF"/>
                </a:highlight>
                <a:latin typeface="DFKai-SB"/>
                <a:ea typeface="DFKai-SB"/>
                <a:cs typeface="DFKai-SB"/>
                <a:sym typeface="DFKai-SB"/>
              </a:rPr>
              <a:t>DATE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end_date     </a:t>
            </a:r>
            <a:r>
              <a:rPr lang="zh-TW" sz="950" b="1">
                <a:solidFill>
                  <a:srgbClr val="0000FF"/>
                </a:solidFill>
                <a:highlight>
                  <a:srgbClr val="FFFFFF"/>
                </a:highlight>
                <a:latin typeface="DFKai-SB"/>
                <a:ea typeface="DFKai-SB"/>
                <a:cs typeface="DFKai-SB"/>
                <a:sym typeface="DFKai-SB"/>
              </a:rPr>
              <a:t>DATE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weekday      </a:t>
            </a:r>
            <a:r>
              <a:rPr lang="zh-TW" sz="950" b="1">
                <a:solidFill>
                  <a:srgbClr val="0000FF"/>
                </a:solidFill>
                <a:highlight>
                  <a:srgbClr val="FFFFFF"/>
                </a:highlight>
                <a:latin typeface="DFKai-SB"/>
                <a:ea typeface="DFKai-SB"/>
                <a:cs typeface="DFKai-SB"/>
                <a:sym typeface="DFKai-SB"/>
              </a:rPr>
              <a:t>INT</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start_time   </a:t>
            </a:r>
            <a:r>
              <a:rPr lang="zh-TW" sz="950" b="1">
                <a:solidFill>
                  <a:srgbClr val="0000FF"/>
                </a:solidFill>
                <a:highlight>
                  <a:srgbClr val="FFFFFF"/>
                </a:highlight>
                <a:latin typeface="DFKai-SB"/>
                <a:ea typeface="DFKai-SB"/>
                <a:cs typeface="DFKai-SB"/>
                <a:sym typeface="DFKai-SB"/>
              </a:rPr>
              <a:t>TIME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end_time     </a:t>
            </a:r>
            <a:r>
              <a:rPr lang="zh-TW" sz="950" b="1">
                <a:solidFill>
                  <a:srgbClr val="0000FF"/>
                </a:solidFill>
                <a:highlight>
                  <a:srgbClr val="FFFFFF"/>
                </a:highlight>
                <a:latin typeface="DFKai-SB"/>
                <a:ea typeface="DFKai-SB"/>
                <a:cs typeface="DFKai-SB"/>
                <a:sym typeface="DFKai-SB"/>
              </a:rPr>
              <a:t>TIME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purpose      </a:t>
            </a:r>
            <a:r>
              <a:rPr lang="zh-TW" sz="950" b="1">
                <a:solidFill>
                  <a:srgbClr val="0000FF"/>
                </a:solidFill>
                <a:highlight>
                  <a:srgbClr val="FFFFFF"/>
                </a:highlight>
                <a:latin typeface="DFKai-SB"/>
                <a:ea typeface="DFKai-SB"/>
                <a:cs typeface="DFKai-SB"/>
                <a:sym typeface="DFKai-SB"/>
              </a:rPr>
              <a:t>VARCHAR</a:t>
            </a:r>
            <a:r>
              <a:rPr lang="zh-TW" sz="950" b="1">
                <a:solidFill>
                  <a:schemeClr val="dk1"/>
                </a:solidFill>
                <a:highlight>
                  <a:srgbClr val="FFFFFF"/>
                </a:highlight>
                <a:latin typeface="DFKai-SB"/>
                <a:ea typeface="DFKai-SB"/>
                <a:cs typeface="DFKai-SB"/>
                <a:sym typeface="DFKai-SB"/>
              </a:rPr>
              <a:t>(</a:t>
            </a:r>
            <a:r>
              <a:rPr lang="zh-TW" sz="950" b="1">
                <a:solidFill>
                  <a:srgbClr val="098658"/>
                </a:solidFill>
                <a:highlight>
                  <a:srgbClr val="FFFFFF"/>
                </a:highlight>
                <a:latin typeface="DFKai-SB"/>
                <a:ea typeface="DFKai-SB"/>
                <a:cs typeface="DFKai-SB"/>
                <a:sym typeface="DFKai-SB"/>
              </a:rPr>
              <a:t>100</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borrow_type  </a:t>
            </a:r>
            <a:r>
              <a:rPr lang="zh-TW" sz="950" b="1">
                <a:solidFill>
                  <a:srgbClr val="0000FF"/>
                </a:solidFill>
                <a:highlight>
                  <a:srgbClr val="FFFFFF"/>
                </a:highlight>
                <a:latin typeface="DFKai-SB"/>
                <a:ea typeface="DFKai-SB"/>
                <a:cs typeface="DFKai-SB"/>
                <a:sym typeface="DFKai-SB"/>
              </a:rPr>
              <a:t>VARCHAR</a:t>
            </a:r>
            <a:r>
              <a:rPr lang="zh-TW" sz="950" b="1">
                <a:solidFill>
                  <a:schemeClr val="dk1"/>
                </a:solidFill>
                <a:highlight>
                  <a:srgbClr val="FFFFFF"/>
                </a:highlight>
                <a:latin typeface="DFKai-SB"/>
                <a:ea typeface="DFKai-SB"/>
                <a:cs typeface="DFKai-SB"/>
                <a:sym typeface="DFKai-SB"/>
              </a:rPr>
              <a:t>(</a:t>
            </a:r>
            <a:r>
              <a:rPr lang="zh-TW" sz="950" b="1">
                <a:solidFill>
                  <a:srgbClr val="098658"/>
                </a:solidFill>
                <a:highlight>
                  <a:srgbClr val="FFFFFF"/>
                </a:highlight>
                <a:latin typeface="DFKai-SB"/>
                <a:ea typeface="DFKai-SB"/>
                <a:cs typeface="DFKai-SB"/>
                <a:sym typeface="DFKai-SB"/>
              </a:rPr>
              <a:t>10</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status       </a:t>
            </a:r>
            <a:r>
              <a:rPr lang="zh-TW" sz="950" b="1">
                <a:solidFill>
                  <a:srgbClr val="0000FF"/>
                </a:solidFill>
                <a:highlight>
                  <a:srgbClr val="FFFFFF"/>
                </a:highlight>
                <a:latin typeface="DFKai-SB"/>
                <a:ea typeface="DFKai-SB"/>
                <a:cs typeface="DFKai-SB"/>
                <a:sym typeface="DFKai-SB"/>
              </a:rPr>
              <a:t>VARCHAR</a:t>
            </a:r>
            <a:r>
              <a:rPr lang="zh-TW" sz="950" b="1">
                <a:solidFill>
                  <a:schemeClr val="dk1"/>
                </a:solidFill>
                <a:highlight>
                  <a:srgbClr val="FFFFFF"/>
                </a:highlight>
                <a:latin typeface="DFKai-SB"/>
                <a:ea typeface="DFKai-SB"/>
                <a:cs typeface="DFKai-SB"/>
                <a:sym typeface="DFKai-SB"/>
              </a:rPr>
              <a:t>(</a:t>
            </a:r>
            <a:r>
              <a:rPr lang="zh-TW" sz="950" b="1">
                <a:solidFill>
                  <a:srgbClr val="098658"/>
                </a:solidFill>
                <a:highlight>
                  <a:srgbClr val="FFFFFF"/>
                </a:highlight>
                <a:latin typeface="DFKai-SB"/>
                <a:ea typeface="DFKai-SB"/>
                <a:cs typeface="DFKai-SB"/>
                <a:sym typeface="DFKai-SB"/>
              </a:rPr>
              <a:t>10</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DEFAULT</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'Pending'</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created_at   </a:t>
            </a:r>
            <a:r>
              <a:rPr lang="zh-TW" sz="950" b="1">
                <a:solidFill>
                  <a:srgbClr val="0000FF"/>
                </a:solidFill>
                <a:highlight>
                  <a:srgbClr val="FFFFFF"/>
                </a:highlight>
                <a:latin typeface="DFKai-SB"/>
                <a:ea typeface="DFKai-SB"/>
                <a:cs typeface="DFKai-SB"/>
                <a:sym typeface="DFKai-SB"/>
              </a:rPr>
              <a:t>DATETIME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DEFAULT</a:t>
            </a:r>
            <a:r>
              <a:rPr lang="zh-TW" sz="950" b="1">
                <a:solidFill>
                  <a:schemeClr val="dk1"/>
                </a:solidFill>
                <a:highlight>
                  <a:srgbClr val="FFFFFF"/>
                </a:highlight>
                <a:latin typeface="DFKai-SB"/>
                <a:ea typeface="DFKai-SB"/>
                <a:cs typeface="DFKai-SB"/>
                <a:sym typeface="DFKai-SB"/>
              </a:rPr>
              <a:t> CURRENT_TIMESTAMP,</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reviewed_at  </a:t>
            </a:r>
            <a:r>
              <a:rPr lang="zh-TW" sz="950" b="1">
                <a:solidFill>
                  <a:srgbClr val="0000FF"/>
                </a:solidFill>
                <a:highlight>
                  <a:srgbClr val="FFFFFF"/>
                </a:highlight>
                <a:latin typeface="DFKai-SB"/>
                <a:ea typeface="DFKai-SB"/>
                <a:cs typeface="DFKai-SB"/>
                <a:sym typeface="DFKai-SB"/>
              </a:rPr>
              <a:t>DATETIME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cancelled_at </a:t>
            </a:r>
            <a:r>
              <a:rPr lang="zh-TW" sz="950" b="1">
                <a:solidFill>
                  <a:srgbClr val="0000FF"/>
                </a:solidFill>
                <a:highlight>
                  <a:srgbClr val="FFFFFF"/>
                </a:highlight>
                <a:latin typeface="DFKai-SB"/>
                <a:ea typeface="DFKai-SB"/>
                <a:cs typeface="DFKai-SB"/>
                <a:sym typeface="DFKai-SB"/>
              </a:rPr>
              <a:t>DATETIME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is_cleared   </a:t>
            </a:r>
            <a:r>
              <a:rPr lang="zh-TW" sz="950" b="1">
                <a:solidFill>
                  <a:srgbClr val="0000FF"/>
                </a:solidFill>
                <a:highlight>
                  <a:srgbClr val="FFFFFF"/>
                </a:highlight>
                <a:latin typeface="DFKai-SB"/>
                <a:ea typeface="DFKai-SB"/>
                <a:cs typeface="DFKai-SB"/>
                <a:sym typeface="DFKai-SB"/>
              </a:rPr>
              <a:t>CHAR</a:t>
            </a:r>
            <a:r>
              <a:rPr lang="zh-TW" sz="950" b="1">
                <a:solidFill>
                  <a:schemeClr val="dk1"/>
                </a:solidFill>
                <a:highlight>
                  <a:srgbClr val="FFFFFF"/>
                </a:highlight>
                <a:latin typeface="DFKai-SB"/>
                <a:ea typeface="DFKai-SB"/>
                <a:cs typeface="DFKai-SB"/>
                <a:sym typeface="DFKai-SB"/>
              </a:rPr>
              <a:t>(</a:t>
            </a:r>
            <a:r>
              <a:rPr lang="zh-TW" sz="950" b="1">
                <a:solidFill>
                  <a:srgbClr val="098658"/>
                </a:solidFill>
                <a:highlight>
                  <a:srgbClr val="FFFFFF"/>
                </a:highlight>
                <a:latin typeface="DFKai-SB"/>
                <a:ea typeface="DFKai-SB"/>
                <a:cs typeface="DFKai-SB"/>
                <a:sym typeface="DFKai-SB"/>
              </a:rPr>
              <a:t>1</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NOT NULL</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DEFAULT</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'N'</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cleared_at   </a:t>
            </a:r>
            <a:r>
              <a:rPr lang="zh-TW" sz="950" b="1">
                <a:solidFill>
                  <a:srgbClr val="0000FF"/>
                </a:solidFill>
                <a:highlight>
                  <a:srgbClr val="FFFFFF"/>
                </a:highlight>
                <a:latin typeface="DFKai-SB"/>
                <a:ea typeface="DFKai-SB"/>
                <a:cs typeface="DFKai-SB"/>
                <a:sym typeface="DFKai-SB"/>
              </a:rPr>
              <a:t>DATETIME</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15000"/>
              </a:lnSpc>
              <a:spcBef>
                <a:spcPts val="0"/>
              </a:spcBef>
              <a:spcAft>
                <a:spcPts val="0"/>
              </a:spcAft>
              <a:buNone/>
            </a:pPr>
            <a:endParaRPr sz="900" b="1">
              <a:solidFill>
                <a:schemeClr val="dk1"/>
              </a:solidFill>
              <a:latin typeface="DFKai-SB"/>
              <a:ea typeface="DFKai-SB"/>
              <a:cs typeface="DFKai-SB"/>
              <a:sym typeface="DFKai-SB"/>
            </a:endParaRPr>
          </a:p>
        </p:txBody>
      </p:sp>
      <p:sp>
        <p:nvSpPr>
          <p:cNvPr id="605" name="Google Shape;605;p50"/>
          <p:cNvSpPr txBox="1"/>
          <p:nvPr/>
        </p:nvSpPr>
        <p:spPr>
          <a:xfrm>
            <a:off x="892350" y="243350"/>
            <a:ext cx="42288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2300" b="1">
                <a:solidFill>
                  <a:schemeClr val="dk1"/>
                </a:solidFill>
                <a:latin typeface="DFKai-SB"/>
                <a:ea typeface="DFKai-SB"/>
                <a:cs typeface="DFKai-SB"/>
                <a:sym typeface="DFKai-SB"/>
              </a:rPr>
              <a:t>建立 BorrowRequest 資料表</a:t>
            </a:r>
            <a:endParaRPr sz="2300" b="1">
              <a:latin typeface="DFKai-SB"/>
              <a:ea typeface="DFKai-SB"/>
              <a:cs typeface="DFKai-SB"/>
              <a:sym typeface="DFKai-SB"/>
            </a:endParaRPr>
          </a:p>
        </p:txBody>
      </p:sp>
      <p:grpSp>
        <p:nvGrpSpPr>
          <p:cNvPr id="606" name="Google Shape;606;p50"/>
          <p:cNvGrpSpPr/>
          <p:nvPr/>
        </p:nvGrpSpPr>
        <p:grpSpPr>
          <a:xfrm>
            <a:off x="382271" y="259655"/>
            <a:ext cx="450310" cy="429099"/>
            <a:chOff x="956666" y="3498086"/>
            <a:chExt cx="600413" cy="572132"/>
          </a:xfrm>
        </p:grpSpPr>
        <p:sp>
          <p:nvSpPr>
            <p:cNvPr id="607" name="Google Shape;607;p50"/>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08" name="Google Shape;608;p50"/>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09" name="Google Shape;609;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42</a:t>
            </a:fld>
            <a:endParaRPr/>
          </a:p>
        </p:txBody>
      </p:sp>
      <p:sp>
        <p:nvSpPr>
          <p:cNvPr id="610" name="Google Shape;610;p50"/>
          <p:cNvSpPr txBox="1"/>
          <p:nvPr/>
        </p:nvSpPr>
        <p:spPr>
          <a:xfrm>
            <a:off x="4065450" y="1020525"/>
            <a:ext cx="4955700" cy="40938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PRIMARY KEY</a:t>
            </a:r>
            <a:r>
              <a:rPr lang="zh-TW" sz="950" b="1">
                <a:solidFill>
                  <a:schemeClr val="dk1"/>
                </a:solidFill>
                <a:highlight>
                  <a:srgbClr val="FFFFFF"/>
                </a:highlight>
                <a:latin typeface="DFKai-SB"/>
                <a:ea typeface="DFKai-SB"/>
                <a:cs typeface="DFKai-SB"/>
                <a:sym typeface="DFKai-SB"/>
              </a:rPr>
              <a:t> (req_id),</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FOREIGN KEY</a:t>
            </a:r>
            <a:r>
              <a:rPr lang="zh-TW" sz="950" b="1">
                <a:solidFill>
                  <a:schemeClr val="dk1"/>
                </a:solidFill>
                <a:highlight>
                  <a:srgbClr val="FFFFFF"/>
                </a:highlight>
                <a:latin typeface="DFKai-SB"/>
                <a:ea typeface="DFKai-SB"/>
                <a:cs typeface="DFKai-SB"/>
                <a:sym typeface="DFKai-SB"/>
              </a:rPr>
              <a:t> (user_id) </a:t>
            </a:r>
            <a:r>
              <a:rPr lang="zh-TW" sz="950" b="1">
                <a:solidFill>
                  <a:srgbClr val="0000FF"/>
                </a:solidFill>
                <a:highlight>
                  <a:srgbClr val="FFFFFF"/>
                </a:highlight>
                <a:latin typeface="DFKai-SB"/>
                <a:ea typeface="DFKai-SB"/>
                <a:cs typeface="DFKai-SB"/>
                <a:sym typeface="DFKai-SB"/>
              </a:rPr>
              <a:t>REFERENCES</a:t>
            </a:r>
            <a:r>
              <a:rPr lang="zh-TW" sz="950" b="1">
                <a:solidFill>
                  <a:schemeClr val="dk1"/>
                </a:solidFill>
                <a:highlight>
                  <a:srgbClr val="FFFFFF"/>
                </a:highlight>
                <a:latin typeface="DFKai-SB"/>
                <a:ea typeface="DFKai-SB"/>
                <a:cs typeface="DFKai-SB"/>
                <a:sym typeface="DFKai-SB"/>
              </a:rPr>
              <a:t> User(user_id),</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FOREIGN KEY</a:t>
            </a:r>
            <a:r>
              <a:rPr lang="zh-TW" sz="950" b="1">
                <a:solidFill>
                  <a:schemeClr val="dk1"/>
                </a:solidFill>
                <a:highlight>
                  <a:srgbClr val="FFFFFF"/>
                </a:highlight>
                <a:latin typeface="DFKai-SB"/>
                <a:ea typeface="DFKai-SB"/>
                <a:cs typeface="DFKai-SB"/>
                <a:sym typeface="DFKai-SB"/>
              </a:rPr>
              <a:t> (room_id) </a:t>
            </a:r>
            <a:r>
              <a:rPr lang="zh-TW" sz="950" b="1">
                <a:solidFill>
                  <a:srgbClr val="0000FF"/>
                </a:solidFill>
                <a:highlight>
                  <a:srgbClr val="FFFFFF"/>
                </a:highlight>
                <a:latin typeface="DFKai-SB"/>
                <a:ea typeface="DFKai-SB"/>
                <a:cs typeface="DFKai-SB"/>
                <a:sym typeface="DFKai-SB"/>
              </a:rPr>
              <a:t>REFERENCES</a:t>
            </a:r>
            <a:r>
              <a:rPr lang="zh-TW" sz="950" b="1">
                <a:solidFill>
                  <a:schemeClr val="dk1"/>
                </a:solidFill>
                <a:highlight>
                  <a:srgbClr val="FFFFFF"/>
                </a:highlight>
                <a:latin typeface="DFKai-SB"/>
                <a:ea typeface="DFKai-SB"/>
                <a:cs typeface="DFKai-SB"/>
                <a:sym typeface="DFKai-SB"/>
              </a:rPr>
              <a:t> Room(room_id),</a:t>
            </a:r>
            <a:endParaRPr sz="950" b="1">
              <a:solidFill>
                <a:srgbClr val="008000"/>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(start_date &lt;= end_date),</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(start_time &lt; end_time),</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(start_time &gt;= </a:t>
            </a:r>
            <a:r>
              <a:rPr lang="zh-TW" sz="950" b="1">
                <a:solidFill>
                  <a:srgbClr val="A31515"/>
                </a:solidFill>
                <a:highlight>
                  <a:srgbClr val="FFFFFF"/>
                </a:highlight>
                <a:latin typeface="DFKai-SB"/>
                <a:ea typeface="DFKai-SB"/>
                <a:cs typeface="DFKai-SB"/>
                <a:sym typeface="DFKai-SB"/>
              </a:rPr>
              <a:t>'08:10:00'</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AND</a:t>
            </a:r>
            <a:r>
              <a:rPr lang="zh-TW" sz="950" b="1">
                <a:solidFill>
                  <a:schemeClr val="dk1"/>
                </a:solidFill>
                <a:highlight>
                  <a:srgbClr val="FFFFFF"/>
                </a:highlight>
                <a:latin typeface="DFKai-SB"/>
                <a:ea typeface="DFKai-SB"/>
                <a:cs typeface="DFKai-SB"/>
                <a:sym typeface="DFKai-SB"/>
              </a:rPr>
              <a:t> end_time &lt;= </a:t>
            </a:r>
            <a:r>
              <a:rPr lang="zh-TW" sz="950" b="1">
                <a:solidFill>
                  <a:srgbClr val="A31515"/>
                </a:solidFill>
                <a:highlight>
                  <a:srgbClr val="FFFFFF"/>
                </a:highlight>
                <a:latin typeface="DFKai-SB"/>
                <a:ea typeface="DFKai-SB"/>
                <a:cs typeface="DFKai-SB"/>
                <a:sym typeface="DFKai-SB"/>
              </a:rPr>
              <a:t>'22:30:00'</a:t>
            </a:r>
            <a:r>
              <a:rPr lang="zh-TW" sz="950" b="1">
                <a:solidFill>
                  <a:schemeClr val="dk1"/>
                </a:solidFill>
                <a:highlight>
                  <a:srgbClr val="FFFFFF"/>
                </a:highlight>
                <a:latin typeface="DFKai-SB"/>
                <a:ea typeface="DFKai-SB"/>
                <a:cs typeface="DFKai-SB"/>
                <a:sym typeface="DFKai-SB"/>
              </a:rPr>
              <a:t>),</a:t>
            </a:r>
            <a:endParaRPr sz="950" b="1">
              <a:solidFill>
                <a:srgbClr val="008000"/>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(borrow_type = </a:t>
            </a:r>
            <a:r>
              <a:rPr lang="zh-TW" sz="950" b="1">
                <a:solidFill>
                  <a:srgbClr val="A31515"/>
                </a:solidFill>
                <a:highlight>
                  <a:srgbClr val="FFFFFF"/>
                </a:highlight>
                <a:latin typeface="DFKai-SB"/>
                <a:ea typeface="DFKai-SB"/>
                <a:cs typeface="DFKai-SB"/>
                <a:sym typeface="DFKai-SB"/>
              </a:rPr>
              <a:t>'ShortTerm'</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AND</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weekday</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IS</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OR</a:t>
            </a:r>
            <a:endParaRPr sz="950" b="1">
              <a:solidFill>
                <a:srgbClr val="0000FF"/>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(borrow_type = </a:t>
            </a:r>
            <a:r>
              <a:rPr lang="zh-TW" sz="950" b="1">
                <a:solidFill>
                  <a:srgbClr val="A31515"/>
                </a:solidFill>
                <a:highlight>
                  <a:srgbClr val="FFFFFF"/>
                </a:highlight>
                <a:latin typeface="DFKai-SB"/>
                <a:ea typeface="DFKai-SB"/>
                <a:cs typeface="DFKai-SB"/>
                <a:sym typeface="DFKai-SB"/>
              </a:rPr>
              <a:t>'LongTerm'</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AND</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weekday</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BETWEEN</a:t>
            </a:r>
            <a:r>
              <a:rPr lang="zh-TW" sz="950" b="1">
                <a:solidFill>
                  <a:schemeClr val="dk1"/>
                </a:solidFill>
                <a:highlight>
                  <a:srgbClr val="FFFFFF"/>
                </a:highlight>
                <a:latin typeface="DFKai-SB"/>
                <a:ea typeface="DFKai-SB"/>
                <a:cs typeface="DFKai-SB"/>
                <a:sym typeface="DFKai-SB"/>
              </a:rPr>
              <a:t> </a:t>
            </a:r>
            <a:r>
              <a:rPr lang="zh-TW" sz="950" b="1">
                <a:solidFill>
                  <a:srgbClr val="098658"/>
                </a:solidFill>
                <a:highlight>
                  <a:srgbClr val="FFFFFF"/>
                </a:highlight>
                <a:latin typeface="DFKai-SB"/>
                <a:ea typeface="DFKai-SB"/>
                <a:cs typeface="DFKai-SB"/>
                <a:sym typeface="DFKai-SB"/>
              </a:rPr>
              <a:t>1</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AND</a:t>
            </a:r>
            <a:r>
              <a:rPr lang="zh-TW" sz="950" b="1">
                <a:solidFill>
                  <a:schemeClr val="dk1"/>
                </a:solidFill>
                <a:highlight>
                  <a:srgbClr val="FFFFFF"/>
                </a:highlight>
                <a:latin typeface="DFKai-SB"/>
                <a:ea typeface="DFKai-SB"/>
                <a:cs typeface="DFKai-SB"/>
                <a:sym typeface="DFKai-SB"/>
              </a:rPr>
              <a:t> </a:t>
            </a:r>
            <a:r>
              <a:rPr lang="zh-TW" sz="950" b="1">
                <a:solidFill>
                  <a:srgbClr val="098658"/>
                </a:solidFill>
                <a:highlight>
                  <a:srgbClr val="FFFFFF"/>
                </a:highlight>
                <a:latin typeface="DFKai-SB"/>
                <a:ea typeface="DFKai-SB"/>
                <a:cs typeface="DFKai-SB"/>
                <a:sym typeface="DFKai-SB"/>
              </a:rPr>
              <a:t>7</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endParaRPr sz="950" b="1">
              <a:solidFill>
                <a:srgbClr val="008000"/>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(borrow_type </a:t>
            </a:r>
            <a:r>
              <a:rPr lang="zh-TW" sz="950" b="1">
                <a:solidFill>
                  <a:srgbClr val="0000FF"/>
                </a:solidFill>
                <a:highlight>
                  <a:srgbClr val="FFFFFF"/>
                </a:highlight>
                <a:latin typeface="DFKai-SB"/>
                <a:ea typeface="DFKai-SB"/>
                <a:cs typeface="DFKai-SB"/>
                <a:sym typeface="DFKai-SB"/>
              </a:rPr>
              <a:t>IN</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'ShortTerm'</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'LongTerm'</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(status </a:t>
            </a:r>
            <a:r>
              <a:rPr lang="zh-TW" sz="950" b="1">
                <a:solidFill>
                  <a:srgbClr val="0000FF"/>
                </a:solidFill>
                <a:highlight>
                  <a:srgbClr val="FFFFFF"/>
                </a:highlight>
                <a:latin typeface="DFKai-SB"/>
                <a:ea typeface="DFKai-SB"/>
                <a:cs typeface="DFKai-SB"/>
                <a:sym typeface="DFKai-SB"/>
              </a:rPr>
              <a:t>IN</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'Pending'</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'Approved'</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'Rejected'</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'Cancelled'</a:t>
            </a:r>
            <a:r>
              <a:rPr lang="zh-TW" sz="950" b="1">
                <a:solidFill>
                  <a:schemeClr val="dk1"/>
                </a:solidFill>
                <a:highlight>
                  <a:srgbClr val="FFFFFF"/>
                </a:highlight>
                <a:latin typeface="DFKai-SB"/>
                <a:ea typeface="DFKai-SB"/>
                <a:cs typeface="DFKai-SB"/>
                <a:sym typeface="DFKai-SB"/>
              </a:rPr>
              <a:t>)),</a:t>
            </a:r>
            <a:endParaRPr sz="950" b="1">
              <a:solidFill>
                <a:srgbClr val="008000"/>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(reviewed_at </a:t>
            </a:r>
            <a:r>
              <a:rPr lang="zh-TW" sz="950" b="1">
                <a:solidFill>
                  <a:srgbClr val="0000FF"/>
                </a:solidFill>
                <a:highlight>
                  <a:srgbClr val="FFFFFF"/>
                </a:highlight>
                <a:latin typeface="DFKai-SB"/>
                <a:ea typeface="DFKai-SB"/>
                <a:cs typeface="DFKai-SB"/>
                <a:sym typeface="DFKai-SB"/>
              </a:rPr>
              <a:t>IS</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OR</a:t>
            </a:r>
            <a:r>
              <a:rPr lang="zh-TW" sz="950" b="1">
                <a:solidFill>
                  <a:schemeClr val="dk1"/>
                </a:solidFill>
                <a:highlight>
                  <a:srgbClr val="FFFFFF"/>
                </a:highlight>
                <a:latin typeface="DFKai-SB"/>
                <a:ea typeface="DFKai-SB"/>
                <a:cs typeface="DFKai-SB"/>
                <a:sym typeface="DFKai-SB"/>
              </a:rPr>
              <a:t> reviewed_at &gt;= created_at),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(cancelled_at </a:t>
            </a:r>
            <a:r>
              <a:rPr lang="zh-TW" sz="950" b="1">
                <a:solidFill>
                  <a:srgbClr val="0000FF"/>
                </a:solidFill>
                <a:highlight>
                  <a:srgbClr val="FFFFFF"/>
                </a:highlight>
                <a:latin typeface="DFKai-SB"/>
                <a:ea typeface="DFKai-SB"/>
                <a:cs typeface="DFKai-SB"/>
                <a:sym typeface="DFKai-SB"/>
              </a:rPr>
              <a:t>IS</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OR</a:t>
            </a:r>
            <a:r>
              <a:rPr lang="zh-TW" sz="950" b="1">
                <a:solidFill>
                  <a:schemeClr val="dk1"/>
                </a:solidFill>
                <a:highlight>
                  <a:srgbClr val="FFFFFF"/>
                </a:highlight>
                <a:latin typeface="DFKai-SB"/>
                <a:ea typeface="DFKai-SB"/>
                <a:cs typeface="DFKai-SB"/>
                <a:sym typeface="DFKai-SB"/>
              </a:rPr>
              <a:t> cancelled_at &gt;= created_at),</a:t>
            </a:r>
            <a:endParaRPr sz="950" b="1">
              <a:solidFill>
                <a:srgbClr val="008000"/>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(status &lt;&gt; </a:t>
            </a:r>
            <a:r>
              <a:rPr lang="zh-TW" sz="950" b="1">
                <a:solidFill>
                  <a:srgbClr val="A31515"/>
                </a:solidFill>
                <a:highlight>
                  <a:srgbClr val="FFFFFF"/>
                </a:highlight>
                <a:latin typeface="DFKai-SB"/>
                <a:ea typeface="DFKai-SB"/>
                <a:cs typeface="DFKai-SB"/>
                <a:sym typeface="DFKai-SB"/>
              </a:rPr>
              <a:t>'Cancelled'</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OR</a:t>
            </a:r>
            <a:r>
              <a:rPr lang="zh-TW" sz="950" b="1">
                <a:solidFill>
                  <a:schemeClr val="dk1"/>
                </a:solidFill>
                <a:highlight>
                  <a:srgbClr val="FFFFFF"/>
                </a:highlight>
                <a:latin typeface="DFKai-SB"/>
                <a:ea typeface="DFKai-SB"/>
                <a:cs typeface="DFKai-SB"/>
                <a:sym typeface="DFKai-SB"/>
              </a:rPr>
              <a:t> cancelled_at </a:t>
            </a:r>
            <a:r>
              <a:rPr lang="zh-TW" sz="950" b="1">
                <a:solidFill>
                  <a:srgbClr val="0000FF"/>
                </a:solidFill>
                <a:highlight>
                  <a:srgbClr val="FFFFFF"/>
                </a:highlight>
                <a:latin typeface="DFKai-SB"/>
                <a:ea typeface="DFKai-SB"/>
                <a:cs typeface="DFKai-SB"/>
                <a:sym typeface="DFKai-SB"/>
              </a:rPr>
              <a:t>IS NOT NULL</a:t>
            </a:r>
            <a:r>
              <a:rPr lang="zh-TW" sz="950" b="1">
                <a:solidFill>
                  <a:schemeClr val="dk1"/>
                </a:solidFill>
                <a:highlight>
                  <a:srgbClr val="FFFFFF"/>
                </a:highlight>
                <a:latin typeface="DFKai-SB"/>
                <a:ea typeface="DFKai-SB"/>
                <a:cs typeface="DFKai-SB"/>
                <a:sym typeface="DFKai-SB"/>
              </a:rPr>
              <a:t>),</a:t>
            </a:r>
            <a:endParaRPr sz="950" b="1">
              <a:solidFill>
                <a:srgbClr val="008000"/>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(is_cleared </a:t>
            </a:r>
            <a:r>
              <a:rPr lang="zh-TW" sz="950" b="1">
                <a:solidFill>
                  <a:srgbClr val="0000FF"/>
                </a:solidFill>
                <a:highlight>
                  <a:srgbClr val="FFFFFF"/>
                </a:highlight>
                <a:latin typeface="DFKai-SB"/>
                <a:ea typeface="DFKai-SB"/>
                <a:cs typeface="DFKai-SB"/>
                <a:sym typeface="DFKai-SB"/>
              </a:rPr>
              <a:t>IN</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'Y'</a:t>
            </a:r>
            <a:r>
              <a:rPr lang="zh-TW" sz="950" b="1">
                <a:solidFill>
                  <a:schemeClr val="dk1"/>
                </a:solidFill>
                <a:highlight>
                  <a:srgbClr val="FFFFFF"/>
                </a:highlight>
                <a:latin typeface="DFKai-SB"/>
                <a:ea typeface="DFKai-SB"/>
                <a:cs typeface="DFKai-SB"/>
                <a:sym typeface="DFKai-SB"/>
              </a:rPr>
              <a:t>, </a:t>
            </a:r>
            <a:r>
              <a:rPr lang="zh-TW" sz="950" b="1">
                <a:solidFill>
                  <a:srgbClr val="A31515"/>
                </a:solidFill>
                <a:highlight>
                  <a:srgbClr val="FFFFFF"/>
                </a:highlight>
                <a:latin typeface="DFKai-SB"/>
                <a:ea typeface="DFKai-SB"/>
                <a:cs typeface="DFKai-SB"/>
                <a:sym typeface="DFKai-SB"/>
              </a:rPr>
              <a:t>'N'</a:t>
            </a: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CHECK</a:t>
            </a:r>
            <a:r>
              <a:rPr lang="zh-TW" sz="950" b="1">
                <a:solidFill>
                  <a:schemeClr val="dk1"/>
                </a:solidFill>
                <a:highlight>
                  <a:srgbClr val="FFFFFF"/>
                </a:highlight>
                <a:latin typeface="DFKai-SB"/>
                <a:ea typeface="DFKai-SB"/>
                <a:cs typeface="DFKai-SB"/>
                <a:sym typeface="DFKai-SB"/>
              </a:rPr>
              <a:t> (cleared_at </a:t>
            </a:r>
            <a:r>
              <a:rPr lang="zh-TW" sz="950" b="1">
                <a:solidFill>
                  <a:srgbClr val="0000FF"/>
                </a:solidFill>
                <a:highlight>
                  <a:srgbClr val="FFFFFF"/>
                </a:highlight>
                <a:latin typeface="DFKai-SB"/>
                <a:ea typeface="DFKai-SB"/>
                <a:cs typeface="DFKai-SB"/>
                <a:sym typeface="DFKai-SB"/>
              </a:rPr>
              <a:t>IS</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NULL</a:t>
            </a:r>
            <a:r>
              <a:rPr lang="zh-TW" sz="950" b="1">
                <a:solidFill>
                  <a:schemeClr val="dk1"/>
                </a:solidFill>
                <a:highlight>
                  <a:srgbClr val="FFFFFF"/>
                </a:highlight>
                <a:latin typeface="DFKai-SB"/>
                <a:ea typeface="DFKai-SB"/>
                <a:cs typeface="DFKai-SB"/>
                <a:sym typeface="DFKai-SB"/>
              </a:rPr>
              <a:t> </a:t>
            </a:r>
            <a:r>
              <a:rPr lang="zh-TW" sz="950" b="1">
                <a:solidFill>
                  <a:srgbClr val="0000FF"/>
                </a:solidFill>
                <a:highlight>
                  <a:srgbClr val="FFFFFF"/>
                </a:highlight>
                <a:latin typeface="DFKai-SB"/>
                <a:ea typeface="DFKai-SB"/>
                <a:cs typeface="DFKai-SB"/>
                <a:sym typeface="DFKai-SB"/>
              </a:rPr>
              <a:t>OR</a:t>
            </a:r>
            <a:r>
              <a:rPr lang="zh-TW" sz="950" b="1">
                <a:solidFill>
                  <a:schemeClr val="dk1"/>
                </a:solidFill>
                <a:highlight>
                  <a:srgbClr val="FFFFFF"/>
                </a:highlight>
                <a:latin typeface="DFKai-SB"/>
                <a:ea typeface="DFKai-SB"/>
                <a:cs typeface="DFKai-SB"/>
                <a:sym typeface="DFKai-SB"/>
              </a:rPr>
              <a:t> cleared_at &gt;= created_at)</a:t>
            </a:r>
            <a:endParaRPr sz="95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950" b="1">
                <a:solidFill>
                  <a:schemeClr val="dk1"/>
                </a:solidFill>
                <a:highlight>
                  <a:srgbClr val="FFFFFF"/>
                </a:highlight>
                <a:latin typeface="DFKai-SB"/>
                <a:ea typeface="DFKai-SB"/>
                <a:cs typeface="DFKai-SB"/>
                <a:sym typeface="DFKai-SB"/>
              </a:rPr>
              <a:t>);</a:t>
            </a:r>
            <a:endParaRPr sz="950" b="1">
              <a:solidFill>
                <a:schemeClr val="dk1"/>
              </a:solidFill>
              <a:highlight>
                <a:srgbClr val="FFFFFF"/>
              </a:highlight>
              <a:latin typeface="DFKai-SB"/>
              <a:ea typeface="DFKai-SB"/>
              <a:cs typeface="DFKai-SB"/>
              <a:sym typeface="DFKai-SB"/>
            </a:endParaRPr>
          </a:p>
          <a:p>
            <a:pPr marL="0" lvl="0" indent="0" algn="l" rtl="0">
              <a:lnSpc>
                <a:spcPct val="115000"/>
              </a:lnSpc>
              <a:spcBef>
                <a:spcPts val="0"/>
              </a:spcBef>
              <a:spcAft>
                <a:spcPts val="0"/>
              </a:spcAft>
              <a:buNone/>
            </a:pPr>
            <a:endParaRPr sz="900" b="1">
              <a:solidFill>
                <a:schemeClr val="dk1"/>
              </a:solidFill>
              <a:latin typeface="DFKai-SB"/>
              <a:ea typeface="DFKai-SB"/>
              <a:cs typeface="DFKai-SB"/>
              <a:sym typeface="DFKai-SB"/>
            </a:endParaRPr>
          </a:p>
        </p:txBody>
      </p:sp>
      <p:cxnSp>
        <p:nvCxnSpPr>
          <p:cNvPr id="611" name="Google Shape;611;p50"/>
          <p:cNvCxnSpPr/>
          <p:nvPr/>
        </p:nvCxnSpPr>
        <p:spPr>
          <a:xfrm flipH="1">
            <a:off x="4085350" y="1226200"/>
            <a:ext cx="9600" cy="3756600"/>
          </a:xfrm>
          <a:prstGeom prst="straightConnector1">
            <a:avLst/>
          </a:prstGeom>
          <a:noFill/>
          <a:ln w="9525" cap="flat" cmpd="sng">
            <a:solidFill>
              <a:schemeClr val="accent3"/>
            </a:solidFill>
            <a:prstDash val="solid"/>
            <a:round/>
            <a:headEnd type="none" w="med" len="med"/>
            <a:tailEnd type="none" w="med" len="med"/>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92">
          <a:extLst>
            <a:ext uri="{FF2B5EF4-FFF2-40B4-BE49-F238E27FC236}">
              <a16:creationId xmlns:a16="http://schemas.microsoft.com/office/drawing/2014/main" id="{993F219A-B2C9-D539-00FE-920B647FA881}"/>
            </a:ext>
          </a:extLst>
        </p:cNvPr>
        <p:cNvGrpSpPr/>
        <p:nvPr/>
      </p:nvGrpSpPr>
      <p:grpSpPr>
        <a:xfrm>
          <a:off x="0" y="0"/>
          <a:ext cx="0" cy="0"/>
          <a:chOff x="0" y="0"/>
          <a:chExt cx="0" cy="0"/>
        </a:xfrm>
      </p:grpSpPr>
      <p:sp>
        <p:nvSpPr>
          <p:cNvPr id="693" name="Google Shape;693;p58">
            <a:extLst>
              <a:ext uri="{FF2B5EF4-FFF2-40B4-BE49-F238E27FC236}">
                <a16:creationId xmlns:a16="http://schemas.microsoft.com/office/drawing/2014/main" id="{DA505C35-AB5C-7CB5-CFEB-E2165048EC57}"/>
              </a:ext>
            </a:extLst>
          </p:cNvPr>
          <p:cNvSpPr txBox="1"/>
          <p:nvPr/>
        </p:nvSpPr>
        <p:spPr>
          <a:xfrm>
            <a:off x="216950" y="1149550"/>
            <a:ext cx="8170500" cy="383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INSERT INTO BorrowRequest</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(req_id, user_id, room_id, start_date, end_date, weekday, start_time, end_time,</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 purpose, borrow_type, status, created_at, reviewed_at, cancelled_at, is_cleared, cleared_at)</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VALUES</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(1, 'T0001', 'BGC0614', '2026-06-10', '2026-06-10', NULL, '09:00:00', '12:00:00', '補課', 'ShortTerm', 'Approved', '2026-05-20 10:00:00', '2026-05-21 14:00:00', NULL, 'N', NULL),</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(2, 'S41243101', 'BGC0614', '2026-06-10', '2026-06-10', NULL, '09:00:00', '10:00:00', '小組報告練習', 'ShortTerm', 'Rejected', '2026-05-20 10:10:00', '2026-05-21 14:05:00', NULL, 'N', NULL),</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(3, 'S41243103', 'BGC0501', '2026-06-15', '2026-06-15', NULL, '10:00:00', '11:00:00', '專題討論', 'ShortTerm', 'Pending', '2026-05-25 09:00:00', NULL, NULL, 'N', NULL);</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sz="1300" b="1">
              <a:solidFill>
                <a:schemeClr val="dk1"/>
              </a:solidFill>
              <a:latin typeface="Courier New"/>
              <a:ea typeface="Courier New"/>
              <a:cs typeface="Courier New"/>
              <a:sym typeface="Courier New"/>
            </a:endParaRPr>
          </a:p>
        </p:txBody>
      </p:sp>
      <p:grpSp>
        <p:nvGrpSpPr>
          <p:cNvPr id="694" name="Google Shape;694;p58">
            <a:extLst>
              <a:ext uri="{FF2B5EF4-FFF2-40B4-BE49-F238E27FC236}">
                <a16:creationId xmlns:a16="http://schemas.microsoft.com/office/drawing/2014/main" id="{651E62CC-213B-9DA0-EC14-E653B8644BEE}"/>
              </a:ext>
            </a:extLst>
          </p:cNvPr>
          <p:cNvGrpSpPr/>
          <p:nvPr/>
        </p:nvGrpSpPr>
        <p:grpSpPr>
          <a:xfrm>
            <a:off x="382271" y="259655"/>
            <a:ext cx="450310" cy="429099"/>
            <a:chOff x="956666" y="3498086"/>
            <a:chExt cx="600413" cy="572132"/>
          </a:xfrm>
        </p:grpSpPr>
        <p:sp>
          <p:nvSpPr>
            <p:cNvPr id="695" name="Google Shape;695;p58">
              <a:extLst>
                <a:ext uri="{FF2B5EF4-FFF2-40B4-BE49-F238E27FC236}">
                  <a16:creationId xmlns:a16="http://schemas.microsoft.com/office/drawing/2014/main" id="{542998F1-D83D-DF36-2D4A-800B834A037B}"/>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96" name="Google Shape;696;p58">
              <a:extLst>
                <a:ext uri="{FF2B5EF4-FFF2-40B4-BE49-F238E27FC236}">
                  <a16:creationId xmlns:a16="http://schemas.microsoft.com/office/drawing/2014/main" id="{02EBDF13-AEFB-0BC4-93EF-D4E27AF65CBB}"/>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97" name="Google Shape;697;p58">
            <a:extLst>
              <a:ext uri="{FF2B5EF4-FFF2-40B4-BE49-F238E27FC236}">
                <a16:creationId xmlns:a16="http://schemas.microsoft.com/office/drawing/2014/main" id="{85571D5A-2E7F-9A45-79B5-AE4FE9CA0718}"/>
              </a:ext>
            </a:extLst>
          </p:cNvPr>
          <p:cNvSpPr txBox="1"/>
          <p:nvPr/>
        </p:nvSpPr>
        <p:spPr>
          <a:xfrm>
            <a:off x="1012675" y="231800"/>
            <a:ext cx="3705300" cy="929968"/>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BorrowRequest 資料範例</a:t>
            </a:r>
            <a:r>
              <a:rPr lang="en-US" altLang="zh-TW" sz="2300" b="1" dirty="0">
                <a:solidFill>
                  <a:schemeClr val="dk1"/>
                </a:solidFill>
                <a:latin typeface="DFKai-SB"/>
                <a:ea typeface="DFKai-SB"/>
                <a:cs typeface="DFKai-SB"/>
                <a:sym typeface="DFKai-SB"/>
              </a:rPr>
              <a:t>I</a:t>
            </a:r>
            <a:endParaRPr sz="2300" dirty="0">
              <a:latin typeface="DFKai-SB"/>
              <a:ea typeface="DFKai-SB"/>
              <a:cs typeface="DFKai-SB"/>
              <a:sym typeface="DFKai-SB"/>
            </a:endParaRPr>
          </a:p>
        </p:txBody>
      </p:sp>
      <p:sp>
        <p:nvSpPr>
          <p:cNvPr id="698" name="Google Shape;698;p58">
            <a:extLst>
              <a:ext uri="{FF2B5EF4-FFF2-40B4-BE49-F238E27FC236}">
                <a16:creationId xmlns:a16="http://schemas.microsoft.com/office/drawing/2014/main" id="{8BBAE030-B432-A428-D5E7-207EEA107916}"/>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43</a:t>
            </a:fld>
            <a:endParaRPr/>
          </a:p>
        </p:txBody>
      </p:sp>
    </p:spTree>
    <p:extLst>
      <p:ext uri="{BB962C8B-B14F-4D97-AF65-F5344CB8AC3E}">
        <p14:creationId xmlns:p14="http://schemas.microsoft.com/office/powerpoint/2010/main" val="2804152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3025D6F5-3504-526C-1533-E9AF74C55799}"/>
            </a:ext>
          </a:extLst>
        </p:cNvPr>
        <p:cNvGrpSpPr/>
        <p:nvPr/>
      </p:nvGrpSpPr>
      <p:grpSpPr>
        <a:xfrm>
          <a:off x="0" y="0"/>
          <a:ext cx="0" cy="0"/>
          <a:chOff x="0" y="0"/>
          <a:chExt cx="0" cy="0"/>
        </a:xfrm>
      </p:grpSpPr>
      <p:sp>
        <p:nvSpPr>
          <p:cNvPr id="703" name="Google Shape;703;p59">
            <a:extLst>
              <a:ext uri="{FF2B5EF4-FFF2-40B4-BE49-F238E27FC236}">
                <a16:creationId xmlns:a16="http://schemas.microsoft.com/office/drawing/2014/main" id="{9CAB6558-8B9E-6909-034C-5DBBD8B3BE8A}"/>
              </a:ext>
            </a:extLst>
          </p:cNvPr>
          <p:cNvSpPr txBox="1"/>
          <p:nvPr/>
        </p:nvSpPr>
        <p:spPr>
          <a:xfrm>
            <a:off x="579350" y="1719113"/>
            <a:ext cx="8342100" cy="199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(4, 'S41243107', 'BGC0501', '2026-06-16', '2026-06-16', NULL,</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 '13:00:00', '15:00:00', '社團會議', 'ShortTerm', 'Cancelled',</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 '2026-05-26 11:00:00', NULL, '2026-05-27 09:00:00', 'N', NULL),</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(5, 'T0002', 'BGC0701', '2026-07-01', '2026-07-29', 3,</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 '14:00:00', '16:00:00', '專題指導', 'LongTerm', 'Approved',</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sz="1300" b="1">
                <a:solidFill>
                  <a:schemeClr val="dk1"/>
                </a:solidFill>
                <a:latin typeface="Courier New"/>
                <a:ea typeface="Courier New"/>
                <a:cs typeface="Courier New"/>
                <a:sym typeface="Courier New"/>
              </a:rPr>
              <a:t> '2026-06-01 08:30:00', '2026-06-02 10:00:00', NULL, 'N', NULL);</a:t>
            </a:r>
            <a:endParaRPr sz="13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sz="1300" b="1">
              <a:solidFill>
                <a:schemeClr val="dk1"/>
              </a:solidFill>
              <a:latin typeface="Courier New"/>
              <a:ea typeface="Courier New"/>
              <a:cs typeface="Courier New"/>
              <a:sym typeface="Courier New"/>
            </a:endParaRPr>
          </a:p>
        </p:txBody>
      </p:sp>
      <p:grpSp>
        <p:nvGrpSpPr>
          <p:cNvPr id="704" name="Google Shape;704;p59">
            <a:extLst>
              <a:ext uri="{FF2B5EF4-FFF2-40B4-BE49-F238E27FC236}">
                <a16:creationId xmlns:a16="http://schemas.microsoft.com/office/drawing/2014/main" id="{AE2CF745-C0CB-2296-B84C-E9CD9B581D4A}"/>
              </a:ext>
            </a:extLst>
          </p:cNvPr>
          <p:cNvGrpSpPr/>
          <p:nvPr/>
        </p:nvGrpSpPr>
        <p:grpSpPr>
          <a:xfrm>
            <a:off x="382271" y="259655"/>
            <a:ext cx="450310" cy="429099"/>
            <a:chOff x="956666" y="3498086"/>
            <a:chExt cx="600413" cy="572132"/>
          </a:xfrm>
        </p:grpSpPr>
        <p:sp>
          <p:nvSpPr>
            <p:cNvPr id="705" name="Google Shape;705;p59">
              <a:extLst>
                <a:ext uri="{FF2B5EF4-FFF2-40B4-BE49-F238E27FC236}">
                  <a16:creationId xmlns:a16="http://schemas.microsoft.com/office/drawing/2014/main" id="{B06F7F91-9DFC-731D-BE40-9C7325F45538}"/>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06" name="Google Shape;706;p59">
              <a:extLst>
                <a:ext uri="{FF2B5EF4-FFF2-40B4-BE49-F238E27FC236}">
                  <a16:creationId xmlns:a16="http://schemas.microsoft.com/office/drawing/2014/main" id="{B7633AFA-2573-06B4-FDC3-BC7756537D23}"/>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07" name="Google Shape;707;p59">
            <a:extLst>
              <a:ext uri="{FF2B5EF4-FFF2-40B4-BE49-F238E27FC236}">
                <a16:creationId xmlns:a16="http://schemas.microsoft.com/office/drawing/2014/main" id="{3BD06C0C-D27E-B62D-CEF1-B3136147DA45}"/>
              </a:ext>
            </a:extLst>
          </p:cNvPr>
          <p:cNvSpPr txBox="1"/>
          <p:nvPr/>
        </p:nvSpPr>
        <p:spPr>
          <a:xfrm>
            <a:off x="1012675" y="231800"/>
            <a:ext cx="3812100" cy="929968"/>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BorrowRequest 資料範例</a:t>
            </a:r>
            <a:r>
              <a:rPr lang="en-US" altLang="zh-TW" sz="2300" b="1" dirty="0">
                <a:solidFill>
                  <a:schemeClr val="dk1"/>
                </a:solidFill>
                <a:latin typeface="DFKai-SB"/>
                <a:ea typeface="DFKai-SB"/>
                <a:cs typeface="DFKai-SB"/>
                <a:sym typeface="DFKai-SB"/>
              </a:rPr>
              <a:t>II</a:t>
            </a:r>
            <a:endParaRPr sz="2300" dirty="0">
              <a:latin typeface="DFKai-SB"/>
              <a:ea typeface="DFKai-SB"/>
              <a:cs typeface="DFKai-SB"/>
              <a:sym typeface="DFKai-SB"/>
            </a:endParaRPr>
          </a:p>
        </p:txBody>
      </p:sp>
      <p:sp>
        <p:nvSpPr>
          <p:cNvPr id="708" name="Google Shape;708;p59">
            <a:extLst>
              <a:ext uri="{FF2B5EF4-FFF2-40B4-BE49-F238E27FC236}">
                <a16:creationId xmlns:a16="http://schemas.microsoft.com/office/drawing/2014/main" id="{E2445F70-4485-5A13-780A-91F231C1C5EC}"/>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44</a:t>
            </a:fld>
            <a:endParaRPr/>
          </a:p>
        </p:txBody>
      </p:sp>
    </p:spTree>
    <p:extLst>
      <p:ext uri="{BB962C8B-B14F-4D97-AF65-F5344CB8AC3E}">
        <p14:creationId xmlns:p14="http://schemas.microsoft.com/office/powerpoint/2010/main" val="3386578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12">
          <a:extLst>
            <a:ext uri="{FF2B5EF4-FFF2-40B4-BE49-F238E27FC236}">
              <a16:creationId xmlns:a16="http://schemas.microsoft.com/office/drawing/2014/main" id="{6F2D14DA-38E8-B6B0-625B-BE72B169D119}"/>
            </a:ext>
          </a:extLst>
        </p:cNvPr>
        <p:cNvGrpSpPr/>
        <p:nvPr/>
      </p:nvGrpSpPr>
      <p:grpSpPr>
        <a:xfrm>
          <a:off x="0" y="0"/>
          <a:ext cx="0" cy="0"/>
          <a:chOff x="0" y="0"/>
          <a:chExt cx="0" cy="0"/>
        </a:xfrm>
      </p:grpSpPr>
      <p:grpSp>
        <p:nvGrpSpPr>
          <p:cNvPr id="713" name="Google Shape;713;p60">
            <a:extLst>
              <a:ext uri="{FF2B5EF4-FFF2-40B4-BE49-F238E27FC236}">
                <a16:creationId xmlns:a16="http://schemas.microsoft.com/office/drawing/2014/main" id="{B65C97DE-CE8C-A8E6-396B-658A3DC7635F}"/>
              </a:ext>
            </a:extLst>
          </p:cNvPr>
          <p:cNvGrpSpPr/>
          <p:nvPr/>
        </p:nvGrpSpPr>
        <p:grpSpPr>
          <a:xfrm>
            <a:off x="382271" y="259655"/>
            <a:ext cx="450310" cy="429099"/>
            <a:chOff x="956666" y="3498086"/>
            <a:chExt cx="600413" cy="572132"/>
          </a:xfrm>
        </p:grpSpPr>
        <p:sp>
          <p:nvSpPr>
            <p:cNvPr id="714" name="Google Shape;714;p60">
              <a:extLst>
                <a:ext uri="{FF2B5EF4-FFF2-40B4-BE49-F238E27FC236}">
                  <a16:creationId xmlns:a16="http://schemas.microsoft.com/office/drawing/2014/main" id="{824A64CC-B03E-6813-4682-A9211CDE7A65}"/>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15" name="Google Shape;715;p60">
              <a:extLst>
                <a:ext uri="{FF2B5EF4-FFF2-40B4-BE49-F238E27FC236}">
                  <a16:creationId xmlns:a16="http://schemas.microsoft.com/office/drawing/2014/main" id="{089BB6E4-0082-946B-8E49-42097CF728BA}"/>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16" name="Google Shape;716;p60">
            <a:extLst>
              <a:ext uri="{FF2B5EF4-FFF2-40B4-BE49-F238E27FC236}">
                <a16:creationId xmlns:a16="http://schemas.microsoft.com/office/drawing/2014/main" id="{2B24DD29-1988-D2E4-EB3D-2B36A1AB4294}"/>
              </a:ext>
            </a:extLst>
          </p:cNvPr>
          <p:cNvSpPr txBox="1"/>
          <p:nvPr/>
        </p:nvSpPr>
        <p:spPr>
          <a:xfrm>
            <a:off x="1012675" y="231800"/>
            <a:ext cx="4210800" cy="929968"/>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BorrowRequest 資料範例</a:t>
            </a:r>
            <a:r>
              <a:rPr lang="en-US" altLang="zh-TW" sz="2300" b="1" dirty="0">
                <a:solidFill>
                  <a:schemeClr val="dk1"/>
                </a:solidFill>
                <a:latin typeface="DFKai-SB"/>
                <a:ea typeface="DFKai-SB"/>
                <a:cs typeface="DFKai-SB"/>
                <a:sym typeface="DFKai-SB"/>
              </a:rPr>
              <a:t>I</a:t>
            </a:r>
            <a:endParaRPr sz="2300" dirty="0">
              <a:latin typeface="DFKai-SB"/>
              <a:ea typeface="DFKai-SB"/>
              <a:cs typeface="DFKai-SB"/>
              <a:sym typeface="DFKai-SB"/>
            </a:endParaRPr>
          </a:p>
        </p:txBody>
      </p:sp>
      <p:sp>
        <p:nvSpPr>
          <p:cNvPr id="717" name="Google Shape;717;p60">
            <a:extLst>
              <a:ext uri="{FF2B5EF4-FFF2-40B4-BE49-F238E27FC236}">
                <a16:creationId xmlns:a16="http://schemas.microsoft.com/office/drawing/2014/main" id="{E37C255E-11C1-CE05-B482-9E7BCE63D0A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45</a:t>
            </a:fld>
            <a:endParaRPr/>
          </a:p>
        </p:txBody>
      </p:sp>
      <p:graphicFrame>
        <p:nvGraphicFramePr>
          <p:cNvPr id="718" name="Google Shape;718;p60">
            <a:extLst>
              <a:ext uri="{FF2B5EF4-FFF2-40B4-BE49-F238E27FC236}">
                <a16:creationId xmlns:a16="http://schemas.microsoft.com/office/drawing/2014/main" id="{F2042E04-7705-08C2-C790-761EC6856235}"/>
              </a:ext>
            </a:extLst>
          </p:cNvPr>
          <p:cNvGraphicFramePr/>
          <p:nvPr/>
        </p:nvGraphicFramePr>
        <p:xfrm>
          <a:off x="293675" y="1439925"/>
          <a:ext cx="8727475" cy="3145800"/>
        </p:xfrm>
        <a:graphic>
          <a:graphicData uri="http://schemas.openxmlformats.org/drawingml/2006/table">
            <a:tbl>
              <a:tblPr>
                <a:noFill/>
                <a:tableStyleId>{5E4DF90B-2F7E-462A-BB2A-4B7291B50485}</a:tableStyleId>
              </a:tblPr>
              <a:tblGrid>
                <a:gridCol w="652575">
                  <a:extLst>
                    <a:ext uri="{9D8B030D-6E8A-4147-A177-3AD203B41FA5}">
                      <a16:colId xmlns:a16="http://schemas.microsoft.com/office/drawing/2014/main" val="20000"/>
                    </a:ext>
                  </a:extLst>
                </a:gridCol>
                <a:gridCol w="865900">
                  <a:extLst>
                    <a:ext uri="{9D8B030D-6E8A-4147-A177-3AD203B41FA5}">
                      <a16:colId xmlns:a16="http://schemas.microsoft.com/office/drawing/2014/main" val="20001"/>
                    </a:ext>
                  </a:extLst>
                </a:gridCol>
                <a:gridCol w="790625">
                  <a:extLst>
                    <a:ext uri="{9D8B030D-6E8A-4147-A177-3AD203B41FA5}">
                      <a16:colId xmlns:a16="http://schemas.microsoft.com/office/drawing/2014/main" val="20002"/>
                    </a:ext>
                  </a:extLst>
                </a:gridCol>
                <a:gridCol w="903550">
                  <a:extLst>
                    <a:ext uri="{9D8B030D-6E8A-4147-A177-3AD203B41FA5}">
                      <a16:colId xmlns:a16="http://schemas.microsoft.com/office/drawing/2014/main" val="20003"/>
                    </a:ext>
                  </a:extLst>
                </a:gridCol>
                <a:gridCol w="853350">
                  <a:extLst>
                    <a:ext uri="{9D8B030D-6E8A-4147-A177-3AD203B41FA5}">
                      <a16:colId xmlns:a16="http://schemas.microsoft.com/office/drawing/2014/main" val="20004"/>
                    </a:ext>
                  </a:extLst>
                </a:gridCol>
                <a:gridCol w="828275">
                  <a:extLst>
                    <a:ext uri="{9D8B030D-6E8A-4147-A177-3AD203B41FA5}">
                      <a16:colId xmlns:a16="http://schemas.microsoft.com/office/drawing/2014/main" val="20005"/>
                    </a:ext>
                  </a:extLst>
                </a:gridCol>
                <a:gridCol w="903550">
                  <a:extLst>
                    <a:ext uri="{9D8B030D-6E8A-4147-A177-3AD203B41FA5}">
                      <a16:colId xmlns:a16="http://schemas.microsoft.com/office/drawing/2014/main" val="20006"/>
                    </a:ext>
                  </a:extLst>
                </a:gridCol>
                <a:gridCol w="853350">
                  <a:extLst>
                    <a:ext uri="{9D8B030D-6E8A-4147-A177-3AD203B41FA5}">
                      <a16:colId xmlns:a16="http://schemas.microsoft.com/office/drawing/2014/main" val="20007"/>
                    </a:ext>
                  </a:extLst>
                </a:gridCol>
                <a:gridCol w="1079225">
                  <a:extLst>
                    <a:ext uri="{9D8B030D-6E8A-4147-A177-3AD203B41FA5}">
                      <a16:colId xmlns:a16="http://schemas.microsoft.com/office/drawing/2014/main" val="20008"/>
                    </a:ext>
                  </a:extLst>
                </a:gridCol>
                <a:gridCol w="997075">
                  <a:extLst>
                    <a:ext uri="{9D8B030D-6E8A-4147-A177-3AD203B41FA5}">
                      <a16:colId xmlns:a16="http://schemas.microsoft.com/office/drawing/2014/main" val="20009"/>
                    </a:ext>
                  </a:extLst>
                </a:gridCol>
              </a:tblGrid>
              <a:tr h="524300">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req_id</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user_id</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room_id</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start_date</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end_date</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weekday</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start_time</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end_time</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purpose</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b="1">
                          <a:solidFill>
                            <a:schemeClr val="dk1"/>
                          </a:solidFill>
                          <a:latin typeface="DFKai-SB"/>
                          <a:ea typeface="DFKai-SB"/>
                          <a:cs typeface="DFKai-SB"/>
                          <a:sym typeface="DFKai-SB"/>
                        </a:rPr>
                        <a:t>borrow_type</a:t>
                      </a:r>
                      <a:endParaRPr sz="10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524300">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T0001</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BGC0614</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NULL</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09:00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12:00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補課</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ShortTerm</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524300">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S41243101</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BGC0614</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NULL</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09:00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10:00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小組報告練習</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ShortTerm</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524300">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3</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S41243103</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BGC0501</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2026-06-15</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2026-06-15</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NULL</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10:00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11:00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專題討論</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ShortTerm</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524300">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4</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S41243107</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BGC0501</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2026-06-16</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2026-06-16</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NULL</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13:00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15:00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社團會議</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ShortTerm</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524300">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5</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T0002</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BGC0701</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2026-07-01</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2026-07-29</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3</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14:00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16:00</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專題指導</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000">
                          <a:solidFill>
                            <a:schemeClr val="dk1"/>
                          </a:solidFill>
                          <a:latin typeface="DFKai-SB"/>
                          <a:ea typeface="DFKai-SB"/>
                          <a:cs typeface="DFKai-SB"/>
                          <a:sym typeface="DFKai-SB"/>
                        </a:rPr>
                        <a:t>LongTerm</a:t>
                      </a:r>
                      <a:endParaRPr sz="10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157718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22">
          <a:extLst>
            <a:ext uri="{FF2B5EF4-FFF2-40B4-BE49-F238E27FC236}">
              <a16:creationId xmlns:a16="http://schemas.microsoft.com/office/drawing/2014/main" id="{98DED3A8-DA07-7C58-7D34-0E59B686A64A}"/>
            </a:ext>
          </a:extLst>
        </p:cNvPr>
        <p:cNvGrpSpPr/>
        <p:nvPr/>
      </p:nvGrpSpPr>
      <p:grpSpPr>
        <a:xfrm>
          <a:off x="0" y="0"/>
          <a:ext cx="0" cy="0"/>
          <a:chOff x="0" y="0"/>
          <a:chExt cx="0" cy="0"/>
        </a:xfrm>
      </p:grpSpPr>
      <p:grpSp>
        <p:nvGrpSpPr>
          <p:cNvPr id="723" name="Google Shape;723;p61">
            <a:extLst>
              <a:ext uri="{FF2B5EF4-FFF2-40B4-BE49-F238E27FC236}">
                <a16:creationId xmlns:a16="http://schemas.microsoft.com/office/drawing/2014/main" id="{86FB4AF0-F37C-93C0-07FD-6A694FCF7F0E}"/>
              </a:ext>
            </a:extLst>
          </p:cNvPr>
          <p:cNvGrpSpPr/>
          <p:nvPr/>
        </p:nvGrpSpPr>
        <p:grpSpPr>
          <a:xfrm>
            <a:off x="382271" y="259655"/>
            <a:ext cx="450310" cy="429099"/>
            <a:chOff x="956666" y="3498086"/>
            <a:chExt cx="600413" cy="572132"/>
          </a:xfrm>
        </p:grpSpPr>
        <p:sp>
          <p:nvSpPr>
            <p:cNvPr id="724" name="Google Shape;724;p61">
              <a:extLst>
                <a:ext uri="{FF2B5EF4-FFF2-40B4-BE49-F238E27FC236}">
                  <a16:creationId xmlns:a16="http://schemas.microsoft.com/office/drawing/2014/main" id="{D9B6DE20-87A6-18CD-63A2-0C8CC6AB84DF}"/>
                </a:ext>
              </a:extLst>
            </p:cNvPr>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25" name="Google Shape;725;p61">
              <a:extLst>
                <a:ext uri="{FF2B5EF4-FFF2-40B4-BE49-F238E27FC236}">
                  <a16:creationId xmlns:a16="http://schemas.microsoft.com/office/drawing/2014/main" id="{43C0375A-7E1C-3AD4-64C2-B910527D8672}"/>
                </a:ext>
              </a:extLst>
            </p:cNvPr>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26" name="Google Shape;726;p61">
            <a:extLst>
              <a:ext uri="{FF2B5EF4-FFF2-40B4-BE49-F238E27FC236}">
                <a16:creationId xmlns:a16="http://schemas.microsoft.com/office/drawing/2014/main" id="{AE913FE7-8E26-9272-4D5F-68DC3D70AE80}"/>
              </a:ext>
            </a:extLst>
          </p:cNvPr>
          <p:cNvSpPr txBox="1"/>
          <p:nvPr/>
        </p:nvSpPr>
        <p:spPr>
          <a:xfrm>
            <a:off x="1012675" y="231800"/>
            <a:ext cx="4248900" cy="929968"/>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BorrowRequest 資料範例</a:t>
            </a:r>
            <a:r>
              <a:rPr lang="en-US" altLang="zh-TW" sz="2300" b="1" dirty="0">
                <a:solidFill>
                  <a:schemeClr val="dk1"/>
                </a:solidFill>
                <a:latin typeface="DFKai-SB"/>
                <a:ea typeface="DFKai-SB"/>
                <a:cs typeface="DFKai-SB"/>
                <a:sym typeface="DFKai-SB"/>
              </a:rPr>
              <a:t>II</a:t>
            </a:r>
            <a:endParaRPr sz="2300" dirty="0">
              <a:latin typeface="DFKai-SB"/>
              <a:ea typeface="DFKai-SB"/>
              <a:cs typeface="DFKai-SB"/>
              <a:sym typeface="DFKai-SB"/>
            </a:endParaRPr>
          </a:p>
        </p:txBody>
      </p:sp>
      <p:sp>
        <p:nvSpPr>
          <p:cNvPr id="727" name="Google Shape;727;p61">
            <a:extLst>
              <a:ext uri="{FF2B5EF4-FFF2-40B4-BE49-F238E27FC236}">
                <a16:creationId xmlns:a16="http://schemas.microsoft.com/office/drawing/2014/main" id="{78B12420-6A47-DAC7-34FA-6F906BAC140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46</a:t>
            </a:fld>
            <a:endParaRPr/>
          </a:p>
        </p:txBody>
      </p:sp>
      <p:graphicFrame>
        <p:nvGraphicFramePr>
          <p:cNvPr id="728" name="Google Shape;728;p61">
            <a:extLst>
              <a:ext uri="{FF2B5EF4-FFF2-40B4-BE49-F238E27FC236}">
                <a16:creationId xmlns:a16="http://schemas.microsoft.com/office/drawing/2014/main" id="{6DA91FAC-3205-D77E-79C7-11F60F3AE544}"/>
              </a:ext>
            </a:extLst>
          </p:cNvPr>
          <p:cNvGraphicFramePr/>
          <p:nvPr/>
        </p:nvGraphicFramePr>
        <p:xfrm>
          <a:off x="267625" y="940775"/>
          <a:ext cx="8369100" cy="3798210"/>
        </p:xfrm>
        <a:graphic>
          <a:graphicData uri="http://schemas.openxmlformats.org/drawingml/2006/table">
            <a:tbl>
              <a:tblPr>
                <a:noFill/>
                <a:tableStyleId>{5E4DF90B-2F7E-462A-BB2A-4B7291B50485}</a:tableStyleId>
              </a:tblPr>
              <a:tblGrid>
                <a:gridCol w="1394850">
                  <a:extLst>
                    <a:ext uri="{9D8B030D-6E8A-4147-A177-3AD203B41FA5}">
                      <a16:colId xmlns:a16="http://schemas.microsoft.com/office/drawing/2014/main" val="20000"/>
                    </a:ext>
                  </a:extLst>
                </a:gridCol>
                <a:gridCol w="1394850">
                  <a:extLst>
                    <a:ext uri="{9D8B030D-6E8A-4147-A177-3AD203B41FA5}">
                      <a16:colId xmlns:a16="http://schemas.microsoft.com/office/drawing/2014/main" val="20001"/>
                    </a:ext>
                  </a:extLst>
                </a:gridCol>
                <a:gridCol w="1394850">
                  <a:extLst>
                    <a:ext uri="{9D8B030D-6E8A-4147-A177-3AD203B41FA5}">
                      <a16:colId xmlns:a16="http://schemas.microsoft.com/office/drawing/2014/main" val="20002"/>
                    </a:ext>
                  </a:extLst>
                </a:gridCol>
                <a:gridCol w="1394850">
                  <a:extLst>
                    <a:ext uri="{9D8B030D-6E8A-4147-A177-3AD203B41FA5}">
                      <a16:colId xmlns:a16="http://schemas.microsoft.com/office/drawing/2014/main" val="20003"/>
                    </a:ext>
                  </a:extLst>
                </a:gridCol>
                <a:gridCol w="1394850">
                  <a:extLst>
                    <a:ext uri="{9D8B030D-6E8A-4147-A177-3AD203B41FA5}">
                      <a16:colId xmlns:a16="http://schemas.microsoft.com/office/drawing/2014/main" val="20004"/>
                    </a:ext>
                  </a:extLst>
                </a:gridCol>
                <a:gridCol w="1394850">
                  <a:extLst>
                    <a:ext uri="{9D8B030D-6E8A-4147-A177-3AD203B41FA5}">
                      <a16:colId xmlns:a16="http://schemas.microsoft.com/office/drawing/2014/main" val="20005"/>
                    </a:ext>
                  </a:extLst>
                </a:gridCol>
              </a:tblGrid>
              <a:tr h="524300">
                <a:tc>
                  <a:txBody>
                    <a:bodyPr/>
                    <a:lstStyle/>
                    <a:p>
                      <a:pPr marL="0" lvl="0" indent="0" algn="ctr" rtl="0">
                        <a:lnSpc>
                          <a:spcPct val="100000"/>
                        </a:lnSpc>
                        <a:spcBef>
                          <a:spcPts val="0"/>
                        </a:spcBef>
                        <a:spcAft>
                          <a:spcPts val="0"/>
                        </a:spcAft>
                        <a:buNone/>
                      </a:pPr>
                      <a:r>
                        <a:rPr lang="zh-TW" b="1">
                          <a:solidFill>
                            <a:schemeClr val="dk1"/>
                          </a:solidFill>
                          <a:latin typeface="DFKai-SB"/>
                          <a:ea typeface="DFKai-SB"/>
                          <a:cs typeface="DFKai-SB"/>
                          <a:sym typeface="DFKai-SB"/>
                        </a:rPr>
                        <a:t>status</a:t>
                      </a:r>
                      <a:endParaRPr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solidFill>
                            <a:schemeClr val="dk1"/>
                          </a:solidFill>
                          <a:latin typeface="DFKai-SB"/>
                          <a:ea typeface="DFKai-SB"/>
                          <a:cs typeface="DFKai-SB"/>
                          <a:sym typeface="DFKai-SB"/>
                        </a:rPr>
                        <a:t>created_at</a:t>
                      </a:r>
                      <a:endParaRPr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solidFill>
                            <a:schemeClr val="dk1"/>
                          </a:solidFill>
                          <a:latin typeface="DFKai-SB"/>
                          <a:ea typeface="DFKai-SB"/>
                          <a:cs typeface="DFKai-SB"/>
                          <a:sym typeface="DFKai-SB"/>
                        </a:rPr>
                        <a:t>reviewed_at</a:t>
                      </a:r>
                      <a:endParaRPr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solidFill>
                            <a:schemeClr val="dk1"/>
                          </a:solidFill>
                          <a:latin typeface="DFKai-SB"/>
                          <a:ea typeface="DFKai-SB"/>
                          <a:cs typeface="DFKai-SB"/>
                          <a:sym typeface="DFKai-SB"/>
                        </a:rPr>
                        <a:t>cancelled_at</a:t>
                      </a:r>
                      <a:endParaRPr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solidFill>
                            <a:schemeClr val="dk1"/>
                          </a:solidFill>
                          <a:latin typeface="DFKai-SB"/>
                          <a:ea typeface="DFKai-SB"/>
                          <a:cs typeface="DFKai-SB"/>
                          <a:sym typeface="DFKai-SB"/>
                        </a:rPr>
                        <a:t>is_cleared</a:t>
                      </a:r>
                      <a:endParaRPr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solidFill>
                            <a:schemeClr val="dk1"/>
                          </a:solidFill>
                          <a:latin typeface="DFKai-SB"/>
                          <a:ea typeface="DFKai-SB"/>
                          <a:cs typeface="DFKai-SB"/>
                          <a:sym typeface="DFKai-SB"/>
                        </a:rPr>
                        <a:t>cleared_at</a:t>
                      </a:r>
                      <a:endParaRPr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524300">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Approved</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2026-05-20 10:00:00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2026-05-21</a:t>
                      </a:r>
                      <a:endParaRPr>
                        <a:solidFill>
                          <a:schemeClr val="dk1"/>
                        </a:solidFill>
                        <a:latin typeface="DFKai-SB"/>
                        <a:ea typeface="DFKai-SB"/>
                        <a:cs typeface="DFKai-SB"/>
                        <a:sym typeface="DFKai-SB"/>
                      </a:endParaRPr>
                    </a:p>
                    <a:p>
                      <a:pPr marL="0" lvl="0" indent="0" algn="ctr" rtl="0">
                        <a:lnSpc>
                          <a:spcPct val="115000"/>
                        </a:lnSpc>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14:00:00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N</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524300">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Rejected</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2026-05-20 10:10:00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2026-05-21</a:t>
                      </a:r>
                      <a:endParaRPr>
                        <a:solidFill>
                          <a:schemeClr val="dk1"/>
                        </a:solidFill>
                        <a:latin typeface="DFKai-SB"/>
                        <a:ea typeface="DFKai-SB"/>
                        <a:cs typeface="DFKai-SB"/>
                        <a:sym typeface="DFKai-SB"/>
                      </a:endParaRPr>
                    </a:p>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14:05:00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N</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524300">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Pending</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2026-05-25 09:00:00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N</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524300">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Cancelled</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2026-05-26 11:00:00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2026-05-27 09:00:00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N</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524300">
                <a:tc>
                  <a:txBody>
                    <a:bodyPr/>
                    <a:lstStyle/>
                    <a:p>
                      <a:pPr marL="0" lvl="0" indent="0" algn="ctr" rtl="0">
                        <a:lnSpc>
                          <a:spcPct val="100000"/>
                        </a:lnSpc>
                        <a:spcBef>
                          <a:spcPts val="0"/>
                        </a:spcBef>
                        <a:spcAft>
                          <a:spcPts val="0"/>
                        </a:spcAft>
                        <a:buNone/>
                      </a:pPr>
                      <a:r>
                        <a:rPr lang="zh-TW">
                          <a:solidFill>
                            <a:schemeClr val="dk1"/>
                          </a:solidFill>
                          <a:latin typeface="DFKai-SB"/>
                          <a:ea typeface="DFKai-SB"/>
                          <a:cs typeface="DFKai-SB"/>
                          <a:sym typeface="DFKai-SB"/>
                        </a:rPr>
                        <a:t>Approved</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2026-06-01 08:30:00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2026-06-02</a:t>
                      </a:r>
                      <a:endParaRPr>
                        <a:solidFill>
                          <a:schemeClr val="dk1"/>
                        </a:solidFill>
                        <a:latin typeface="DFKai-SB"/>
                        <a:ea typeface="DFKai-SB"/>
                        <a:cs typeface="DFKai-SB"/>
                        <a:sym typeface="DFKai-SB"/>
                      </a:endParaRPr>
                    </a:p>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10:00:00</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zh-TW">
                          <a:solidFill>
                            <a:schemeClr val="dk1"/>
                          </a:solidFill>
                          <a:latin typeface="DFKai-SB"/>
                          <a:ea typeface="DFKai-SB"/>
                          <a:cs typeface="DFKai-SB"/>
                          <a:sym typeface="DFKai-SB"/>
                        </a:rPr>
                        <a:t>N</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a:solidFill>
                            <a:schemeClr val="dk1"/>
                          </a:solidFill>
                          <a:latin typeface="DFKai-SB"/>
                          <a:ea typeface="DFKai-SB"/>
                          <a:cs typeface="DFKai-SB"/>
                          <a:sym typeface="DFKai-SB"/>
                        </a:rPr>
                        <a:t>NULL</a:t>
                      </a:r>
                      <a:endParaRPr>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071204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graphicFrame>
        <p:nvGraphicFramePr>
          <p:cNvPr id="616" name="Google Shape;616;p51"/>
          <p:cNvGraphicFramePr/>
          <p:nvPr/>
        </p:nvGraphicFramePr>
        <p:xfrm>
          <a:off x="285838" y="1344813"/>
          <a:ext cx="8572300" cy="3083380"/>
        </p:xfrm>
        <a:graphic>
          <a:graphicData uri="http://schemas.openxmlformats.org/drawingml/2006/table">
            <a:tbl>
              <a:tblPr>
                <a:noFill/>
                <a:tableStyleId>{AC306F20-B5FA-46C3-8F7C-962CBD427640}</a:tableStyleId>
              </a:tblPr>
              <a:tblGrid>
                <a:gridCol w="1469025">
                  <a:extLst>
                    <a:ext uri="{9D8B030D-6E8A-4147-A177-3AD203B41FA5}">
                      <a16:colId xmlns:a16="http://schemas.microsoft.com/office/drawing/2014/main" val="20000"/>
                    </a:ext>
                  </a:extLst>
                </a:gridCol>
                <a:gridCol w="1228200">
                  <a:extLst>
                    <a:ext uri="{9D8B030D-6E8A-4147-A177-3AD203B41FA5}">
                      <a16:colId xmlns:a16="http://schemas.microsoft.com/office/drawing/2014/main" val="20001"/>
                    </a:ext>
                  </a:extLst>
                </a:gridCol>
                <a:gridCol w="1168800">
                  <a:extLst>
                    <a:ext uri="{9D8B030D-6E8A-4147-A177-3AD203B41FA5}">
                      <a16:colId xmlns:a16="http://schemas.microsoft.com/office/drawing/2014/main" val="20002"/>
                    </a:ext>
                  </a:extLst>
                </a:gridCol>
                <a:gridCol w="1265175">
                  <a:extLst>
                    <a:ext uri="{9D8B030D-6E8A-4147-A177-3AD203B41FA5}">
                      <a16:colId xmlns:a16="http://schemas.microsoft.com/office/drawing/2014/main" val="20003"/>
                    </a:ext>
                  </a:extLst>
                </a:gridCol>
                <a:gridCol w="1108950">
                  <a:extLst>
                    <a:ext uri="{9D8B030D-6E8A-4147-A177-3AD203B41FA5}">
                      <a16:colId xmlns:a16="http://schemas.microsoft.com/office/drawing/2014/main" val="20004"/>
                    </a:ext>
                  </a:extLst>
                </a:gridCol>
                <a:gridCol w="2332150">
                  <a:extLst>
                    <a:ext uri="{9D8B030D-6E8A-4147-A177-3AD203B41FA5}">
                      <a16:colId xmlns:a16="http://schemas.microsoft.com/office/drawing/2014/main" val="20005"/>
                    </a:ext>
                  </a:extLst>
                </a:gridCol>
              </a:tblGrid>
              <a:tr h="177225">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欄位名稱</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資料型態</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是否可為空</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預設值</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b="1">
                          <a:latin typeface="DFKai-SB"/>
                          <a:ea typeface="DFKai-SB"/>
                          <a:cs typeface="DFKai-SB"/>
                          <a:sym typeface="DFKai-SB"/>
                        </a:rPr>
                        <a:t>其他說明</a:t>
                      </a:r>
                      <a:endParaRPr>
                        <a:solidFill>
                          <a:srgbClr val="333333"/>
                        </a:solidFill>
                        <a:latin typeface="DFKai-SB"/>
                        <a:ea typeface="DFKai-SB"/>
                        <a:cs typeface="DFKai-SB"/>
                        <a:sym typeface="DFKai-SB"/>
                      </a:endParaRPr>
                    </a:p>
                  </a:txBody>
                  <a:tcPr marL="127000" marR="127000" marT="63500" marB="63500" anchor="ctr">
                    <a:lnL w="28575" cap="flat" cmpd="sng">
                      <a:solidFill>
                        <a:schemeClr val="accent5"/>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28575" cap="flat" cmpd="sng">
                      <a:solidFill>
                        <a:schemeClr val="accent5"/>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log_id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紀錄識別碼</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INT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主鍵</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28575" cap="flat" cmpd="sng">
                      <a:solidFill>
                        <a:srgbClr val="55C0AF"/>
                      </a:solidFill>
                      <a:prstDash val="solid"/>
                      <a:round/>
                      <a:headEnd type="none" w="sm" len="sm"/>
                      <a:tailEnd type="none" w="sm" len="sm"/>
                    </a:lnR>
                    <a:lnT w="28575" cap="flat" cmpd="sng">
                      <a:solidFill>
                        <a:schemeClr val="accent5"/>
                      </a:solidFill>
                      <a:prstDash val="solid"/>
                      <a:round/>
                      <a:headEnd type="none" w="sm" len="sm"/>
                      <a:tailEnd type="none" w="sm" len="sm"/>
                    </a:lnT>
                    <a:lnB w="28575"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req_id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對應申請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INT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外鍵，參考 BorrowRequest.req_id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28575" cap="flat" cmpd="sng">
                      <a:solidFill>
                        <a:srgbClr val="55C0AF"/>
                      </a:solidFill>
                      <a:prstDash val="solid"/>
                      <a:round/>
                      <a:headEnd type="none" w="sm" len="sm"/>
                      <a:tailEnd type="none" w="sm" len="sm"/>
                    </a:lnR>
                    <a:lnT w="28575" cap="flat" cmpd="sng">
                      <a:solidFill>
                        <a:srgbClr val="55C0AF"/>
                      </a:solidFill>
                      <a:prstDash val="solid"/>
                      <a:round/>
                      <a:headEnd type="none" w="sm" len="sm"/>
                      <a:tailEnd type="none" w="sm" len="sm"/>
                    </a:lnT>
                    <a:lnB w="28575"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admin_id</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審核者</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VARCHAR(15)</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None/>
                      </a:pPr>
                      <a:r>
                        <a:rPr lang="zh-TW" sz="1200">
                          <a:solidFill>
                            <a:schemeClr val="dk1"/>
                          </a:solidFill>
                          <a:latin typeface="DFKai-SB"/>
                          <a:ea typeface="DFKai-SB"/>
                          <a:cs typeface="DFKai-SB"/>
                          <a:sym typeface="DFKai-SB"/>
                        </a:rPr>
                        <a:t>外鍵，參考 User.user_id，</a:t>
                      </a:r>
                      <a:endParaRPr sz="1200">
                        <a:solidFill>
                          <a:schemeClr val="dk1"/>
                        </a:solidFill>
                        <a:latin typeface="DFKai-SB"/>
                        <a:ea typeface="DFKai-SB"/>
                        <a:cs typeface="DFKai-SB"/>
                        <a:sym typeface="DFKai-SB"/>
                      </a:endParaRPr>
                    </a:p>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且 role 必須為 A</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28575" cap="flat" cmpd="sng">
                      <a:solidFill>
                        <a:srgbClr val="55C0AF"/>
                      </a:solidFill>
                      <a:prstDash val="solid"/>
                      <a:round/>
                      <a:headEnd type="none" w="sm" len="sm"/>
                      <a:tailEnd type="none" w="sm" len="sm"/>
                    </a:lnR>
                    <a:lnT w="28575" cap="flat" cmpd="sng">
                      <a:solidFill>
                        <a:srgbClr val="55C0AF"/>
                      </a:solidFill>
                      <a:prstDash val="solid"/>
                      <a:round/>
                      <a:headEnd type="none" w="sm" len="sm"/>
                      <a:tailEnd type="none" w="sm" len="sm"/>
                    </a:lnT>
                    <a:lnB w="28575"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action</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操作類型</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VARCHAR(10)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None/>
                      </a:pPr>
                      <a:r>
                        <a:rPr lang="zh-TW" sz="1200">
                          <a:solidFill>
                            <a:schemeClr val="dk1"/>
                          </a:solidFill>
                          <a:latin typeface="DFKai-SB"/>
                          <a:ea typeface="DFKai-SB"/>
                          <a:cs typeface="DFKai-SB"/>
                          <a:sym typeface="DFKai-SB"/>
                        </a:rPr>
                        <a:t>'Approve'、'Reject'</a:t>
                      </a:r>
                      <a:endParaRPr sz="1200">
                        <a:solidFill>
                          <a:schemeClr val="dk1"/>
                        </a:solidFill>
                        <a:latin typeface="DFKai-SB"/>
                        <a:ea typeface="DFKai-SB"/>
                        <a:cs typeface="DFKai-SB"/>
                        <a:sym typeface="DFKai-SB"/>
                      </a:endParaRPr>
                    </a:p>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兩者之一</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28575" cap="flat" cmpd="sng">
                      <a:solidFill>
                        <a:srgbClr val="55C0AF"/>
                      </a:solidFill>
                      <a:prstDash val="solid"/>
                      <a:round/>
                      <a:headEnd type="none" w="sm" len="sm"/>
                      <a:tailEnd type="none" w="sm" len="sm"/>
                    </a:lnR>
                    <a:lnT w="28575" cap="flat" cmpd="sng">
                      <a:solidFill>
                        <a:srgbClr val="55C0AF"/>
                      </a:solidFill>
                      <a:prstDash val="solid"/>
                      <a:round/>
                      <a:headEnd type="none" w="sm" len="sm"/>
                      <a:tailEnd type="none" w="sm" len="sm"/>
                    </a:lnT>
                    <a:lnB w="28575" cap="flat" cmpd="sng">
                      <a:solidFill>
                        <a:srgbClr val="55C0AF"/>
                      </a:solidFill>
                      <a:prstDash val="solid"/>
                      <a:round/>
                      <a:headEnd type="none" w="sm" len="sm"/>
                      <a:tailEnd type="none" w="sm" len="sm"/>
                    </a:lnB>
                  </a:tcPr>
                </a:tc>
                <a:extLst>
                  <a:ext uri="{0D108BD9-81ED-4DB2-BD59-A6C34878D82A}">
                    <a16:rowId xmlns:a16="http://schemas.microsoft.com/office/drawing/2014/main" val="10004"/>
                  </a:ext>
                </a:extLst>
              </a:tr>
              <a:tr h="210625">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reason</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拒絕原因</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VARCHAR(200)</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是</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無</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action = 'Reject' 時必填</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28575" cap="flat" cmpd="sng">
                      <a:solidFill>
                        <a:srgbClr val="55C0AF"/>
                      </a:solidFill>
                      <a:prstDash val="solid"/>
                      <a:round/>
                      <a:headEnd type="none" w="sm" len="sm"/>
                      <a:tailEnd type="none" w="sm" len="sm"/>
                    </a:lnR>
                    <a:lnT w="28575" cap="flat" cmpd="sng">
                      <a:solidFill>
                        <a:srgbClr val="55C0AF"/>
                      </a:solidFill>
                      <a:prstDash val="solid"/>
                      <a:round/>
                      <a:headEnd type="none" w="sm" len="sm"/>
                      <a:tailEnd type="none" w="sm" len="sm"/>
                    </a:lnT>
                    <a:lnB w="28575" cap="flat" cmpd="sng">
                      <a:solidFill>
                        <a:srgbClr val="55C0AF"/>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timestamp</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審核完成時間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DATETIME</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否</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latin typeface="DFKai-SB"/>
                          <a:ea typeface="DFKai-SB"/>
                          <a:cs typeface="DFKai-SB"/>
                          <a:sym typeface="DFKai-SB"/>
                        </a:rPr>
                        <a:t>系統當前時間</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18300" cap="flat" cmpd="sng">
                      <a:solidFill>
                        <a:srgbClr val="0097A7"/>
                      </a:solidFill>
                      <a:prstDash val="solid"/>
                      <a:round/>
                      <a:headEnd type="none" w="sm" len="sm"/>
                      <a:tailEnd type="none" w="sm" len="sm"/>
                    </a:lnR>
                    <a:lnT w="18300" cap="flat" cmpd="sng">
                      <a:solidFill>
                        <a:srgbClr val="0097A7"/>
                      </a:solidFill>
                      <a:prstDash val="solid"/>
                      <a:round/>
                      <a:headEnd type="none" w="sm" len="sm"/>
                      <a:tailEnd type="none" w="sm" len="sm"/>
                    </a:lnT>
                    <a:lnB w="18300" cap="flat" cmpd="sng">
                      <a:solidFill>
                        <a:srgbClr val="0097A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chemeClr val="dk1"/>
                          </a:solidFill>
                          <a:latin typeface="DFKai-SB"/>
                          <a:ea typeface="DFKai-SB"/>
                          <a:cs typeface="DFKai-SB"/>
                          <a:sym typeface="DFKai-SB"/>
                        </a:rPr>
                        <a:t>不早於對應申請的 created_at</a:t>
                      </a:r>
                      <a:endParaRPr sz="1200">
                        <a:latin typeface="DFKai-SB"/>
                        <a:ea typeface="DFKai-SB"/>
                        <a:cs typeface="DFKai-SB"/>
                        <a:sym typeface="DFKai-SB"/>
                      </a:endParaRPr>
                    </a:p>
                  </a:txBody>
                  <a:tcPr marL="91425" marR="91425" marT="91425" marB="91425">
                    <a:lnL w="18300" cap="flat" cmpd="sng">
                      <a:solidFill>
                        <a:srgbClr val="0097A7"/>
                      </a:solidFill>
                      <a:prstDash val="solid"/>
                      <a:round/>
                      <a:headEnd type="none" w="sm" len="sm"/>
                      <a:tailEnd type="none" w="sm" len="sm"/>
                    </a:lnL>
                    <a:lnR w="28575" cap="flat" cmpd="sng">
                      <a:solidFill>
                        <a:srgbClr val="55C0AF"/>
                      </a:solidFill>
                      <a:prstDash val="solid"/>
                      <a:round/>
                      <a:headEnd type="none" w="sm" len="sm"/>
                      <a:tailEnd type="none" w="sm" len="sm"/>
                    </a:lnR>
                    <a:lnT w="28575" cap="flat" cmpd="sng">
                      <a:solidFill>
                        <a:srgbClr val="55C0AF"/>
                      </a:solidFill>
                      <a:prstDash val="solid"/>
                      <a:round/>
                      <a:headEnd type="none" w="sm" len="sm"/>
                      <a:tailEnd type="none" w="sm" len="sm"/>
                    </a:lnT>
                    <a:lnB w="28575" cap="flat" cmpd="sng">
                      <a:solidFill>
                        <a:srgbClr val="55C0A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617" name="Google Shape;617;p51"/>
          <p:cNvSpPr txBox="1"/>
          <p:nvPr/>
        </p:nvSpPr>
        <p:spPr>
          <a:xfrm>
            <a:off x="914400" y="227900"/>
            <a:ext cx="36576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Clr>
                <a:schemeClr val="dk1"/>
              </a:buClr>
              <a:buSzPts val="1100"/>
              <a:buFont typeface="Arial"/>
              <a:buNone/>
            </a:pPr>
            <a:r>
              <a:rPr lang="zh-TW" sz="2300" b="1">
                <a:solidFill>
                  <a:schemeClr val="dk1"/>
                </a:solidFill>
                <a:latin typeface="DFKai-SB"/>
                <a:ea typeface="DFKai-SB"/>
                <a:cs typeface="DFKai-SB"/>
                <a:sym typeface="DFKai-SB"/>
              </a:rPr>
              <a:t>AuditLog（審核歷程）</a:t>
            </a:r>
            <a:endParaRPr sz="2300">
              <a:solidFill>
                <a:schemeClr val="dk1"/>
              </a:solidFill>
              <a:latin typeface="DFKai-SB"/>
              <a:ea typeface="DFKai-SB"/>
              <a:cs typeface="DFKai-SB"/>
              <a:sym typeface="DFKai-SB"/>
            </a:endParaRPr>
          </a:p>
        </p:txBody>
      </p:sp>
      <p:grpSp>
        <p:nvGrpSpPr>
          <p:cNvPr id="618" name="Google Shape;618;p51"/>
          <p:cNvGrpSpPr/>
          <p:nvPr/>
        </p:nvGrpSpPr>
        <p:grpSpPr>
          <a:xfrm>
            <a:off x="382271" y="259655"/>
            <a:ext cx="450310" cy="429099"/>
            <a:chOff x="956666" y="3498086"/>
            <a:chExt cx="600413" cy="572132"/>
          </a:xfrm>
        </p:grpSpPr>
        <p:sp>
          <p:nvSpPr>
            <p:cNvPr id="619" name="Google Shape;619;p51"/>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20" name="Google Shape;620;p51"/>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21" name="Google Shape;621;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52"/>
          <p:cNvSpPr txBox="1"/>
          <p:nvPr/>
        </p:nvSpPr>
        <p:spPr>
          <a:xfrm>
            <a:off x="224275" y="842250"/>
            <a:ext cx="8550900" cy="42603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zh-TW" sz="1100" b="1">
                <a:solidFill>
                  <a:srgbClr val="0000FF"/>
                </a:solidFill>
                <a:highlight>
                  <a:srgbClr val="FFFFFF"/>
                </a:highlight>
                <a:latin typeface="DFKai-SB"/>
                <a:ea typeface="DFKai-SB"/>
                <a:cs typeface="DFKai-SB"/>
                <a:sym typeface="DFKai-SB"/>
              </a:rPr>
              <a:t>CREATE</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TABLE</a:t>
            </a:r>
            <a:r>
              <a:rPr lang="zh-TW" sz="1100" b="1">
                <a:solidFill>
                  <a:schemeClr val="dk1"/>
                </a:solidFill>
                <a:highlight>
                  <a:srgbClr val="FFFFFF"/>
                </a:highlight>
                <a:latin typeface="DFKai-SB"/>
                <a:ea typeface="DFKai-SB"/>
                <a:cs typeface="DFKai-SB"/>
                <a:sym typeface="DFKai-SB"/>
              </a:rPr>
              <a:t> </a:t>
            </a:r>
            <a:r>
              <a:rPr lang="zh-TW" sz="1100" b="1">
                <a:solidFill>
                  <a:srgbClr val="795E26"/>
                </a:solidFill>
                <a:highlight>
                  <a:srgbClr val="FFFFFF"/>
                </a:highlight>
                <a:latin typeface="DFKai-SB"/>
                <a:ea typeface="DFKai-SB"/>
                <a:cs typeface="DFKai-SB"/>
                <a:sym typeface="DFKai-SB"/>
              </a:rPr>
              <a:t>AuditLog</a:t>
            </a:r>
            <a:r>
              <a:rPr lang="zh-TW" sz="1100" b="1">
                <a:solidFill>
                  <a:schemeClr val="dk1"/>
                </a:solidFill>
                <a:highlight>
                  <a:srgbClr val="FFFFFF"/>
                </a:highlight>
                <a:latin typeface="DFKai-SB"/>
                <a:ea typeface="DFKai-SB"/>
                <a:cs typeface="DFKai-SB"/>
                <a:sym typeface="DFKai-SB"/>
              </a:rPr>
              <a:t> (</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log_id    </a:t>
            </a:r>
            <a:r>
              <a:rPr lang="zh-TW" sz="1100" b="1">
                <a:solidFill>
                  <a:srgbClr val="0000FF"/>
                </a:solidFill>
                <a:highlight>
                  <a:srgbClr val="FFFFFF"/>
                </a:highlight>
                <a:latin typeface="DFKai-SB"/>
                <a:ea typeface="DFKai-SB"/>
                <a:cs typeface="DFKai-SB"/>
                <a:sym typeface="DFKai-SB"/>
              </a:rPr>
              <a:t>INT</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NOT NULL</a:t>
            </a:r>
            <a:r>
              <a:rPr lang="zh-TW" sz="1100" b="1">
                <a:solidFill>
                  <a:schemeClr val="dk1"/>
                </a:solidFill>
                <a:highlight>
                  <a:srgbClr val="FFFFFF"/>
                </a:highlight>
                <a:latin typeface="DFKai-SB"/>
                <a:ea typeface="DFKai-SB"/>
                <a:cs typeface="DFKai-SB"/>
                <a:sym typeface="DFKai-SB"/>
              </a:rPr>
              <a:t> AUTO_INCREMENT,</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req_id    </a:t>
            </a:r>
            <a:r>
              <a:rPr lang="zh-TW" sz="1100" b="1">
                <a:solidFill>
                  <a:srgbClr val="0000FF"/>
                </a:solidFill>
                <a:highlight>
                  <a:srgbClr val="FFFFFF"/>
                </a:highlight>
                <a:latin typeface="DFKai-SB"/>
                <a:ea typeface="DFKai-SB"/>
                <a:cs typeface="DFKai-SB"/>
                <a:sym typeface="DFKai-SB"/>
              </a:rPr>
              <a:t>INT</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NOT NULL</a:t>
            </a:r>
            <a:r>
              <a:rPr lang="zh-TW" sz="1100" b="1">
                <a:solidFill>
                  <a:schemeClr val="dk1"/>
                </a:solidFill>
                <a:highlight>
                  <a:srgbClr val="FFFFFF"/>
                </a:highlight>
                <a:latin typeface="DFKai-SB"/>
                <a:ea typeface="DFKai-SB"/>
                <a:cs typeface="DFKai-SB"/>
                <a:sym typeface="DFKai-SB"/>
              </a:rPr>
              <a:t>,</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admin_id  </a:t>
            </a:r>
            <a:r>
              <a:rPr lang="zh-TW" sz="1100" b="1">
                <a:solidFill>
                  <a:srgbClr val="0000FF"/>
                </a:solidFill>
                <a:highlight>
                  <a:srgbClr val="FFFFFF"/>
                </a:highlight>
                <a:latin typeface="DFKai-SB"/>
                <a:ea typeface="DFKai-SB"/>
                <a:cs typeface="DFKai-SB"/>
                <a:sym typeface="DFKai-SB"/>
              </a:rPr>
              <a:t>VARCHAR</a:t>
            </a:r>
            <a:r>
              <a:rPr lang="zh-TW" sz="1100" b="1">
                <a:solidFill>
                  <a:schemeClr val="dk1"/>
                </a:solidFill>
                <a:highlight>
                  <a:srgbClr val="FFFFFF"/>
                </a:highlight>
                <a:latin typeface="DFKai-SB"/>
                <a:ea typeface="DFKai-SB"/>
                <a:cs typeface="DFKai-SB"/>
                <a:sym typeface="DFKai-SB"/>
              </a:rPr>
              <a:t>(</a:t>
            </a:r>
            <a:r>
              <a:rPr lang="zh-TW" sz="1100" b="1">
                <a:solidFill>
                  <a:srgbClr val="098658"/>
                </a:solidFill>
                <a:highlight>
                  <a:srgbClr val="FFFFFF"/>
                </a:highlight>
                <a:latin typeface="DFKai-SB"/>
                <a:ea typeface="DFKai-SB"/>
                <a:cs typeface="DFKai-SB"/>
                <a:sym typeface="DFKai-SB"/>
              </a:rPr>
              <a:t>15</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NOT NULL</a:t>
            </a:r>
            <a:r>
              <a:rPr lang="zh-TW" sz="1100" b="1">
                <a:solidFill>
                  <a:schemeClr val="dk1"/>
                </a:solidFill>
                <a:highlight>
                  <a:srgbClr val="FFFFFF"/>
                </a:highlight>
                <a:latin typeface="DFKai-SB"/>
                <a:ea typeface="DFKai-SB"/>
                <a:cs typeface="DFKai-SB"/>
                <a:sym typeface="DFKai-SB"/>
              </a:rPr>
              <a:t>,</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action    </a:t>
            </a:r>
            <a:r>
              <a:rPr lang="zh-TW" sz="1100" b="1">
                <a:solidFill>
                  <a:srgbClr val="0000FF"/>
                </a:solidFill>
                <a:highlight>
                  <a:srgbClr val="FFFFFF"/>
                </a:highlight>
                <a:latin typeface="DFKai-SB"/>
                <a:ea typeface="DFKai-SB"/>
                <a:cs typeface="DFKai-SB"/>
                <a:sym typeface="DFKai-SB"/>
              </a:rPr>
              <a:t>VARCHAR</a:t>
            </a:r>
            <a:r>
              <a:rPr lang="zh-TW" sz="1100" b="1">
                <a:solidFill>
                  <a:schemeClr val="dk1"/>
                </a:solidFill>
                <a:highlight>
                  <a:srgbClr val="FFFFFF"/>
                </a:highlight>
                <a:latin typeface="DFKai-SB"/>
                <a:ea typeface="DFKai-SB"/>
                <a:cs typeface="DFKai-SB"/>
                <a:sym typeface="DFKai-SB"/>
              </a:rPr>
              <a:t>(</a:t>
            </a:r>
            <a:r>
              <a:rPr lang="zh-TW" sz="1100" b="1">
                <a:solidFill>
                  <a:srgbClr val="098658"/>
                </a:solidFill>
                <a:highlight>
                  <a:srgbClr val="FFFFFF"/>
                </a:highlight>
                <a:latin typeface="DFKai-SB"/>
                <a:ea typeface="DFKai-SB"/>
                <a:cs typeface="DFKai-SB"/>
                <a:sym typeface="DFKai-SB"/>
              </a:rPr>
              <a:t>10</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NOT NULL</a:t>
            </a:r>
            <a:r>
              <a:rPr lang="zh-TW" sz="1100" b="1">
                <a:solidFill>
                  <a:schemeClr val="dk1"/>
                </a:solidFill>
                <a:highlight>
                  <a:srgbClr val="FFFFFF"/>
                </a:highlight>
                <a:latin typeface="DFKai-SB"/>
                <a:ea typeface="DFKai-SB"/>
                <a:cs typeface="DFKai-SB"/>
                <a:sym typeface="DFKai-SB"/>
              </a:rPr>
              <a:t>,</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reason    </a:t>
            </a:r>
            <a:r>
              <a:rPr lang="zh-TW" sz="1100" b="1">
                <a:solidFill>
                  <a:srgbClr val="0000FF"/>
                </a:solidFill>
                <a:highlight>
                  <a:srgbClr val="FFFFFF"/>
                </a:highlight>
                <a:latin typeface="DFKai-SB"/>
                <a:ea typeface="DFKai-SB"/>
                <a:cs typeface="DFKai-SB"/>
                <a:sym typeface="DFKai-SB"/>
              </a:rPr>
              <a:t>VARCHAR</a:t>
            </a:r>
            <a:r>
              <a:rPr lang="zh-TW" sz="1100" b="1">
                <a:solidFill>
                  <a:schemeClr val="dk1"/>
                </a:solidFill>
                <a:highlight>
                  <a:srgbClr val="FFFFFF"/>
                </a:highlight>
                <a:latin typeface="DFKai-SB"/>
                <a:ea typeface="DFKai-SB"/>
                <a:cs typeface="DFKai-SB"/>
                <a:sym typeface="DFKai-SB"/>
              </a:rPr>
              <a:t>(</a:t>
            </a:r>
            <a:r>
              <a:rPr lang="zh-TW" sz="1100" b="1">
                <a:solidFill>
                  <a:srgbClr val="098658"/>
                </a:solidFill>
                <a:highlight>
                  <a:srgbClr val="FFFFFF"/>
                </a:highlight>
                <a:latin typeface="DFKai-SB"/>
                <a:ea typeface="DFKai-SB"/>
                <a:cs typeface="DFKai-SB"/>
                <a:sym typeface="DFKai-SB"/>
              </a:rPr>
              <a:t>200</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NULL</a:t>
            </a:r>
            <a:r>
              <a:rPr lang="zh-TW" sz="1100" b="1">
                <a:solidFill>
                  <a:schemeClr val="dk1"/>
                </a:solidFill>
                <a:highlight>
                  <a:srgbClr val="FFFFFF"/>
                </a:highlight>
                <a:latin typeface="DFKai-SB"/>
                <a:ea typeface="DFKai-SB"/>
                <a:cs typeface="DFKai-SB"/>
                <a:sym typeface="DFKai-SB"/>
              </a:rPr>
              <a:t>,</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timestamp </a:t>
            </a:r>
            <a:r>
              <a:rPr lang="zh-TW" sz="1100" b="1">
                <a:solidFill>
                  <a:srgbClr val="0000FF"/>
                </a:solidFill>
                <a:highlight>
                  <a:srgbClr val="FFFFFF"/>
                </a:highlight>
                <a:latin typeface="DFKai-SB"/>
                <a:ea typeface="DFKai-SB"/>
                <a:cs typeface="DFKai-SB"/>
                <a:sym typeface="DFKai-SB"/>
              </a:rPr>
              <a:t>DATETIME</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NOT NULL</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DEFAULT</a:t>
            </a:r>
            <a:r>
              <a:rPr lang="zh-TW" sz="1100" b="1">
                <a:solidFill>
                  <a:schemeClr val="dk1"/>
                </a:solidFill>
                <a:highlight>
                  <a:srgbClr val="FFFFFF"/>
                </a:highlight>
                <a:latin typeface="DFKai-SB"/>
                <a:ea typeface="DFKai-SB"/>
                <a:cs typeface="DFKai-SB"/>
                <a:sym typeface="DFKai-SB"/>
              </a:rPr>
              <a:t> CURRENT_TIMESTAMP,</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PRIMARY KEY</a:t>
            </a:r>
            <a:r>
              <a:rPr lang="zh-TW" sz="1100" b="1">
                <a:solidFill>
                  <a:schemeClr val="dk1"/>
                </a:solidFill>
                <a:highlight>
                  <a:srgbClr val="FFFFFF"/>
                </a:highlight>
                <a:latin typeface="DFKai-SB"/>
                <a:ea typeface="DFKai-SB"/>
                <a:cs typeface="DFKai-SB"/>
                <a:sym typeface="DFKai-SB"/>
              </a:rPr>
              <a:t> (log_id),</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FOREIGN KEY</a:t>
            </a:r>
            <a:r>
              <a:rPr lang="zh-TW" sz="1100" b="1">
                <a:solidFill>
                  <a:schemeClr val="dk1"/>
                </a:solidFill>
                <a:highlight>
                  <a:srgbClr val="FFFFFF"/>
                </a:highlight>
                <a:latin typeface="DFKai-SB"/>
                <a:ea typeface="DFKai-SB"/>
                <a:cs typeface="DFKai-SB"/>
                <a:sym typeface="DFKai-SB"/>
              </a:rPr>
              <a:t> (req_id)   </a:t>
            </a:r>
            <a:r>
              <a:rPr lang="zh-TW" sz="1100" b="1">
                <a:solidFill>
                  <a:srgbClr val="0000FF"/>
                </a:solidFill>
                <a:highlight>
                  <a:srgbClr val="FFFFFF"/>
                </a:highlight>
                <a:latin typeface="DFKai-SB"/>
                <a:ea typeface="DFKai-SB"/>
                <a:cs typeface="DFKai-SB"/>
                <a:sym typeface="DFKai-SB"/>
              </a:rPr>
              <a:t>REFERENCES</a:t>
            </a:r>
            <a:r>
              <a:rPr lang="zh-TW" sz="1100" b="1">
                <a:solidFill>
                  <a:schemeClr val="dk1"/>
                </a:solidFill>
                <a:highlight>
                  <a:srgbClr val="FFFFFF"/>
                </a:highlight>
                <a:latin typeface="DFKai-SB"/>
                <a:ea typeface="DFKai-SB"/>
                <a:cs typeface="DFKai-SB"/>
                <a:sym typeface="DFKai-SB"/>
              </a:rPr>
              <a:t> BorrowRequest(req_id),</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FOREIGN KEY</a:t>
            </a:r>
            <a:r>
              <a:rPr lang="zh-TW" sz="1100" b="1">
                <a:solidFill>
                  <a:schemeClr val="dk1"/>
                </a:solidFill>
                <a:highlight>
                  <a:srgbClr val="FFFFFF"/>
                </a:highlight>
                <a:latin typeface="DFKai-SB"/>
                <a:ea typeface="DFKai-SB"/>
                <a:cs typeface="DFKai-SB"/>
                <a:sym typeface="DFKai-SB"/>
              </a:rPr>
              <a:t> (admin_id) </a:t>
            </a:r>
            <a:r>
              <a:rPr lang="zh-TW" sz="1100" b="1">
                <a:solidFill>
                  <a:srgbClr val="0000FF"/>
                </a:solidFill>
                <a:highlight>
                  <a:srgbClr val="FFFFFF"/>
                </a:highlight>
                <a:latin typeface="DFKai-SB"/>
                <a:ea typeface="DFKai-SB"/>
                <a:cs typeface="DFKai-SB"/>
                <a:sym typeface="DFKai-SB"/>
              </a:rPr>
              <a:t>REFERENCES</a:t>
            </a:r>
            <a:r>
              <a:rPr lang="zh-TW" sz="1100" b="1">
                <a:solidFill>
                  <a:schemeClr val="dk1"/>
                </a:solidFill>
                <a:highlight>
                  <a:srgbClr val="FFFFFF"/>
                </a:highlight>
                <a:latin typeface="DFKai-SB"/>
                <a:ea typeface="DFKai-SB"/>
                <a:cs typeface="DFKai-SB"/>
                <a:sym typeface="DFKai-SB"/>
              </a:rPr>
              <a:t> User(user_id),</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CHECK</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action</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IN</a:t>
            </a:r>
            <a:r>
              <a:rPr lang="zh-TW" sz="1100" b="1">
                <a:solidFill>
                  <a:schemeClr val="dk1"/>
                </a:solidFill>
                <a:highlight>
                  <a:srgbClr val="FFFFFF"/>
                </a:highlight>
                <a:latin typeface="DFKai-SB"/>
                <a:ea typeface="DFKai-SB"/>
                <a:cs typeface="DFKai-SB"/>
                <a:sym typeface="DFKai-SB"/>
              </a:rPr>
              <a:t> (</a:t>
            </a:r>
            <a:r>
              <a:rPr lang="zh-TW" sz="1100" b="1">
                <a:solidFill>
                  <a:srgbClr val="A31515"/>
                </a:solidFill>
                <a:highlight>
                  <a:srgbClr val="FFFFFF"/>
                </a:highlight>
                <a:latin typeface="DFKai-SB"/>
                <a:ea typeface="DFKai-SB"/>
                <a:cs typeface="DFKai-SB"/>
                <a:sym typeface="DFKai-SB"/>
              </a:rPr>
              <a:t>'Approve'</a:t>
            </a:r>
            <a:r>
              <a:rPr lang="zh-TW" sz="1100" b="1">
                <a:solidFill>
                  <a:schemeClr val="dk1"/>
                </a:solidFill>
                <a:highlight>
                  <a:srgbClr val="FFFFFF"/>
                </a:highlight>
                <a:latin typeface="DFKai-SB"/>
                <a:ea typeface="DFKai-SB"/>
                <a:cs typeface="DFKai-SB"/>
                <a:sym typeface="DFKai-SB"/>
              </a:rPr>
              <a:t>, </a:t>
            </a:r>
            <a:r>
              <a:rPr lang="zh-TW" sz="1100" b="1">
                <a:solidFill>
                  <a:srgbClr val="A31515"/>
                </a:solidFill>
                <a:highlight>
                  <a:srgbClr val="FFFFFF"/>
                </a:highlight>
                <a:latin typeface="DFKai-SB"/>
                <a:ea typeface="DFKai-SB"/>
                <a:cs typeface="DFKai-SB"/>
                <a:sym typeface="DFKai-SB"/>
              </a:rPr>
              <a:t>'Reject'</a:t>
            </a:r>
            <a:r>
              <a:rPr lang="zh-TW" sz="1100" b="1">
                <a:solidFill>
                  <a:schemeClr val="dk1"/>
                </a:solidFill>
                <a:highlight>
                  <a:srgbClr val="FFFFFF"/>
                </a:highlight>
                <a:latin typeface="DFKai-SB"/>
                <a:ea typeface="DFKai-SB"/>
                <a:cs typeface="DFKai-SB"/>
                <a:sym typeface="DFKai-SB"/>
              </a:rPr>
              <a:t>)),</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CHECK</a:t>
            </a:r>
            <a:r>
              <a:rPr lang="zh-TW" sz="1100" b="1">
                <a:solidFill>
                  <a:schemeClr val="dk1"/>
                </a:solidFill>
                <a:highlight>
                  <a:srgbClr val="FFFFFF"/>
                </a:highlight>
                <a:latin typeface="DFKai-SB"/>
                <a:ea typeface="DFKai-SB"/>
                <a:cs typeface="DFKai-SB"/>
                <a:sym typeface="DFKai-SB"/>
              </a:rPr>
              <a:t> (</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action</a:t>
            </a:r>
            <a:r>
              <a:rPr lang="zh-TW" sz="1100" b="1">
                <a:solidFill>
                  <a:schemeClr val="dk1"/>
                </a:solidFill>
                <a:highlight>
                  <a:srgbClr val="FFFFFF"/>
                </a:highlight>
                <a:latin typeface="DFKai-SB"/>
                <a:ea typeface="DFKai-SB"/>
                <a:cs typeface="DFKai-SB"/>
                <a:sym typeface="DFKai-SB"/>
              </a:rPr>
              <a:t> = </a:t>
            </a:r>
            <a:r>
              <a:rPr lang="zh-TW" sz="1100" b="1">
                <a:solidFill>
                  <a:srgbClr val="A31515"/>
                </a:solidFill>
                <a:highlight>
                  <a:srgbClr val="FFFFFF"/>
                </a:highlight>
                <a:latin typeface="DFKai-SB"/>
                <a:ea typeface="DFKai-SB"/>
                <a:cs typeface="DFKai-SB"/>
                <a:sym typeface="DFKai-SB"/>
              </a:rPr>
              <a:t>'Approve'</a:t>
            </a:r>
            <a:endParaRPr sz="1100" b="1">
              <a:solidFill>
                <a:srgbClr val="A31515"/>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OR</a:t>
            </a:r>
            <a:endParaRPr sz="1100" b="1">
              <a:solidFill>
                <a:srgbClr val="0000FF"/>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action</a:t>
            </a:r>
            <a:r>
              <a:rPr lang="zh-TW" sz="1100" b="1">
                <a:solidFill>
                  <a:schemeClr val="dk1"/>
                </a:solidFill>
                <a:highlight>
                  <a:srgbClr val="FFFFFF"/>
                </a:highlight>
                <a:latin typeface="DFKai-SB"/>
                <a:ea typeface="DFKai-SB"/>
                <a:cs typeface="DFKai-SB"/>
                <a:sym typeface="DFKai-SB"/>
              </a:rPr>
              <a:t> = </a:t>
            </a:r>
            <a:r>
              <a:rPr lang="zh-TW" sz="1100" b="1">
                <a:solidFill>
                  <a:srgbClr val="A31515"/>
                </a:solidFill>
                <a:highlight>
                  <a:srgbClr val="FFFFFF"/>
                </a:highlight>
                <a:latin typeface="DFKai-SB"/>
                <a:ea typeface="DFKai-SB"/>
                <a:cs typeface="DFKai-SB"/>
                <a:sym typeface="DFKai-SB"/>
              </a:rPr>
              <a:t>'Reject'</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AND</a:t>
            </a:r>
            <a:r>
              <a:rPr lang="zh-TW" sz="1100" b="1">
                <a:solidFill>
                  <a:schemeClr val="dk1"/>
                </a:solidFill>
                <a:highlight>
                  <a:srgbClr val="FFFFFF"/>
                </a:highlight>
                <a:latin typeface="DFKai-SB"/>
                <a:ea typeface="DFKai-SB"/>
                <a:cs typeface="DFKai-SB"/>
                <a:sym typeface="DFKai-SB"/>
              </a:rPr>
              <a:t> reason </a:t>
            </a:r>
            <a:r>
              <a:rPr lang="zh-TW" sz="1100" b="1">
                <a:solidFill>
                  <a:srgbClr val="0000FF"/>
                </a:solidFill>
                <a:highlight>
                  <a:srgbClr val="FFFFFF"/>
                </a:highlight>
                <a:latin typeface="DFKai-SB"/>
                <a:ea typeface="DFKai-SB"/>
                <a:cs typeface="DFKai-SB"/>
                <a:sym typeface="DFKai-SB"/>
              </a:rPr>
              <a:t>IS NOT NULL</a:t>
            </a:r>
            <a:r>
              <a:rPr lang="zh-TW" sz="1100" b="1">
                <a:solidFill>
                  <a:schemeClr val="dk1"/>
                </a:solidFill>
                <a:highlight>
                  <a:srgbClr val="FFFFFF"/>
                </a:highlight>
                <a:latin typeface="DFKai-SB"/>
                <a:ea typeface="DFKai-SB"/>
                <a:cs typeface="DFKai-SB"/>
                <a:sym typeface="DFKai-SB"/>
              </a:rPr>
              <a:t> </a:t>
            </a:r>
            <a:r>
              <a:rPr lang="zh-TW" sz="1100" b="1">
                <a:solidFill>
                  <a:srgbClr val="0000FF"/>
                </a:solidFill>
                <a:highlight>
                  <a:srgbClr val="FFFFFF"/>
                </a:highlight>
                <a:latin typeface="DFKai-SB"/>
                <a:ea typeface="DFKai-SB"/>
                <a:cs typeface="DFKai-SB"/>
                <a:sym typeface="DFKai-SB"/>
              </a:rPr>
              <a:t>AND</a:t>
            </a:r>
            <a:r>
              <a:rPr lang="zh-TW" sz="1100" b="1">
                <a:solidFill>
                  <a:schemeClr val="dk1"/>
                </a:solidFill>
                <a:highlight>
                  <a:srgbClr val="FFFFFF"/>
                </a:highlight>
                <a:latin typeface="DFKai-SB"/>
                <a:ea typeface="DFKai-SB"/>
                <a:cs typeface="DFKai-SB"/>
                <a:sym typeface="DFKai-SB"/>
              </a:rPr>
              <a:t> </a:t>
            </a:r>
            <a:r>
              <a:rPr lang="zh-TW" sz="1100" b="1">
                <a:solidFill>
                  <a:srgbClr val="795E26"/>
                </a:solidFill>
                <a:highlight>
                  <a:srgbClr val="FFFFFF"/>
                </a:highlight>
                <a:latin typeface="DFKai-SB"/>
                <a:ea typeface="DFKai-SB"/>
                <a:cs typeface="DFKai-SB"/>
                <a:sym typeface="DFKai-SB"/>
              </a:rPr>
              <a:t>TRIM</a:t>
            </a:r>
            <a:r>
              <a:rPr lang="zh-TW" sz="1100" b="1">
                <a:solidFill>
                  <a:schemeClr val="dk1"/>
                </a:solidFill>
                <a:highlight>
                  <a:srgbClr val="FFFFFF"/>
                </a:highlight>
                <a:latin typeface="DFKai-SB"/>
                <a:ea typeface="DFKai-SB"/>
                <a:cs typeface="DFKai-SB"/>
                <a:sym typeface="DFKai-SB"/>
              </a:rPr>
              <a:t>(reason) &lt;&gt; </a:t>
            </a:r>
            <a:r>
              <a:rPr lang="zh-TW" sz="1100" b="1">
                <a:solidFill>
                  <a:srgbClr val="A31515"/>
                </a:solidFill>
                <a:highlight>
                  <a:srgbClr val="FFFFFF"/>
                </a:highlight>
                <a:latin typeface="DFKai-SB"/>
                <a:ea typeface="DFKai-SB"/>
                <a:cs typeface="DFKai-SB"/>
                <a:sym typeface="DFKai-SB"/>
              </a:rPr>
              <a:t>''</a:t>
            </a:r>
            <a:r>
              <a:rPr lang="zh-TW" sz="1100" b="1">
                <a:solidFill>
                  <a:schemeClr val="dk1"/>
                </a:solidFill>
                <a:highlight>
                  <a:srgbClr val="FFFFFF"/>
                </a:highlight>
                <a:latin typeface="DFKai-SB"/>
                <a:ea typeface="DFKai-SB"/>
                <a:cs typeface="DFKai-SB"/>
                <a:sym typeface="DFKai-SB"/>
              </a:rPr>
              <a:t>)</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    )</a:t>
            </a:r>
            <a:endParaRPr sz="1100" b="1">
              <a:solidFill>
                <a:schemeClr val="dk1"/>
              </a:solidFill>
              <a:highlight>
                <a:srgbClr val="FFFFFF"/>
              </a:highlight>
              <a:latin typeface="DFKai-SB"/>
              <a:ea typeface="DFKai-SB"/>
              <a:cs typeface="DFKai-SB"/>
              <a:sym typeface="DFKai-SB"/>
            </a:endParaRPr>
          </a:p>
          <a:p>
            <a:pPr marL="0" lvl="0" indent="0" algn="l" rtl="0">
              <a:lnSpc>
                <a:spcPct val="135714"/>
              </a:lnSpc>
              <a:spcBef>
                <a:spcPts val="0"/>
              </a:spcBef>
              <a:spcAft>
                <a:spcPts val="0"/>
              </a:spcAft>
              <a:buClr>
                <a:schemeClr val="dk1"/>
              </a:buClr>
              <a:buSzPts val="1100"/>
              <a:buFont typeface="Arial"/>
              <a:buNone/>
            </a:pPr>
            <a:r>
              <a:rPr lang="zh-TW" sz="1100" b="1">
                <a:solidFill>
                  <a:schemeClr val="dk1"/>
                </a:solidFill>
                <a:highlight>
                  <a:srgbClr val="FFFFFF"/>
                </a:highlight>
                <a:latin typeface="DFKai-SB"/>
                <a:ea typeface="DFKai-SB"/>
                <a:cs typeface="DFKai-SB"/>
                <a:sym typeface="DFKai-SB"/>
              </a:rPr>
              <a:t>);</a:t>
            </a:r>
            <a:endParaRPr sz="1100" b="1">
              <a:solidFill>
                <a:schemeClr val="dk1"/>
              </a:solidFill>
              <a:highlight>
                <a:srgbClr val="FFFFFF"/>
              </a:highlight>
              <a:latin typeface="DFKai-SB"/>
              <a:ea typeface="DFKai-SB"/>
              <a:cs typeface="DFKai-SB"/>
              <a:sym typeface="DFKai-SB"/>
            </a:endParaRPr>
          </a:p>
          <a:p>
            <a:pPr marL="0" lvl="0" indent="0" algn="l" rtl="0">
              <a:lnSpc>
                <a:spcPct val="115000"/>
              </a:lnSpc>
              <a:spcBef>
                <a:spcPts val="0"/>
              </a:spcBef>
              <a:spcAft>
                <a:spcPts val="0"/>
              </a:spcAft>
              <a:buClr>
                <a:schemeClr val="dk1"/>
              </a:buClr>
              <a:buSzPts val="1100"/>
              <a:buFont typeface="Arial"/>
              <a:buNone/>
            </a:pPr>
            <a:endParaRPr sz="1100" b="1">
              <a:solidFill>
                <a:schemeClr val="dk1"/>
              </a:solidFill>
              <a:latin typeface="DFKai-SB"/>
              <a:ea typeface="DFKai-SB"/>
              <a:cs typeface="DFKai-SB"/>
              <a:sym typeface="DFKai-SB"/>
            </a:endParaRPr>
          </a:p>
        </p:txBody>
      </p:sp>
      <p:sp>
        <p:nvSpPr>
          <p:cNvPr id="627" name="Google Shape;627;p52"/>
          <p:cNvSpPr txBox="1"/>
          <p:nvPr/>
        </p:nvSpPr>
        <p:spPr>
          <a:xfrm>
            <a:off x="902375" y="300775"/>
            <a:ext cx="37395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2300" b="1">
                <a:solidFill>
                  <a:schemeClr val="dk1"/>
                </a:solidFill>
                <a:latin typeface="DFKai-SB"/>
                <a:ea typeface="DFKai-SB"/>
                <a:cs typeface="DFKai-SB"/>
                <a:sym typeface="DFKai-SB"/>
              </a:rPr>
              <a:t>建立 AuditLog 資料表</a:t>
            </a:r>
            <a:endParaRPr sz="2300" b="1">
              <a:latin typeface="DFKai-SB"/>
              <a:ea typeface="DFKai-SB"/>
              <a:cs typeface="DFKai-SB"/>
              <a:sym typeface="DFKai-SB"/>
            </a:endParaRPr>
          </a:p>
        </p:txBody>
      </p:sp>
      <p:grpSp>
        <p:nvGrpSpPr>
          <p:cNvPr id="628" name="Google Shape;628;p52"/>
          <p:cNvGrpSpPr/>
          <p:nvPr/>
        </p:nvGrpSpPr>
        <p:grpSpPr>
          <a:xfrm>
            <a:off x="382271" y="259655"/>
            <a:ext cx="450310" cy="429099"/>
            <a:chOff x="956666" y="3498086"/>
            <a:chExt cx="600413" cy="572132"/>
          </a:xfrm>
        </p:grpSpPr>
        <p:sp>
          <p:nvSpPr>
            <p:cNvPr id="629" name="Google Shape;629;p52"/>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630" name="Google Shape;630;p52"/>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631" name="Google Shape;631;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grpSp>
        <p:nvGrpSpPr>
          <p:cNvPr id="733" name="Google Shape;733;p62"/>
          <p:cNvGrpSpPr/>
          <p:nvPr/>
        </p:nvGrpSpPr>
        <p:grpSpPr>
          <a:xfrm>
            <a:off x="382271" y="259655"/>
            <a:ext cx="450310" cy="429099"/>
            <a:chOff x="956666" y="3498086"/>
            <a:chExt cx="600413" cy="572132"/>
          </a:xfrm>
        </p:grpSpPr>
        <p:sp>
          <p:nvSpPr>
            <p:cNvPr id="734" name="Google Shape;734;p62"/>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35" name="Google Shape;735;p62"/>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36" name="Google Shape;736;p62"/>
          <p:cNvSpPr txBox="1"/>
          <p:nvPr/>
        </p:nvSpPr>
        <p:spPr>
          <a:xfrm>
            <a:off x="192500" y="794950"/>
            <a:ext cx="8148900" cy="139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INSERT INTO AuditLog (req_id, admin_id, action, reason, timestamp) VALUES</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(1, 'A0001', 'Approve', NULL, '2026-05-21 14:00:00'),</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zh-TW" b="1">
                <a:solidFill>
                  <a:schemeClr val="dk1"/>
                </a:solidFill>
                <a:latin typeface="Courier New"/>
                <a:ea typeface="Courier New"/>
                <a:cs typeface="Courier New"/>
                <a:sym typeface="Courier New"/>
              </a:rPr>
              <a:t>(2, 'A0001', 'Reject', '申請時段與已核准之教室借用申請衝突，無法核准借用申請', '2026-05-21 14:05:00'),</a:t>
            </a:r>
            <a:endParaRPr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zh-TW" b="1">
                <a:solidFill>
                  <a:schemeClr val="dk1"/>
                </a:solidFill>
                <a:latin typeface="Courier New"/>
                <a:ea typeface="Courier New"/>
                <a:cs typeface="Courier New"/>
                <a:sym typeface="Courier New"/>
              </a:rPr>
              <a:t>(5, 'A0001', 'Approve', NULL, '2026-06-02 10:00:00');</a:t>
            </a:r>
            <a:endParaRPr b="1">
              <a:solidFill>
                <a:schemeClr val="dk1"/>
              </a:solidFill>
              <a:latin typeface="Courier New"/>
              <a:ea typeface="Courier New"/>
              <a:cs typeface="Courier New"/>
              <a:sym typeface="Courier New"/>
            </a:endParaRPr>
          </a:p>
        </p:txBody>
      </p:sp>
      <p:sp>
        <p:nvSpPr>
          <p:cNvPr id="737" name="Google Shape;737;p62"/>
          <p:cNvSpPr txBox="1"/>
          <p:nvPr/>
        </p:nvSpPr>
        <p:spPr>
          <a:xfrm>
            <a:off x="896350"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a:solidFill>
                  <a:schemeClr val="dk1"/>
                </a:solidFill>
                <a:latin typeface="DFKai-SB"/>
                <a:ea typeface="DFKai-SB"/>
                <a:cs typeface="DFKai-SB"/>
                <a:sym typeface="DFKai-SB"/>
              </a:rPr>
              <a:t>AuditLog 資料範例</a:t>
            </a:r>
            <a:endParaRPr sz="2300">
              <a:latin typeface="DFKai-SB"/>
              <a:ea typeface="DFKai-SB"/>
              <a:cs typeface="DFKai-SB"/>
              <a:sym typeface="DFKai-SB"/>
            </a:endParaRPr>
          </a:p>
        </p:txBody>
      </p:sp>
      <p:graphicFrame>
        <p:nvGraphicFramePr>
          <p:cNvPr id="738" name="Google Shape;738;p62"/>
          <p:cNvGraphicFramePr/>
          <p:nvPr/>
        </p:nvGraphicFramePr>
        <p:xfrm>
          <a:off x="539838" y="2384150"/>
          <a:ext cx="7660225" cy="1984980"/>
        </p:xfrm>
        <a:graphic>
          <a:graphicData uri="http://schemas.openxmlformats.org/drawingml/2006/table">
            <a:tbl>
              <a:tblPr>
                <a:noFill/>
                <a:tableStyleId>{AC306F20-B5FA-46C3-8F7C-962CBD427640}</a:tableStyleId>
              </a:tblPr>
              <a:tblGrid>
                <a:gridCol w="766025">
                  <a:extLst>
                    <a:ext uri="{9D8B030D-6E8A-4147-A177-3AD203B41FA5}">
                      <a16:colId xmlns:a16="http://schemas.microsoft.com/office/drawing/2014/main" val="20000"/>
                    </a:ext>
                  </a:extLst>
                </a:gridCol>
                <a:gridCol w="776375">
                  <a:extLst>
                    <a:ext uri="{9D8B030D-6E8A-4147-A177-3AD203B41FA5}">
                      <a16:colId xmlns:a16="http://schemas.microsoft.com/office/drawing/2014/main" val="20001"/>
                    </a:ext>
                  </a:extLst>
                </a:gridCol>
                <a:gridCol w="1004125">
                  <a:extLst>
                    <a:ext uri="{9D8B030D-6E8A-4147-A177-3AD203B41FA5}">
                      <a16:colId xmlns:a16="http://schemas.microsoft.com/office/drawing/2014/main" val="20002"/>
                    </a:ext>
                  </a:extLst>
                </a:gridCol>
                <a:gridCol w="900600">
                  <a:extLst>
                    <a:ext uri="{9D8B030D-6E8A-4147-A177-3AD203B41FA5}">
                      <a16:colId xmlns:a16="http://schemas.microsoft.com/office/drawing/2014/main" val="20003"/>
                    </a:ext>
                  </a:extLst>
                </a:gridCol>
                <a:gridCol w="2096575">
                  <a:extLst>
                    <a:ext uri="{9D8B030D-6E8A-4147-A177-3AD203B41FA5}">
                      <a16:colId xmlns:a16="http://schemas.microsoft.com/office/drawing/2014/main" val="20004"/>
                    </a:ext>
                  </a:extLst>
                </a:gridCol>
                <a:gridCol w="2116525">
                  <a:extLst>
                    <a:ext uri="{9D8B030D-6E8A-4147-A177-3AD203B41FA5}">
                      <a16:colId xmlns:a16="http://schemas.microsoft.com/office/drawing/2014/main" val="20005"/>
                    </a:ext>
                  </a:extLst>
                </a:gridCol>
              </a:tblGrid>
              <a:tr h="295275">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log_id</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req_id</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admin_id</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action</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reason</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b="1">
                          <a:solidFill>
                            <a:schemeClr val="dk1"/>
                          </a:solidFill>
                          <a:latin typeface="DFKai-SB"/>
                          <a:ea typeface="DFKai-SB"/>
                          <a:cs typeface="DFKai-SB"/>
                          <a:sym typeface="DFKai-SB"/>
                        </a:rPr>
                        <a:t>timestamp</a:t>
                      </a:r>
                      <a:endParaRPr sz="1200" b="1">
                        <a:solidFill>
                          <a:schemeClr val="dk1"/>
                        </a:solidFill>
                        <a:latin typeface="DFKai-SB"/>
                        <a:ea typeface="DFKai-SB"/>
                        <a:cs typeface="DFKai-SB"/>
                        <a:sym typeface="DFKai-SB"/>
                      </a:endParaRPr>
                    </a:p>
                  </a:txBody>
                  <a:tcPr marL="91425" marR="91425" marT="91425" marB="91425">
                    <a:lnL w="19050" cap="flat" cmpd="sng">
                      <a:solidFill>
                        <a:srgbClr val="0086B3"/>
                      </a:solidFill>
                      <a:prstDash val="solid"/>
                      <a:round/>
                      <a:headEnd type="none" w="sm" len="sm"/>
                      <a:tailEnd type="none" w="sm" len="sm"/>
                    </a:lnL>
                    <a:lnR w="19050" cap="flat" cmpd="sng">
                      <a:solidFill>
                        <a:srgbClr val="0086B3"/>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0086B3"/>
                      </a:solidFill>
                      <a:prstDash val="solid"/>
                      <a:round/>
                      <a:headEnd type="none" w="sm" len="sm"/>
                      <a:tailEnd type="none" w="sm" len="sm"/>
                    </a:lnB>
                  </a:tcPr>
                </a:tc>
                <a:extLst>
                  <a:ext uri="{0D108BD9-81ED-4DB2-BD59-A6C34878D82A}">
                    <a16:rowId xmlns:a16="http://schemas.microsoft.com/office/drawing/2014/main" val="10000"/>
                  </a:ext>
                </a:extLst>
              </a:tr>
              <a:tr h="47625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A0001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Approve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NULL</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2026-05-21 14:00:00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0086B3"/>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1"/>
                  </a:ext>
                </a:extLst>
              </a:tr>
              <a:tr h="5715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2</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2</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A0001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Reject</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申請時段與已核准申請衝突</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2026-05-21 14:05:00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2"/>
                  </a:ext>
                </a:extLst>
              </a:tr>
              <a:tr h="571500">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3</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5</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A0001</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Approve</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NULL</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zh-TW" sz="1200">
                          <a:solidFill>
                            <a:schemeClr val="dk1"/>
                          </a:solidFill>
                          <a:latin typeface="DFKai-SB"/>
                          <a:ea typeface="DFKai-SB"/>
                          <a:cs typeface="DFKai-SB"/>
                          <a:sym typeface="DFKai-SB"/>
                        </a:rPr>
                        <a:t>2026-06-02 10:00:00</a:t>
                      </a:r>
                      <a:endParaRPr sz="1200">
                        <a:solidFill>
                          <a:schemeClr val="dk1"/>
                        </a:solidFill>
                        <a:latin typeface="DFKai-SB"/>
                        <a:ea typeface="DFKai-SB"/>
                        <a:cs typeface="DFKai-SB"/>
                        <a:sym typeface="DFKai-SB"/>
                      </a:endParaRPr>
                    </a:p>
                  </a:txBody>
                  <a:tcPr marL="91425" marR="91425" marT="91425" marB="91425">
                    <a:lnL w="19050" cap="flat" cmpd="sng">
                      <a:solidFill>
                        <a:srgbClr val="55C0AF"/>
                      </a:solidFill>
                      <a:prstDash val="solid"/>
                      <a:round/>
                      <a:headEnd type="none" w="sm" len="sm"/>
                      <a:tailEnd type="none" w="sm" len="sm"/>
                    </a:lnL>
                    <a:lnR w="19050" cap="flat" cmpd="sng">
                      <a:solidFill>
                        <a:srgbClr val="55C0AF"/>
                      </a:solidFill>
                      <a:prstDash val="solid"/>
                      <a:round/>
                      <a:headEnd type="none" w="sm" len="sm"/>
                      <a:tailEnd type="none" w="sm" len="sm"/>
                    </a:lnR>
                    <a:lnT w="19050" cap="flat" cmpd="sng">
                      <a:solidFill>
                        <a:srgbClr val="55C0AF"/>
                      </a:solidFill>
                      <a:prstDash val="solid"/>
                      <a:round/>
                      <a:headEnd type="none" w="sm" len="sm"/>
                      <a:tailEnd type="none" w="sm" len="sm"/>
                    </a:lnT>
                    <a:lnB w="19050" cap="flat" cmpd="sng">
                      <a:solidFill>
                        <a:srgbClr val="55C0A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739" name="Google Shape;739;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49</a:t>
            </a:fld>
            <a:endParaRPr/>
          </a:p>
        </p:txBody>
      </p:sp>
    </p:spTree>
    <p:extLst>
      <p:ext uri="{BB962C8B-B14F-4D97-AF65-F5344CB8AC3E}">
        <p14:creationId xmlns:p14="http://schemas.microsoft.com/office/powerpoint/2010/main" val="22459149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4"/>
        <p:cNvGrpSpPr/>
        <p:nvPr/>
      </p:nvGrpSpPr>
      <p:grpSpPr>
        <a:xfrm>
          <a:off x="0" y="0"/>
          <a:ext cx="0" cy="0"/>
          <a:chOff x="0" y="0"/>
          <a:chExt cx="0" cy="0"/>
        </a:xfrm>
      </p:grpSpPr>
      <p:sp>
        <p:nvSpPr>
          <p:cNvPr id="745" name="Google Shape;745;p63"/>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zh-TW" sz="2700" b="1">
                <a:solidFill>
                  <a:srgbClr val="262833"/>
                </a:solidFill>
                <a:highlight>
                  <a:srgbClr val="FFFFFF"/>
                </a:highlight>
                <a:latin typeface="DFKai-SB"/>
                <a:ea typeface="DFKai-SB"/>
                <a:cs typeface="DFKai-SB"/>
                <a:sym typeface="DFKai-SB"/>
              </a:rPr>
              <a:t>系統實作成果</a:t>
            </a:r>
            <a:r>
              <a:rPr lang="zh-TW" sz="2700" b="1">
                <a:solidFill>
                  <a:schemeClr val="dk1"/>
                </a:solidFill>
                <a:latin typeface="DFKai-SB"/>
                <a:ea typeface="DFKai-SB"/>
                <a:cs typeface="DFKai-SB"/>
                <a:sym typeface="DFKai-SB"/>
              </a:rPr>
              <a:t> </a:t>
            </a:r>
            <a:endParaRPr sz="2700" b="1">
              <a:solidFill>
                <a:srgbClr val="262833"/>
              </a:solidFill>
              <a:highlight>
                <a:srgbClr val="FFFFFF"/>
              </a:highlight>
              <a:latin typeface="DFKai-SB"/>
              <a:ea typeface="DFKai-SB"/>
              <a:cs typeface="DFKai-SB"/>
              <a:sym typeface="DFKai-SB"/>
            </a:endParaRPr>
          </a:p>
        </p:txBody>
      </p:sp>
      <p:grpSp>
        <p:nvGrpSpPr>
          <p:cNvPr id="746" name="Google Shape;746;p63"/>
          <p:cNvGrpSpPr/>
          <p:nvPr/>
        </p:nvGrpSpPr>
        <p:grpSpPr>
          <a:xfrm>
            <a:off x="3502220" y="2913950"/>
            <a:ext cx="856180" cy="936540"/>
            <a:chOff x="589141" y="2168066"/>
            <a:chExt cx="1141573" cy="1248720"/>
          </a:xfrm>
        </p:grpSpPr>
        <p:grpSp>
          <p:nvGrpSpPr>
            <p:cNvPr id="747" name="Google Shape;747;p63"/>
            <p:cNvGrpSpPr/>
            <p:nvPr/>
          </p:nvGrpSpPr>
          <p:grpSpPr>
            <a:xfrm>
              <a:off x="589141" y="2173776"/>
              <a:ext cx="1126055" cy="1243010"/>
              <a:chOff x="1950418" y="3368985"/>
              <a:chExt cx="432101" cy="476980"/>
            </a:xfrm>
          </p:grpSpPr>
          <p:sp>
            <p:nvSpPr>
              <p:cNvPr id="748" name="Google Shape;748;p63"/>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49" name="Google Shape;749;p63"/>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50" name="Google Shape;750;p63"/>
            <p:cNvSpPr txBox="1"/>
            <p:nvPr/>
          </p:nvSpPr>
          <p:spPr>
            <a:xfrm>
              <a:off x="698714" y="2168066"/>
              <a:ext cx="10320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4100" b="1" dirty="0">
                  <a:solidFill>
                    <a:schemeClr val="lt1"/>
                  </a:solidFill>
                  <a:latin typeface="Microsoft Yahei"/>
                  <a:ea typeface="Microsoft Yahei"/>
                  <a:cs typeface="Microsoft Yahei"/>
                  <a:sym typeface="Microsoft Yahei"/>
                </a:rPr>
                <a:t> </a:t>
              </a:r>
              <a:r>
                <a:rPr lang="en-US" altLang="zh-TW" sz="4100" b="1" dirty="0">
                  <a:solidFill>
                    <a:schemeClr val="lt1"/>
                  </a:solidFill>
                  <a:latin typeface="Microsoft Yahei"/>
                  <a:ea typeface="Microsoft Yahei"/>
                  <a:cs typeface="Microsoft Yahei"/>
                  <a:sym typeface="Microsoft Yahei"/>
                </a:rPr>
                <a:t>7</a:t>
              </a:r>
              <a:endParaRPr sz="4100" b="1" dirty="0">
                <a:solidFill>
                  <a:schemeClr val="lt1"/>
                </a:solidFill>
                <a:latin typeface="Microsoft Yahei"/>
                <a:ea typeface="Microsoft Yahei"/>
                <a:cs typeface="Microsoft Yahei"/>
                <a:sym typeface="Microsoft Yahei"/>
              </a:endParaRPr>
            </a:p>
          </p:txBody>
        </p:sp>
      </p:grpSp>
      <p:sp>
        <p:nvSpPr>
          <p:cNvPr id="751" name="Google Shape;751;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grpSp>
        <p:nvGrpSpPr>
          <p:cNvPr id="756" name="Google Shape;756;p64"/>
          <p:cNvGrpSpPr/>
          <p:nvPr/>
        </p:nvGrpSpPr>
        <p:grpSpPr>
          <a:xfrm>
            <a:off x="382271" y="259655"/>
            <a:ext cx="450310" cy="429099"/>
            <a:chOff x="956666" y="3498086"/>
            <a:chExt cx="600413" cy="572132"/>
          </a:xfrm>
        </p:grpSpPr>
        <p:sp>
          <p:nvSpPr>
            <p:cNvPr id="757" name="Google Shape;757;p64"/>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58" name="Google Shape;758;p64"/>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59" name="Google Shape;759;p64"/>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Clr>
                <a:schemeClr val="dk1"/>
              </a:buClr>
              <a:buSzPts val="1100"/>
              <a:buFont typeface="Arial"/>
              <a:buNone/>
            </a:pPr>
            <a:r>
              <a:rPr lang="zh-TW" sz="2300" b="1">
                <a:solidFill>
                  <a:schemeClr val="dk1"/>
                </a:solidFill>
                <a:latin typeface="DFKai-SB"/>
                <a:ea typeface="DFKai-SB"/>
                <a:cs typeface="DFKai-SB"/>
                <a:sym typeface="DFKai-SB"/>
              </a:rPr>
              <a:t>建立資料庫</a:t>
            </a:r>
            <a:endParaRPr sz="2300">
              <a:latin typeface="DFKai-SB"/>
              <a:ea typeface="DFKai-SB"/>
              <a:cs typeface="DFKai-SB"/>
              <a:sym typeface="DFKai-SB"/>
            </a:endParaRPr>
          </a:p>
        </p:txBody>
      </p:sp>
      <p:sp>
        <p:nvSpPr>
          <p:cNvPr id="760" name="Google Shape;760;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51</a:t>
            </a:fld>
            <a:endParaRPr/>
          </a:p>
        </p:txBody>
      </p:sp>
      <p:pic>
        <p:nvPicPr>
          <p:cNvPr id="761" name="Google Shape;761;p64"/>
          <p:cNvPicPr preferRelativeResize="0"/>
          <p:nvPr/>
        </p:nvPicPr>
        <p:blipFill>
          <a:blip r:embed="rId3">
            <a:alphaModFix/>
          </a:blip>
          <a:stretch>
            <a:fillRect/>
          </a:stretch>
        </p:blipFill>
        <p:spPr>
          <a:xfrm>
            <a:off x="2457034" y="1374625"/>
            <a:ext cx="6428116" cy="938100"/>
          </a:xfrm>
          <a:prstGeom prst="rect">
            <a:avLst/>
          </a:prstGeom>
          <a:noFill/>
          <a:ln>
            <a:noFill/>
          </a:ln>
        </p:spPr>
      </p:pic>
      <p:sp>
        <p:nvSpPr>
          <p:cNvPr id="762" name="Google Shape;762;p64"/>
          <p:cNvSpPr txBox="1"/>
          <p:nvPr/>
        </p:nvSpPr>
        <p:spPr>
          <a:xfrm>
            <a:off x="315425" y="3212363"/>
            <a:ext cx="2074200" cy="93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100">
                <a:solidFill>
                  <a:schemeClr val="dk1"/>
                </a:solidFill>
                <a:latin typeface="DFKai-SB"/>
                <a:ea typeface="DFKai-SB"/>
                <a:cs typeface="DFKai-SB"/>
                <a:sym typeface="DFKai-SB"/>
              </a:rPr>
              <a:t>依序建立 User、Room、Equipment、BorrowRequest、AuditLog，設定主鍵、外鍵、CHECK 條件與預設值。</a:t>
            </a:r>
            <a:endParaRPr>
              <a:latin typeface="DFKai-SB"/>
              <a:ea typeface="DFKai-SB"/>
              <a:cs typeface="DFKai-SB"/>
              <a:sym typeface="DFKai-SB"/>
            </a:endParaRPr>
          </a:p>
        </p:txBody>
      </p:sp>
      <p:pic>
        <p:nvPicPr>
          <p:cNvPr id="763" name="Google Shape;763;p64"/>
          <p:cNvPicPr preferRelativeResize="0"/>
          <p:nvPr/>
        </p:nvPicPr>
        <p:blipFill>
          <a:blip r:embed="rId4">
            <a:alphaModFix/>
          </a:blip>
          <a:stretch>
            <a:fillRect/>
          </a:stretch>
        </p:blipFill>
        <p:spPr>
          <a:xfrm>
            <a:off x="2571350" y="2571750"/>
            <a:ext cx="5743575" cy="2219325"/>
          </a:xfrm>
          <a:prstGeom prst="rect">
            <a:avLst/>
          </a:prstGeom>
          <a:noFill/>
          <a:ln>
            <a:noFill/>
          </a:ln>
        </p:spPr>
      </p:pic>
      <p:sp>
        <p:nvSpPr>
          <p:cNvPr id="764" name="Google Shape;764;p64"/>
          <p:cNvSpPr txBox="1"/>
          <p:nvPr/>
        </p:nvSpPr>
        <p:spPr>
          <a:xfrm>
            <a:off x="189850" y="1179925"/>
            <a:ext cx="1932300" cy="1132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100">
                <a:solidFill>
                  <a:schemeClr val="dk1"/>
                </a:solidFill>
                <a:latin typeface="DFKai-SB"/>
                <a:ea typeface="DFKai-SB"/>
                <a:cs typeface="DFKai-SB"/>
                <a:sym typeface="DFKai-SB"/>
              </a:rPr>
              <a:t>首先建立資料庫 classroom_borrow，並依照系統設計依序建立五張資料表：User、Room、Equipment、BorrowRequest、AuditLog</a:t>
            </a:r>
            <a:endParaRPr>
              <a:latin typeface="DFKai-SB"/>
              <a:ea typeface="DFKai-SB"/>
              <a:cs typeface="DFKai-SB"/>
              <a:sym typeface="DFKai-SB"/>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pic>
        <p:nvPicPr>
          <p:cNvPr id="769" name="Google Shape;769;p65"/>
          <p:cNvPicPr preferRelativeResize="0"/>
          <p:nvPr/>
        </p:nvPicPr>
        <p:blipFill>
          <a:blip r:embed="rId3">
            <a:alphaModFix/>
          </a:blip>
          <a:stretch>
            <a:fillRect/>
          </a:stretch>
        </p:blipFill>
        <p:spPr>
          <a:xfrm>
            <a:off x="2134588" y="903875"/>
            <a:ext cx="5743575" cy="2219325"/>
          </a:xfrm>
          <a:prstGeom prst="rect">
            <a:avLst/>
          </a:prstGeom>
          <a:noFill/>
          <a:ln>
            <a:noFill/>
          </a:ln>
        </p:spPr>
      </p:pic>
      <p:pic>
        <p:nvPicPr>
          <p:cNvPr id="770" name="Google Shape;770;p65"/>
          <p:cNvPicPr preferRelativeResize="0"/>
          <p:nvPr/>
        </p:nvPicPr>
        <p:blipFill>
          <a:blip r:embed="rId4">
            <a:alphaModFix/>
          </a:blip>
          <a:stretch>
            <a:fillRect/>
          </a:stretch>
        </p:blipFill>
        <p:spPr>
          <a:xfrm>
            <a:off x="2134600" y="3123200"/>
            <a:ext cx="5743575" cy="1866900"/>
          </a:xfrm>
          <a:prstGeom prst="rect">
            <a:avLst/>
          </a:prstGeom>
          <a:noFill/>
          <a:ln>
            <a:noFill/>
          </a:ln>
        </p:spPr>
      </p:pic>
      <p:grpSp>
        <p:nvGrpSpPr>
          <p:cNvPr id="771" name="Google Shape;771;p65"/>
          <p:cNvGrpSpPr/>
          <p:nvPr/>
        </p:nvGrpSpPr>
        <p:grpSpPr>
          <a:xfrm>
            <a:off x="382271" y="259655"/>
            <a:ext cx="450310" cy="429099"/>
            <a:chOff x="956666" y="3498086"/>
            <a:chExt cx="600413" cy="572132"/>
          </a:xfrm>
        </p:grpSpPr>
        <p:sp>
          <p:nvSpPr>
            <p:cNvPr id="772" name="Google Shape;772;p65"/>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73" name="Google Shape;773;p65"/>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74" name="Google Shape;774;p65"/>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sz="2300" b="1">
                <a:solidFill>
                  <a:schemeClr val="dk1"/>
                </a:solidFill>
                <a:latin typeface="DFKai-SB"/>
                <a:ea typeface="DFKai-SB"/>
                <a:cs typeface="DFKai-SB"/>
                <a:sym typeface="DFKai-SB"/>
              </a:rPr>
              <a:t>建立資料表</a:t>
            </a:r>
            <a:endParaRPr sz="2300">
              <a:latin typeface="DFKai-SB"/>
              <a:ea typeface="DFKai-SB"/>
              <a:cs typeface="DFKai-SB"/>
              <a:sym typeface="DFKai-SB"/>
            </a:endParaRPr>
          </a:p>
        </p:txBody>
      </p:sp>
      <p:sp>
        <p:nvSpPr>
          <p:cNvPr id="775" name="Google Shape;775;p65"/>
          <p:cNvSpPr txBox="1"/>
          <p:nvPr/>
        </p:nvSpPr>
        <p:spPr>
          <a:xfrm>
            <a:off x="213050" y="1505975"/>
            <a:ext cx="1606800" cy="681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500"/>
              </a:spcBef>
              <a:spcAft>
                <a:spcPts val="500"/>
              </a:spcAft>
              <a:buNone/>
            </a:pPr>
            <a:r>
              <a:rPr lang="zh-TW" sz="1500">
                <a:solidFill>
                  <a:schemeClr val="dk1"/>
                </a:solidFill>
                <a:latin typeface="DFKai-SB"/>
                <a:ea typeface="DFKai-SB"/>
                <a:cs typeface="DFKai-SB"/>
                <a:sym typeface="DFKai-SB"/>
              </a:rPr>
              <a:t>建立資料表  User</a:t>
            </a:r>
            <a:endParaRPr sz="1500">
              <a:solidFill>
                <a:schemeClr val="dk1"/>
              </a:solidFill>
              <a:latin typeface="DFKai-SB"/>
              <a:ea typeface="DFKai-SB"/>
              <a:cs typeface="DFKai-SB"/>
              <a:sym typeface="DFKai-SB"/>
            </a:endParaRPr>
          </a:p>
        </p:txBody>
      </p:sp>
      <p:sp>
        <p:nvSpPr>
          <p:cNvPr id="776" name="Google Shape;776;p65"/>
          <p:cNvSpPr txBox="1"/>
          <p:nvPr/>
        </p:nvSpPr>
        <p:spPr>
          <a:xfrm>
            <a:off x="213050" y="3713750"/>
            <a:ext cx="1606800" cy="681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500"/>
              </a:spcBef>
              <a:spcAft>
                <a:spcPts val="500"/>
              </a:spcAft>
              <a:buNone/>
            </a:pPr>
            <a:r>
              <a:rPr lang="zh-TW" sz="1500">
                <a:solidFill>
                  <a:schemeClr val="dk1"/>
                </a:solidFill>
                <a:latin typeface="DFKai-SB"/>
                <a:ea typeface="DFKai-SB"/>
                <a:cs typeface="DFKai-SB"/>
                <a:sym typeface="DFKai-SB"/>
              </a:rPr>
              <a:t>建立資料表  Room</a:t>
            </a:r>
            <a:endParaRPr sz="2000">
              <a:latin typeface="DFKai-SB"/>
              <a:ea typeface="DFKai-SB"/>
              <a:cs typeface="DFKai-SB"/>
              <a:sym typeface="DFKai-SB"/>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pic>
        <p:nvPicPr>
          <p:cNvPr id="781" name="Google Shape;781;p66"/>
          <p:cNvPicPr preferRelativeResize="0"/>
          <p:nvPr/>
        </p:nvPicPr>
        <p:blipFill>
          <a:blip r:embed="rId3">
            <a:alphaModFix/>
          </a:blip>
          <a:stretch>
            <a:fillRect/>
          </a:stretch>
        </p:blipFill>
        <p:spPr>
          <a:xfrm>
            <a:off x="2654125" y="350375"/>
            <a:ext cx="5743575" cy="2047875"/>
          </a:xfrm>
          <a:prstGeom prst="rect">
            <a:avLst/>
          </a:prstGeom>
          <a:noFill/>
          <a:ln>
            <a:noFill/>
          </a:ln>
        </p:spPr>
      </p:pic>
      <p:pic>
        <p:nvPicPr>
          <p:cNvPr id="782" name="Google Shape;782;p66"/>
          <p:cNvPicPr preferRelativeResize="0"/>
          <p:nvPr/>
        </p:nvPicPr>
        <p:blipFill>
          <a:blip r:embed="rId4">
            <a:alphaModFix/>
          </a:blip>
          <a:stretch>
            <a:fillRect/>
          </a:stretch>
        </p:blipFill>
        <p:spPr>
          <a:xfrm>
            <a:off x="2654125" y="2398250"/>
            <a:ext cx="5743575" cy="2733675"/>
          </a:xfrm>
          <a:prstGeom prst="rect">
            <a:avLst/>
          </a:prstGeom>
          <a:noFill/>
          <a:ln>
            <a:noFill/>
          </a:ln>
        </p:spPr>
      </p:pic>
      <p:grpSp>
        <p:nvGrpSpPr>
          <p:cNvPr id="783" name="Google Shape;783;p66"/>
          <p:cNvGrpSpPr/>
          <p:nvPr/>
        </p:nvGrpSpPr>
        <p:grpSpPr>
          <a:xfrm>
            <a:off x="382271" y="259655"/>
            <a:ext cx="450310" cy="429099"/>
            <a:chOff x="956666" y="3498086"/>
            <a:chExt cx="600413" cy="572132"/>
          </a:xfrm>
        </p:grpSpPr>
        <p:sp>
          <p:nvSpPr>
            <p:cNvPr id="784" name="Google Shape;784;p66"/>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85" name="Google Shape;785;p66"/>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86" name="Google Shape;786;p66"/>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sz="2300" b="1">
                <a:solidFill>
                  <a:schemeClr val="dk1"/>
                </a:solidFill>
                <a:latin typeface="DFKai-SB"/>
                <a:ea typeface="DFKai-SB"/>
                <a:cs typeface="DFKai-SB"/>
                <a:sym typeface="DFKai-SB"/>
              </a:rPr>
              <a:t>建立資料表</a:t>
            </a:r>
            <a:endParaRPr sz="2300">
              <a:latin typeface="DFKai-SB"/>
              <a:ea typeface="DFKai-SB"/>
              <a:cs typeface="DFKai-SB"/>
              <a:sym typeface="DFKai-SB"/>
            </a:endParaRPr>
          </a:p>
        </p:txBody>
      </p:sp>
      <p:sp>
        <p:nvSpPr>
          <p:cNvPr id="787" name="Google Shape;787;p66"/>
          <p:cNvSpPr txBox="1"/>
          <p:nvPr/>
        </p:nvSpPr>
        <p:spPr>
          <a:xfrm>
            <a:off x="503325" y="3824525"/>
            <a:ext cx="1755000" cy="747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500"/>
              </a:spcBef>
              <a:spcAft>
                <a:spcPts val="500"/>
              </a:spcAft>
              <a:buNone/>
            </a:pPr>
            <a:r>
              <a:rPr lang="zh-TW" sz="1700">
                <a:solidFill>
                  <a:schemeClr val="dk1"/>
                </a:solidFill>
                <a:latin typeface="DFKai-SB"/>
                <a:ea typeface="DFKai-SB"/>
                <a:cs typeface="DFKai-SB"/>
                <a:sym typeface="DFKai-SB"/>
              </a:rPr>
              <a:t>建立資料表  AuditLog</a:t>
            </a:r>
            <a:endParaRPr sz="2200">
              <a:latin typeface="DFKai-SB"/>
              <a:ea typeface="DFKai-SB"/>
              <a:cs typeface="DFKai-SB"/>
              <a:sym typeface="DFKai-SB"/>
            </a:endParaRPr>
          </a:p>
        </p:txBody>
      </p:sp>
      <p:sp>
        <p:nvSpPr>
          <p:cNvPr id="788" name="Google Shape;788;p66"/>
          <p:cNvSpPr txBox="1"/>
          <p:nvPr/>
        </p:nvSpPr>
        <p:spPr>
          <a:xfrm>
            <a:off x="267175" y="1545550"/>
            <a:ext cx="2153700" cy="714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500"/>
              </a:spcBef>
              <a:spcAft>
                <a:spcPts val="500"/>
              </a:spcAft>
              <a:buNone/>
            </a:pPr>
            <a:r>
              <a:rPr lang="zh-TW" sz="1600">
                <a:solidFill>
                  <a:schemeClr val="dk1"/>
                </a:solidFill>
                <a:latin typeface="DFKai-SB"/>
                <a:ea typeface="DFKai-SB"/>
                <a:cs typeface="DFKai-SB"/>
                <a:sym typeface="DFKai-SB"/>
              </a:rPr>
              <a:t>建立資料表  Equipment</a:t>
            </a:r>
            <a:endParaRPr sz="2100">
              <a:latin typeface="DFKai-SB"/>
              <a:ea typeface="DFKai-SB"/>
              <a:cs typeface="DFKai-SB"/>
              <a:sym typeface="DFKai-SB"/>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pic>
        <p:nvPicPr>
          <p:cNvPr id="793" name="Google Shape;793;p67"/>
          <p:cNvPicPr preferRelativeResize="0"/>
          <p:nvPr/>
        </p:nvPicPr>
        <p:blipFill>
          <a:blip r:embed="rId3">
            <a:alphaModFix/>
          </a:blip>
          <a:stretch>
            <a:fillRect/>
          </a:stretch>
        </p:blipFill>
        <p:spPr>
          <a:xfrm>
            <a:off x="2606175" y="0"/>
            <a:ext cx="5489435" cy="5143500"/>
          </a:xfrm>
          <a:prstGeom prst="rect">
            <a:avLst/>
          </a:prstGeom>
          <a:noFill/>
          <a:ln>
            <a:noFill/>
          </a:ln>
        </p:spPr>
      </p:pic>
      <p:grpSp>
        <p:nvGrpSpPr>
          <p:cNvPr id="794" name="Google Shape;794;p67"/>
          <p:cNvGrpSpPr/>
          <p:nvPr/>
        </p:nvGrpSpPr>
        <p:grpSpPr>
          <a:xfrm>
            <a:off x="382271" y="259655"/>
            <a:ext cx="450310" cy="429099"/>
            <a:chOff x="956666" y="3498086"/>
            <a:chExt cx="600413" cy="572132"/>
          </a:xfrm>
        </p:grpSpPr>
        <p:sp>
          <p:nvSpPr>
            <p:cNvPr id="795" name="Google Shape;795;p67"/>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796" name="Google Shape;796;p67"/>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797" name="Google Shape;797;p67"/>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sz="2300" b="1">
                <a:solidFill>
                  <a:schemeClr val="dk1"/>
                </a:solidFill>
                <a:latin typeface="DFKai-SB"/>
                <a:ea typeface="DFKai-SB"/>
                <a:cs typeface="DFKai-SB"/>
                <a:sym typeface="DFKai-SB"/>
              </a:rPr>
              <a:t>建立資料表</a:t>
            </a:r>
            <a:endParaRPr sz="2300">
              <a:latin typeface="DFKai-SB"/>
              <a:ea typeface="DFKai-SB"/>
              <a:cs typeface="DFKai-SB"/>
              <a:sym typeface="DFKai-SB"/>
            </a:endParaRPr>
          </a:p>
        </p:txBody>
      </p:sp>
      <p:sp>
        <p:nvSpPr>
          <p:cNvPr id="798" name="Google Shape;798;p67"/>
          <p:cNvSpPr txBox="1"/>
          <p:nvPr/>
        </p:nvSpPr>
        <p:spPr>
          <a:xfrm>
            <a:off x="264825" y="2643438"/>
            <a:ext cx="2256300" cy="714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500"/>
              </a:spcBef>
              <a:spcAft>
                <a:spcPts val="500"/>
              </a:spcAft>
              <a:buNone/>
            </a:pPr>
            <a:r>
              <a:rPr lang="zh-TW" sz="1600">
                <a:solidFill>
                  <a:schemeClr val="dk1"/>
                </a:solidFill>
                <a:latin typeface="DFKai-SB"/>
                <a:ea typeface="DFKai-SB"/>
                <a:cs typeface="DFKai-SB"/>
                <a:sym typeface="DFKai-SB"/>
              </a:rPr>
              <a:t>建立資料表  BorrowRequest</a:t>
            </a:r>
            <a:endParaRPr sz="2100">
              <a:latin typeface="DFKai-SB"/>
              <a:ea typeface="DFKai-SB"/>
              <a:cs typeface="DFKai-SB"/>
              <a:sym typeface="DFKai-SB"/>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grpSp>
        <p:nvGrpSpPr>
          <p:cNvPr id="803" name="Google Shape;803;p68"/>
          <p:cNvGrpSpPr/>
          <p:nvPr/>
        </p:nvGrpSpPr>
        <p:grpSpPr>
          <a:xfrm>
            <a:off x="382271" y="259655"/>
            <a:ext cx="450310" cy="429099"/>
            <a:chOff x="956666" y="3498086"/>
            <a:chExt cx="600413" cy="572132"/>
          </a:xfrm>
        </p:grpSpPr>
        <p:sp>
          <p:nvSpPr>
            <p:cNvPr id="804" name="Google Shape;804;p68"/>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05" name="Google Shape;805;p68"/>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06" name="Google Shape;806;p68"/>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sz="2300" b="1">
                <a:solidFill>
                  <a:schemeClr val="dk1"/>
                </a:solidFill>
                <a:latin typeface="DFKai-SB"/>
                <a:ea typeface="DFKai-SB"/>
                <a:cs typeface="DFKai-SB"/>
                <a:sym typeface="DFKai-SB"/>
              </a:rPr>
              <a:t>建立資料表</a:t>
            </a:r>
            <a:endParaRPr sz="2300">
              <a:latin typeface="DFKai-SB"/>
              <a:ea typeface="DFKai-SB"/>
              <a:cs typeface="DFKai-SB"/>
              <a:sym typeface="DFKai-SB"/>
            </a:endParaRPr>
          </a:p>
        </p:txBody>
      </p:sp>
      <p:pic>
        <p:nvPicPr>
          <p:cNvPr id="807" name="Google Shape;807;p68"/>
          <p:cNvPicPr preferRelativeResize="0"/>
          <p:nvPr/>
        </p:nvPicPr>
        <p:blipFill>
          <a:blip r:embed="rId3">
            <a:alphaModFix/>
          </a:blip>
          <a:stretch>
            <a:fillRect/>
          </a:stretch>
        </p:blipFill>
        <p:spPr>
          <a:xfrm>
            <a:off x="3767425" y="375975"/>
            <a:ext cx="3609975" cy="1885950"/>
          </a:xfrm>
          <a:prstGeom prst="rect">
            <a:avLst/>
          </a:prstGeom>
          <a:noFill/>
          <a:ln>
            <a:noFill/>
          </a:ln>
        </p:spPr>
      </p:pic>
      <p:pic>
        <p:nvPicPr>
          <p:cNvPr id="808" name="Google Shape;808;p68"/>
          <p:cNvPicPr preferRelativeResize="0"/>
          <p:nvPr/>
        </p:nvPicPr>
        <p:blipFill>
          <a:blip r:embed="rId4">
            <a:alphaModFix/>
          </a:blip>
          <a:stretch>
            <a:fillRect/>
          </a:stretch>
        </p:blipFill>
        <p:spPr>
          <a:xfrm>
            <a:off x="2525125" y="2349650"/>
            <a:ext cx="5743575" cy="2581275"/>
          </a:xfrm>
          <a:prstGeom prst="rect">
            <a:avLst/>
          </a:prstGeom>
          <a:noFill/>
          <a:ln>
            <a:noFill/>
          </a:ln>
        </p:spPr>
      </p:pic>
      <p:sp>
        <p:nvSpPr>
          <p:cNvPr id="809" name="Google Shape;809;p68"/>
          <p:cNvSpPr txBox="1"/>
          <p:nvPr/>
        </p:nvSpPr>
        <p:spPr>
          <a:xfrm>
            <a:off x="469750" y="908400"/>
            <a:ext cx="2352600" cy="778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500"/>
              </a:spcBef>
              <a:spcAft>
                <a:spcPts val="0"/>
              </a:spcAft>
              <a:buNone/>
            </a:pPr>
            <a:r>
              <a:rPr lang="zh-TW" sz="1600">
                <a:solidFill>
                  <a:schemeClr val="dk1"/>
                </a:solidFill>
                <a:latin typeface="DFKai-SB"/>
                <a:ea typeface="DFKai-SB"/>
                <a:cs typeface="DFKai-SB"/>
                <a:sym typeface="DFKai-SB"/>
              </a:rPr>
              <a:t>SHOW TABLES 結果，</a:t>
            </a:r>
            <a:endParaRPr sz="1600">
              <a:solidFill>
                <a:schemeClr val="dk1"/>
              </a:solidFill>
              <a:latin typeface="DFKai-SB"/>
              <a:ea typeface="DFKai-SB"/>
              <a:cs typeface="DFKai-SB"/>
              <a:sym typeface="DFKai-SB"/>
            </a:endParaRPr>
          </a:p>
          <a:p>
            <a:pPr marL="0" lvl="0" indent="0" algn="ctr" rtl="0">
              <a:lnSpc>
                <a:spcPct val="115000"/>
              </a:lnSpc>
              <a:spcBef>
                <a:spcPts val="500"/>
              </a:spcBef>
              <a:spcAft>
                <a:spcPts val="500"/>
              </a:spcAft>
              <a:buNone/>
            </a:pPr>
            <a:r>
              <a:rPr lang="zh-TW" sz="1600">
                <a:solidFill>
                  <a:schemeClr val="dk1"/>
                </a:solidFill>
                <a:latin typeface="DFKai-SB"/>
                <a:ea typeface="DFKai-SB"/>
                <a:cs typeface="DFKai-SB"/>
                <a:sym typeface="DFKai-SB"/>
              </a:rPr>
              <a:t>五張資料表均已建立</a:t>
            </a:r>
            <a:endParaRPr sz="2100">
              <a:latin typeface="DFKai-SB"/>
              <a:ea typeface="DFKai-SB"/>
              <a:cs typeface="DFKai-SB"/>
              <a:sym typeface="DFKai-SB"/>
            </a:endParaRPr>
          </a:p>
        </p:txBody>
      </p:sp>
      <p:sp>
        <p:nvSpPr>
          <p:cNvPr id="810" name="Google Shape;810;p68"/>
          <p:cNvSpPr txBox="1"/>
          <p:nvPr/>
        </p:nvSpPr>
        <p:spPr>
          <a:xfrm>
            <a:off x="81025" y="3478750"/>
            <a:ext cx="2352600" cy="778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500"/>
              </a:spcBef>
              <a:spcAft>
                <a:spcPts val="0"/>
              </a:spcAft>
              <a:buNone/>
            </a:pPr>
            <a:r>
              <a:rPr lang="zh-TW" sz="1600">
                <a:solidFill>
                  <a:schemeClr val="dk1"/>
                </a:solidFill>
                <a:latin typeface="DFKai-SB"/>
                <a:ea typeface="DFKai-SB"/>
                <a:cs typeface="DFKai-SB"/>
                <a:sym typeface="DFKai-SB"/>
              </a:rPr>
              <a:t>各資料表筆數統計，</a:t>
            </a:r>
            <a:endParaRPr sz="1600">
              <a:solidFill>
                <a:schemeClr val="dk1"/>
              </a:solidFill>
              <a:latin typeface="DFKai-SB"/>
              <a:ea typeface="DFKai-SB"/>
              <a:cs typeface="DFKai-SB"/>
              <a:sym typeface="DFKai-SB"/>
            </a:endParaRPr>
          </a:p>
          <a:p>
            <a:pPr marL="0" lvl="0" indent="0" algn="ctr" rtl="0">
              <a:lnSpc>
                <a:spcPct val="115000"/>
              </a:lnSpc>
              <a:spcBef>
                <a:spcPts val="500"/>
              </a:spcBef>
              <a:spcAft>
                <a:spcPts val="500"/>
              </a:spcAft>
              <a:buNone/>
            </a:pPr>
            <a:r>
              <a:rPr lang="zh-TW" sz="1600">
                <a:solidFill>
                  <a:schemeClr val="dk1"/>
                </a:solidFill>
                <a:latin typeface="DFKai-SB"/>
                <a:ea typeface="DFKai-SB"/>
                <a:cs typeface="DFKai-SB"/>
                <a:sym typeface="DFKai-SB"/>
              </a:rPr>
              <a:t>五張表均達 10 筆以上</a:t>
            </a:r>
            <a:endParaRPr sz="1600">
              <a:solidFill>
                <a:schemeClr val="dk1"/>
              </a:solidFill>
              <a:latin typeface="DFKai-SB"/>
              <a:ea typeface="DFKai-SB"/>
              <a:cs typeface="DFKai-SB"/>
              <a:sym typeface="DFKai-SB"/>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5"/>
        <p:cNvGrpSpPr/>
        <p:nvPr/>
      </p:nvGrpSpPr>
      <p:grpSpPr>
        <a:xfrm>
          <a:off x="0" y="0"/>
          <a:ext cx="0" cy="0"/>
          <a:chOff x="0" y="0"/>
          <a:chExt cx="0" cy="0"/>
        </a:xfrm>
      </p:grpSpPr>
      <p:sp>
        <p:nvSpPr>
          <p:cNvPr id="816" name="Google Shape;816;p69"/>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zh-TW" sz="2700" b="1">
                <a:solidFill>
                  <a:srgbClr val="262833"/>
                </a:solidFill>
                <a:highlight>
                  <a:srgbClr val="FFFFFF"/>
                </a:highlight>
                <a:latin typeface="DFKai-SB"/>
                <a:ea typeface="DFKai-SB"/>
                <a:cs typeface="DFKai-SB"/>
                <a:sym typeface="DFKai-SB"/>
              </a:rPr>
              <a:t>每一資料表之10</a:t>
            </a:r>
            <a:r>
              <a:rPr lang="zh-TW" sz="2700" b="1">
                <a:solidFill>
                  <a:schemeClr val="dk1"/>
                </a:solidFill>
                <a:latin typeface="DFKai-SB"/>
                <a:ea typeface="DFKai-SB"/>
                <a:cs typeface="DFKai-SB"/>
                <a:sym typeface="DFKai-SB"/>
              </a:rPr>
              <a:t>筆資料</a:t>
            </a:r>
            <a:endParaRPr sz="2700" b="1">
              <a:solidFill>
                <a:srgbClr val="262833"/>
              </a:solidFill>
              <a:highlight>
                <a:srgbClr val="FFFFFF"/>
              </a:highlight>
              <a:latin typeface="DFKai-SB"/>
              <a:ea typeface="DFKai-SB"/>
              <a:cs typeface="DFKai-SB"/>
              <a:sym typeface="DFKai-SB"/>
            </a:endParaRPr>
          </a:p>
        </p:txBody>
      </p:sp>
      <p:grpSp>
        <p:nvGrpSpPr>
          <p:cNvPr id="817" name="Google Shape;817;p69"/>
          <p:cNvGrpSpPr/>
          <p:nvPr/>
        </p:nvGrpSpPr>
        <p:grpSpPr>
          <a:xfrm>
            <a:off x="3502220" y="2918232"/>
            <a:ext cx="844541" cy="932257"/>
            <a:chOff x="589141" y="2173776"/>
            <a:chExt cx="1126055" cy="1243010"/>
          </a:xfrm>
        </p:grpSpPr>
        <p:grpSp>
          <p:nvGrpSpPr>
            <p:cNvPr id="818" name="Google Shape;818;p69"/>
            <p:cNvGrpSpPr/>
            <p:nvPr/>
          </p:nvGrpSpPr>
          <p:grpSpPr>
            <a:xfrm>
              <a:off x="589141" y="2173776"/>
              <a:ext cx="1126055" cy="1243010"/>
              <a:chOff x="1950418" y="3368985"/>
              <a:chExt cx="432101" cy="476980"/>
            </a:xfrm>
          </p:grpSpPr>
          <p:sp>
            <p:nvSpPr>
              <p:cNvPr id="819" name="Google Shape;819;p69"/>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20" name="Google Shape;820;p69"/>
              <p:cNvSpPr/>
              <p:nvPr/>
            </p:nvSpPr>
            <p:spPr>
              <a:xfrm>
                <a:off x="2082519" y="3545965"/>
                <a:ext cx="3000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21" name="Google Shape;821;p69"/>
            <p:cNvSpPr txBox="1"/>
            <p:nvPr/>
          </p:nvSpPr>
          <p:spPr>
            <a:xfrm>
              <a:off x="907668" y="2220553"/>
              <a:ext cx="611100" cy="933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US" altLang="zh-TW" sz="4100" b="1" dirty="0">
                  <a:solidFill>
                    <a:schemeClr val="lt1"/>
                  </a:solidFill>
                  <a:latin typeface="Microsoft Yahei"/>
                  <a:ea typeface="Microsoft Yahei"/>
                  <a:cs typeface="Microsoft Yahei"/>
                  <a:sym typeface="Microsoft Yahei"/>
                </a:rPr>
                <a:t>8</a:t>
              </a:r>
              <a:endParaRPr sz="4100" b="1" dirty="0">
                <a:solidFill>
                  <a:schemeClr val="lt1"/>
                </a:solidFill>
                <a:latin typeface="Microsoft Yahei"/>
                <a:ea typeface="Microsoft Yahei"/>
                <a:cs typeface="Microsoft Yahei"/>
                <a:sym typeface="Microsoft Yahei"/>
              </a:endParaRPr>
            </a:p>
          </p:txBody>
        </p:sp>
      </p:grpSp>
      <p:sp>
        <p:nvSpPr>
          <p:cNvPr id="822" name="Google Shape;822;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grpSp>
        <p:nvGrpSpPr>
          <p:cNvPr id="827" name="Google Shape;827;p70"/>
          <p:cNvGrpSpPr/>
          <p:nvPr/>
        </p:nvGrpSpPr>
        <p:grpSpPr>
          <a:xfrm>
            <a:off x="382271" y="259655"/>
            <a:ext cx="450310" cy="429099"/>
            <a:chOff x="956666" y="3498086"/>
            <a:chExt cx="600413" cy="572132"/>
          </a:xfrm>
        </p:grpSpPr>
        <p:sp>
          <p:nvSpPr>
            <p:cNvPr id="828" name="Google Shape;828;p70"/>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29" name="Google Shape;829;p70"/>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30" name="Google Shape;830;p70"/>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zh-TW" sz="2300" b="1">
                <a:solidFill>
                  <a:schemeClr val="dk1"/>
                </a:solidFill>
                <a:latin typeface="DFKai-SB"/>
                <a:ea typeface="DFKai-SB"/>
                <a:cs typeface="DFKai-SB"/>
                <a:sym typeface="DFKai-SB"/>
              </a:rPr>
              <a:t>資料查詢展示</a:t>
            </a:r>
            <a:endParaRPr sz="2300">
              <a:latin typeface="DFKai-SB"/>
              <a:ea typeface="DFKai-SB"/>
              <a:cs typeface="DFKai-SB"/>
              <a:sym typeface="DFKai-SB"/>
            </a:endParaRPr>
          </a:p>
        </p:txBody>
      </p:sp>
      <p:sp>
        <p:nvSpPr>
          <p:cNvPr id="831" name="Google Shape;831;p70"/>
          <p:cNvSpPr txBox="1"/>
          <p:nvPr/>
        </p:nvSpPr>
        <p:spPr>
          <a:xfrm>
            <a:off x="382275" y="9758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b="1">
                <a:solidFill>
                  <a:schemeClr val="dk1"/>
                </a:solidFill>
                <a:latin typeface="DFKai-SB"/>
                <a:ea typeface="DFKai-SB"/>
                <a:cs typeface="DFKai-SB"/>
                <a:sym typeface="DFKai-SB"/>
              </a:rPr>
              <a:t>查看所有教室與狀態</a:t>
            </a:r>
            <a:endParaRPr sz="1600">
              <a:latin typeface="DFKai-SB"/>
              <a:ea typeface="DFKai-SB"/>
              <a:cs typeface="DFKai-SB"/>
              <a:sym typeface="DFKai-SB"/>
            </a:endParaRPr>
          </a:p>
        </p:txBody>
      </p:sp>
      <p:pic>
        <p:nvPicPr>
          <p:cNvPr id="832" name="Google Shape;832;p70"/>
          <p:cNvPicPr preferRelativeResize="0"/>
          <p:nvPr/>
        </p:nvPicPr>
        <p:blipFill>
          <a:blip r:embed="rId3">
            <a:alphaModFix/>
          </a:blip>
          <a:stretch>
            <a:fillRect/>
          </a:stretch>
        </p:blipFill>
        <p:spPr>
          <a:xfrm>
            <a:off x="111250" y="1663050"/>
            <a:ext cx="8707350" cy="2902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grpSp>
        <p:nvGrpSpPr>
          <p:cNvPr id="837" name="Google Shape;837;p71"/>
          <p:cNvGrpSpPr/>
          <p:nvPr/>
        </p:nvGrpSpPr>
        <p:grpSpPr>
          <a:xfrm>
            <a:off x="382271" y="259655"/>
            <a:ext cx="450310" cy="429099"/>
            <a:chOff x="956666" y="3498086"/>
            <a:chExt cx="600413" cy="572132"/>
          </a:xfrm>
        </p:grpSpPr>
        <p:sp>
          <p:nvSpPr>
            <p:cNvPr id="838" name="Google Shape;838;p71"/>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39" name="Google Shape;839;p71"/>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40" name="Google Shape;840;p71"/>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zh-TW" sz="2300" b="1">
                <a:solidFill>
                  <a:schemeClr val="dk1"/>
                </a:solidFill>
                <a:latin typeface="DFKai-SB"/>
                <a:ea typeface="DFKai-SB"/>
                <a:cs typeface="DFKai-SB"/>
                <a:sym typeface="DFKai-SB"/>
              </a:rPr>
              <a:t>資料查詢展示</a:t>
            </a:r>
            <a:endParaRPr sz="2300">
              <a:latin typeface="DFKai-SB"/>
              <a:ea typeface="DFKai-SB"/>
              <a:cs typeface="DFKai-SB"/>
              <a:sym typeface="DFKai-SB"/>
            </a:endParaRPr>
          </a:p>
        </p:txBody>
      </p:sp>
      <p:sp>
        <p:nvSpPr>
          <p:cNvPr id="841" name="Google Shape;841;p71"/>
          <p:cNvSpPr txBox="1"/>
          <p:nvPr/>
        </p:nvSpPr>
        <p:spPr>
          <a:xfrm>
            <a:off x="382275" y="9277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b="1">
                <a:solidFill>
                  <a:schemeClr val="dk1"/>
                </a:solidFill>
                <a:latin typeface="DFKai-SB"/>
                <a:ea typeface="DFKai-SB"/>
                <a:cs typeface="DFKai-SB"/>
                <a:sym typeface="DFKai-SB"/>
              </a:rPr>
              <a:t>查看所有使用者與角色</a:t>
            </a:r>
            <a:endParaRPr sz="1600">
              <a:latin typeface="DFKai-SB"/>
              <a:ea typeface="DFKai-SB"/>
              <a:cs typeface="DFKai-SB"/>
              <a:sym typeface="DFKai-SB"/>
            </a:endParaRPr>
          </a:p>
        </p:txBody>
      </p:sp>
      <p:pic>
        <p:nvPicPr>
          <p:cNvPr id="842" name="Google Shape;842;p71"/>
          <p:cNvPicPr preferRelativeResize="0"/>
          <p:nvPr/>
        </p:nvPicPr>
        <p:blipFill>
          <a:blip r:embed="rId3">
            <a:alphaModFix/>
          </a:blip>
          <a:stretch>
            <a:fillRect/>
          </a:stretch>
        </p:blipFill>
        <p:spPr>
          <a:xfrm>
            <a:off x="592000" y="1515900"/>
            <a:ext cx="7960012" cy="33793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grpSp>
        <p:nvGrpSpPr>
          <p:cNvPr id="847" name="Google Shape;847;p72"/>
          <p:cNvGrpSpPr/>
          <p:nvPr/>
        </p:nvGrpSpPr>
        <p:grpSpPr>
          <a:xfrm>
            <a:off x="382271" y="259655"/>
            <a:ext cx="450310" cy="429099"/>
            <a:chOff x="956666" y="3498086"/>
            <a:chExt cx="600413" cy="572132"/>
          </a:xfrm>
        </p:grpSpPr>
        <p:sp>
          <p:nvSpPr>
            <p:cNvPr id="848" name="Google Shape;848;p72"/>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49" name="Google Shape;849;p72"/>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50" name="Google Shape;850;p72"/>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None/>
            </a:pPr>
            <a:r>
              <a:rPr lang="zh-TW" sz="2300" b="1">
                <a:solidFill>
                  <a:schemeClr val="dk1"/>
                </a:solidFill>
                <a:latin typeface="DFKai-SB"/>
                <a:ea typeface="DFKai-SB"/>
                <a:cs typeface="DFKai-SB"/>
                <a:sym typeface="DFKai-SB"/>
              </a:rPr>
              <a:t>資料查詢展示</a:t>
            </a:r>
            <a:endParaRPr sz="2300">
              <a:latin typeface="DFKai-SB"/>
              <a:ea typeface="DFKai-SB"/>
              <a:cs typeface="DFKai-SB"/>
              <a:sym typeface="DFKai-SB"/>
            </a:endParaRPr>
          </a:p>
        </p:txBody>
      </p:sp>
      <p:sp>
        <p:nvSpPr>
          <p:cNvPr id="851" name="Google Shape;851;p72"/>
          <p:cNvSpPr txBox="1"/>
          <p:nvPr/>
        </p:nvSpPr>
        <p:spPr>
          <a:xfrm>
            <a:off x="382275" y="97465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b="1">
                <a:solidFill>
                  <a:schemeClr val="dk1"/>
                </a:solidFill>
                <a:latin typeface="DFKai-SB"/>
                <a:ea typeface="DFKai-SB"/>
                <a:cs typeface="DFKai-SB"/>
                <a:sym typeface="DFKai-SB"/>
              </a:rPr>
              <a:t>查詢 BGC0614 的設備清單</a:t>
            </a:r>
            <a:endParaRPr sz="1600">
              <a:latin typeface="DFKai-SB"/>
              <a:ea typeface="DFKai-SB"/>
              <a:cs typeface="DFKai-SB"/>
              <a:sym typeface="DFKai-SB"/>
            </a:endParaRPr>
          </a:p>
        </p:txBody>
      </p:sp>
      <p:pic>
        <p:nvPicPr>
          <p:cNvPr id="852" name="Google Shape;852;p72"/>
          <p:cNvPicPr preferRelativeResize="0"/>
          <p:nvPr/>
        </p:nvPicPr>
        <p:blipFill>
          <a:blip r:embed="rId3">
            <a:alphaModFix/>
          </a:blip>
          <a:stretch>
            <a:fillRect/>
          </a:stretch>
        </p:blipFill>
        <p:spPr>
          <a:xfrm>
            <a:off x="0" y="1569275"/>
            <a:ext cx="9144001" cy="274471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grpSp>
        <p:nvGrpSpPr>
          <p:cNvPr id="857" name="Google Shape;857;p73"/>
          <p:cNvGrpSpPr/>
          <p:nvPr/>
        </p:nvGrpSpPr>
        <p:grpSpPr>
          <a:xfrm>
            <a:off x="382271" y="259655"/>
            <a:ext cx="450310" cy="429099"/>
            <a:chOff x="956666" y="3498086"/>
            <a:chExt cx="600413" cy="572132"/>
          </a:xfrm>
        </p:grpSpPr>
        <p:sp>
          <p:nvSpPr>
            <p:cNvPr id="858" name="Google Shape;858;p73"/>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59" name="Google Shape;859;p73"/>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60" name="Google Shape;860;p73"/>
          <p:cNvSpPr txBox="1"/>
          <p:nvPr/>
        </p:nvSpPr>
        <p:spPr>
          <a:xfrm>
            <a:off x="1012675"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None/>
            </a:pPr>
            <a:r>
              <a:rPr lang="zh-TW" sz="2300" b="1">
                <a:solidFill>
                  <a:schemeClr val="dk1"/>
                </a:solidFill>
                <a:latin typeface="DFKai-SB"/>
                <a:ea typeface="DFKai-SB"/>
                <a:cs typeface="DFKai-SB"/>
                <a:sym typeface="DFKai-SB"/>
              </a:rPr>
              <a:t>資料查詢展示</a:t>
            </a:r>
            <a:endParaRPr sz="2300">
              <a:latin typeface="DFKai-SB"/>
              <a:ea typeface="DFKai-SB"/>
              <a:cs typeface="DFKai-SB"/>
              <a:sym typeface="DFKai-SB"/>
            </a:endParaRPr>
          </a:p>
        </p:txBody>
      </p:sp>
      <p:sp>
        <p:nvSpPr>
          <p:cNvPr id="861" name="Google Shape;861;p73"/>
          <p:cNvSpPr txBox="1"/>
          <p:nvPr/>
        </p:nvSpPr>
        <p:spPr>
          <a:xfrm>
            <a:off x="382275" y="10414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b="1">
                <a:solidFill>
                  <a:schemeClr val="dk1"/>
                </a:solidFill>
                <a:latin typeface="DFKai-SB"/>
                <a:ea typeface="DFKai-SB"/>
                <a:cs typeface="DFKai-SB"/>
                <a:sym typeface="DFKai-SB"/>
              </a:rPr>
              <a:t>查詢所有借用申請</a:t>
            </a:r>
            <a:endParaRPr sz="1600">
              <a:latin typeface="DFKai-SB"/>
              <a:ea typeface="DFKai-SB"/>
              <a:cs typeface="DFKai-SB"/>
              <a:sym typeface="DFKai-SB"/>
            </a:endParaRPr>
          </a:p>
        </p:txBody>
      </p:sp>
      <p:pic>
        <p:nvPicPr>
          <p:cNvPr id="862" name="Google Shape;862;p73"/>
          <p:cNvPicPr preferRelativeResize="0"/>
          <p:nvPr/>
        </p:nvPicPr>
        <p:blipFill>
          <a:blip r:embed="rId3">
            <a:alphaModFix/>
          </a:blip>
          <a:stretch>
            <a:fillRect/>
          </a:stretch>
        </p:blipFill>
        <p:spPr>
          <a:xfrm>
            <a:off x="0" y="1682325"/>
            <a:ext cx="9144001" cy="218366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67"/>
        <p:cNvGrpSpPr/>
        <p:nvPr/>
      </p:nvGrpSpPr>
      <p:grpSpPr>
        <a:xfrm>
          <a:off x="0" y="0"/>
          <a:ext cx="0" cy="0"/>
          <a:chOff x="0" y="0"/>
          <a:chExt cx="0" cy="0"/>
        </a:xfrm>
      </p:grpSpPr>
      <p:sp>
        <p:nvSpPr>
          <p:cNvPr id="868" name="Google Shape;868;p74"/>
          <p:cNvSpPr txBox="1"/>
          <p:nvPr/>
        </p:nvSpPr>
        <p:spPr>
          <a:xfrm>
            <a:off x="4697081" y="3168722"/>
            <a:ext cx="4158600" cy="4848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zh-TW" sz="2700" b="1">
                <a:solidFill>
                  <a:srgbClr val="262833"/>
                </a:solidFill>
                <a:highlight>
                  <a:srgbClr val="FFFFFF"/>
                </a:highlight>
                <a:latin typeface="DFKai-SB"/>
                <a:ea typeface="DFKai-SB"/>
                <a:cs typeface="DFKai-SB"/>
                <a:sym typeface="DFKai-SB"/>
              </a:rPr>
              <a:t>View</a:t>
            </a:r>
            <a:endParaRPr sz="2700" b="1">
              <a:solidFill>
                <a:srgbClr val="262833"/>
              </a:solidFill>
              <a:highlight>
                <a:srgbClr val="FFFFFF"/>
              </a:highlight>
              <a:latin typeface="DFKai-SB"/>
              <a:ea typeface="DFKai-SB"/>
              <a:cs typeface="DFKai-SB"/>
              <a:sym typeface="DFKai-SB"/>
            </a:endParaRPr>
          </a:p>
        </p:txBody>
      </p:sp>
      <p:grpSp>
        <p:nvGrpSpPr>
          <p:cNvPr id="869" name="Google Shape;869;p74"/>
          <p:cNvGrpSpPr/>
          <p:nvPr/>
        </p:nvGrpSpPr>
        <p:grpSpPr>
          <a:xfrm>
            <a:off x="3502274" y="2918256"/>
            <a:ext cx="1019375" cy="932268"/>
            <a:chOff x="589141" y="2173776"/>
            <a:chExt cx="1328522" cy="1243023"/>
          </a:xfrm>
        </p:grpSpPr>
        <p:grpSp>
          <p:nvGrpSpPr>
            <p:cNvPr id="870" name="Google Shape;870;p74"/>
            <p:cNvGrpSpPr/>
            <p:nvPr/>
          </p:nvGrpSpPr>
          <p:grpSpPr>
            <a:xfrm>
              <a:off x="589141" y="2173776"/>
              <a:ext cx="1328522" cy="1243023"/>
              <a:chOff x="1950418" y="3368985"/>
              <a:chExt cx="509794" cy="476985"/>
            </a:xfrm>
          </p:grpSpPr>
          <p:sp>
            <p:nvSpPr>
              <p:cNvPr id="871" name="Google Shape;871;p74"/>
              <p:cNvSpPr/>
              <p:nvPr/>
            </p:nvSpPr>
            <p:spPr>
              <a:xfrm>
                <a:off x="1950418" y="3368985"/>
                <a:ext cx="354000" cy="3540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72" name="Google Shape;872;p74"/>
              <p:cNvSpPr/>
              <p:nvPr/>
            </p:nvSpPr>
            <p:spPr>
              <a:xfrm>
                <a:off x="2082512" y="3545970"/>
                <a:ext cx="377700" cy="3000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73" name="Google Shape;873;p74"/>
            <p:cNvSpPr txBox="1"/>
            <p:nvPr/>
          </p:nvSpPr>
          <p:spPr>
            <a:xfrm>
              <a:off x="589149" y="2328332"/>
              <a:ext cx="1173300" cy="933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US" altLang="zh-TW" sz="4100" b="1" dirty="0">
                  <a:solidFill>
                    <a:schemeClr val="lt1"/>
                  </a:solidFill>
                  <a:latin typeface="Microsoft Yahei"/>
                  <a:ea typeface="Microsoft Yahei"/>
                  <a:cs typeface="Microsoft Yahei"/>
                  <a:sym typeface="Microsoft Yahei"/>
                </a:rPr>
                <a:t>9</a:t>
              </a:r>
              <a:endParaRPr sz="4100" b="1" dirty="0">
                <a:solidFill>
                  <a:schemeClr val="lt1"/>
                </a:solidFill>
                <a:latin typeface="Microsoft Yahei"/>
                <a:ea typeface="Microsoft Yahei"/>
                <a:cs typeface="Microsoft Yahei"/>
                <a:sym typeface="Microsoft Yahei"/>
              </a:endParaRPr>
            </a:p>
          </p:txBody>
        </p:sp>
      </p:grpSp>
      <p:sp>
        <p:nvSpPr>
          <p:cNvPr id="874" name="Google Shape;874;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grpSp>
        <p:nvGrpSpPr>
          <p:cNvPr id="879" name="Google Shape;879;p75"/>
          <p:cNvGrpSpPr/>
          <p:nvPr/>
        </p:nvGrpSpPr>
        <p:grpSpPr>
          <a:xfrm>
            <a:off x="382271" y="259655"/>
            <a:ext cx="450310" cy="429099"/>
            <a:chOff x="956666" y="3498086"/>
            <a:chExt cx="600413" cy="572132"/>
          </a:xfrm>
        </p:grpSpPr>
        <p:sp>
          <p:nvSpPr>
            <p:cNvPr id="880" name="Google Shape;880;p75"/>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81" name="Google Shape;881;p75"/>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82" name="Google Shape;882;p75"/>
          <p:cNvSpPr txBox="1"/>
          <p:nvPr/>
        </p:nvSpPr>
        <p:spPr>
          <a:xfrm>
            <a:off x="997591" y="22102"/>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View</a:t>
            </a:r>
            <a:endParaRPr sz="2300" dirty="0">
              <a:latin typeface="DFKai-SB"/>
              <a:ea typeface="DFKai-SB"/>
              <a:cs typeface="DFKai-SB"/>
              <a:sym typeface="DFKai-SB"/>
            </a:endParaRPr>
          </a:p>
        </p:txBody>
      </p:sp>
      <p:graphicFrame>
        <p:nvGraphicFramePr>
          <p:cNvPr id="883" name="Google Shape;883;p75"/>
          <p:cNvGraphicFramePr/>
          <p:nvPr/>
        </p:nvGraphicFramePr>
        <p:xfrm>
          <a:off x="382275" y="971850"/>
          <a:ext cx="8468400" cy="3864050"/>
        </p:xfrm>
        <a:graphic>
          <a:graphicData uri="http://schemas.openxmlformats.org/drawingml/2006/table">
            <a:tbl>
              <a:tblPr>
                <a:noFill/>
                <a:tableStyleId>{ABF2F82F-1B50-44F7-B909-BC6858CF391A}</a:tableStyleId>
              </a:tblPr>
              <a:tblGrid>
                <a:gridCol w="2926250">
                  <a:extLst>
                    <a:ext uri="{9D8B030D-6E8A-4147-A177-3AD203B41FA5}">
                      <a16:colId xmlns:a16="http://schemas.microsoft.com/office/drawing/2014/main" val="20000"/>
                    </a:ext>
                  </a:extLst>
                </a:gridCol>
                <a:gridCol w="5542150">
                  <a:extLst>
                    <a:ext uri="{9D8B030D-6E8A-4147-A177-3AD203B41FA5}">
                      <a16:colId xmlns:a16="http://schemas.microsoft.com/office/drawing/2014/main" val="20001"/>
                    </a:ext>
                  </a:extLst>
                </a:gridCol>
              </a:tblGrid>
              <a:tr h="478150">
                <a:tc>
                  <a:txBody>
                    <a:bodyPr/>
                    <a:lstStyle/>
                    <a:p>
                      <a:pPr marL="0" lvl="0" indent="0" algn="ctr" rtl="0">
                        <a:lnSpc>
                          <a:spcPct val="115000"/>
                        </a:lnSpc>
                        <a:spcBef>
                          <a:spcPts val="0"/>
                        </a:spcBef>
                        <a:spcAft>
                          <a:spcPts val="0"/>
                        </a:spcAft>
                        <a:buNone/>
                      </a:pPr>
                      <a:r>
                        <a:rPr lang="zh-TW" sz="1600" b="1">
                          <a:latin typeface="DFKai-SB"/>
                          <a:ea typeface="DFKai-SB"/>
                          <a:cs typeface="DFKai-SB"/>
                          <a:sym typeface="DFKai-SB"/>
                        </a:rPr>
                        <a:t>VIEW 名稱</a:t>
                      </a:r>
                      <a:endParaRPr sz="1600" b="1">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w="9275" cap="flat" cmpd="sng">
                      <a:solidFill>
                        <a:srgbClr val="AAAAAA"/>
                      </a:solidFill>
                      <a:prstDash val="solid"/>
                      <a:round/>
                      <a:headEnd type="none" w="sm" len="sm"/>
                      <a:tailEnd type="none" w="sm" len="sm"/>
                    </a:lnT>
                    <a:lnB cap="flat" cmpd="sng">
                      <a:solidFill>
                        <a:srgbClr val="000000"/>
                      </a:solidFill>
                      <a:prstDash val="solid"/>
                      <a:round/>
                      <a:headEnd type="none" w="sm" len="sm"/>
                      <a:tailEnd type="none" w="sm" len="sm"/>
                    </a:lnB>
                    <a:solidFill>
                      <a:srgbClr val="2E75B6"/>
                    </a:solidFill>
                  </a:tcPr>
                </a:tc>
                <a:tc>
                  <a:txBody>
                    <a:bodyPr/>
                    <a:lstStyle/>
                    <a:p>
                      <a:pPr marL="0" lvl="0" indent="0" algn="ctr" rtl="0">
                        <a:lnSpc>
                          <a:spcPct val="115000"/>
                        </a:lnSpc>
                        <a:spcBef>
                          <a:spcPts val="0"/>
                        </a:spcBef>
                        <a:spcAft>
                          <a:spcPts val="0"/>
                        </a:spcAft>
                        <a:buNone/>
                      </a:pPr>
                      <a:r>
                        <a:rPr lang="zh-TW" sz="1600" b="1">
                          <a:latin typeface="DFKai-SB"/>
                          <a:ea typeface="DFKai-SB"/>
                          <a:cs typeface="DFKai-SB"/>
                          <a:sym typeface="DFKai-SB"/>
                        </a:rPr>
                        <a:t>用途說明</a:t>
                      </a:r>
                      <a:endParaRPr sz="1600" b="1">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w="9275" cap="flat" cmpd="sng">
                      <a:solidFill>
                        <a:srgbClr val="AAAAAA"/>
                      </a:solidFill>
                      <a:prstDash val="solid"/>
                      <a:round/>
                      <a:headEnd type="none" w="sm" len="sm"/>
                      <a:tailEnd type="none" w="sm" len="sm"/>
                    </a:lnT>
                    <a:lnB cap="flat" cmpd="sng">
                      <a:solidFill>
                        <a:srgbClr val="000000"/>
                      </a:solidFill>
                      <a:prstDash val="solid"/>
                      <a:round/>
                      <a:headEnd type="none" w="sm" len="sm"/>
                      <a:tailEnd type="none" w="sm" len="sm"/>
                    </a:lnB>
                    <a:solidFill>
                      <a:srgbClr val="2E75B6"/>
                    </a:solidFill>
                  </a:tcPr>
                </a:tc>
                <a:extLst>
                  <a:ext uri="{0D108BD9-81ED-4DB2-BD59-A6C34878D82A}">
                    <a16:rowId xmlns:a16="http://schemas.microsoft.com/office/drawing/2014/main" val="10000"/>
                  </a:ext>
                </a:extLst>
              </a:tr>
              <a:tr h="483700">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v_available_rooms</a:t>
                      </a:r>
                      <a:endParaRPr sz="1500">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篩選 status = Available 的可借用教室（含位置、容納人數）</a:t>
                      </a:r>
                      <a:endParaRPr sz="1500">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3700">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v_borrow_summary</a:t>
                      </a:r>
                      <a:endParaRPr sz="1500">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EF4FB"/>
                    </a:solidFill>
                  </a:tcPr>
                </a:tc>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借用申請總覽，JOIN User、Room 顯示申請人姓名與教室名稱</a:t>
                      </a:r>
                      <a:endParaRPr sz="1500">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EF4FB"/>
                    </a:solidFill>
                  </a:tcPr>
                </a:tc>
                <a:extLst>
                  <a:ext uri="{0D108BD9-81ED-4DB2-BD59-A6C34878D82A}">
                    <a16:rowId xmlns:a16="http://schemas.microsoft.com/office/drawing/2014/main" val="10002"/>
                  </a:ext>
                </a:extLst>
              </a:tr>
              <a:tr h="483700">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v_pending_requests</a:t>
                      </a:r>
                      <a:endParaRPr sz="1500">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待審核申請清單，含聯絡電話供管理員聯繫</a:t>
                      </a:r>
                      <a:endParaRPr sz="1500">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83700">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v_room_equipment</a:t>
                      </a:r>
                      <a:endParaRPr sz="1500">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EF4FB"/>
                    </a:solidFill>
                  </a:tcPr>
                </a:tc>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各教室設備盤點，JOIN Room 顯示教室名稱與教室狀態</a:t>
                      </a:r>
                      <a:endParaRPr sz="1500">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EF4FB"/>
                    </a:solidFill>
                  </a:tcPr>
                </a:tc>
                <a:extLst>
                  <a:ext uri="{0D108BD9-81ED-4DB2-BD59-A6C34878D82A}">
                    <a16:rowId xmlns:a16="http://schemas.microsoft.com/office/drawing/2014/main" val="10004"/>
                  </a:ext>
                </a:extLst>
              </a:tr>
              <a:tr h="483700">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v_audit_history</a:t>
                      </a:r>
                      <a:endParaRPr sz="1500">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審核歷程，JOIN 三張表顯示管理員、申請人、教室與審核結果</a:t>
                      </a:r>
                      <a:endParaRPr sz="1500">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83700">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v_room_borrow_stats</a:t>
                      </a:r>
                      <a:endParaRPr sz="1500">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EF4FB"/>
                    </a:solidFill>
                  </a:tcPr>
                </a:tc>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各教室借用統計（總申請數、核准、拒絕、待審、取消）</a:t>
                      </a:r>
                      <a:endParaRPr sz="1500">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EF4FB"/>
                    </a:solidFill>
                  </a:tcPr>
                </a:tc>
                <a:extLst>
                  <a:ext uri="{0D108BD9-81ED-4DB2-BD59-A6C34878D82A}">
                    <a16:rowId xmlns:a16="http://schemas.microsoft.com/office/drawing/2014/main" val="10006"/>
                  </a:ext>
                </a:extLst>
              </a:tr>
              <a:tr h="483700">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v_user_borrow_stats</a:t>
                      </a:r>
                      <a:endParaRPr sz="1500">
                        <a:latin typeface="DFKai-SB"/>
                        <a:ea typeface="DFKai-SB"/>
                        <a:cs typeface="DFKai-SB"/>
                        <a:sym typeface="DFKai-SB"/>
                      </a:endParaRPr>
                    </a:p>
                  </a:txBody>
                  <a:tcPr marL="76200" marR="76200" marT="50800" marB="50800">
                    <a:lnL w="9275" cap="flat" cmpd="sng">
                      <a:solidFill>
                        <a:srgbClr val="AAAAAA"/>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w="9275" cap="flat" cmpd="sng">
                      <a:solidFill>
                        <a:srgbClr val="AAAAAA"/>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zh-TW" sz="1500">
                          <a:latin typeface="DFKai-SB"/>
                          <a:ea typeface="DFKai-SB"/>
                          <a:cs typeface="DFKai-SB"/>
                          <a:sym typeface="DFKai-SB"/>
                        </a:rPr>
                        <a:t>各使用者借用統計（總申請數、核准、拒絕、取消）</a:t>
                      </a:r>
                      <a:endParaRPr sz="1500">
                        <a:latin typeface="DFKai-SB"/>
                        <a:ea typeface="DFKai-SB"/>
                        <a:cs typeface="DFKai-SB"/>
                        <a:sym typeface="DFKai-SB"/>
                      </a:endParaRPr>
                    </a:p>
                  </a:txBody>
                  <a:tcPr marL="76200" marR="76200" marT="50800" marB="50800">
                    <a:lnL cap="flat" cmpd="sng">
                      <a:solidFill>
                        <a:srgbClr val="000000"/>
                      </a:solidFill>
                      <a:prstDash val="solid"/>
                      <a:round/>
                      <a:headEnd type="none" w="sm" len="sm"/>
                      <a:tailEnd type="none" w="sm" len="sm"/>
                    </a:lnL>
                    <a:lnR w="9275" cap="flat" cmpd="sng">
                      <a:solidFill>
                        <a:srgbClr val="AAAAAA"/>
                      </a:solidFill>
                      <a:prstDash val="solid"/>
                      <a:round/>
                      <a:headEnd type="none" w="sm" len="sm"/>
                      <a:tailEnd type="none" w="sm" len="sm"/>
                    </a:lnR>
                    <a:lnT cap="flat" cmpd="sng">
                      <a:solidFill>
                        <a:srgbClr val="000000"/>
                      </a:solidFill>
                      <a:prstDash val="solid"/>
                      <a:round/>
                      <a:headEnd type="none" w="sm" len="sm"/>
                      <a:tailEnd type="none" w="sm" len="sm"/>
                    </a:lnT>
                    <a:lnB w="9275" cap="flat" cmpd="sng">
                      <a:solidFill>
                        <a:srgbClr val="AAAAAA"/>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grpSp>
        <p:nvGrpSpPr>
          <p:cNvPr id="888" name="Google Shape;888;p76"/>
          <p:cNvGrpSpPr/>
          <p:nvPr/>
        </p:nvGrpSpPr>
        <p:grpSpPr>
          <a:xfrm>
            <a:off x="382271" y="259655"/>
            <a:ext cx="450310" cy="429099"/>
            <a:chOff x="956666" y="3498086"/>
            <a:chExt cx="600413" cy="572132"/>
          </a:xfrm>
        </p:grpSpPr>
        <p:sp>
          <p:nvSpPr>
            <p:cNvPr id="889" name="Google Shape;889;p76"/>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890" name="Google Shape;890;p76"/>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891" name="Google Shape;891;p76"/>
          <p:cNvSpPr txBox="1"/>
          <p:nvPr/>
        </p:nvSpPr>
        <p:spPr>
          <a:xfrm>
            <a:off x="896350" y="57455"/>
            <a:ext cx="51627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View v_available_rooms</a:t>
            </a:r>
            <a:endParaRPr sz="2300" b="1" dirty="0">
              <a:latin typeface="DFKai-SB"/>
              <a:ea typeface="DFKai-SB"/>
              <a:cs typeface="DFKai-SB"/>
              <a:sym typeface="DFKai-SB"/>
            </a:endParaRPr>
          </a:p>
        </p:txBody>
      </p:sp>
      <p:pic>
        <p:nvPicPr>
          <p:cNvPr id="892" name="Google Shape;892;p76"/>
          <p:cNvPicPr preferRelativeResize="0"/>
          <p:nvPr/>
        </p:nvPicPr>
        <p:blipFill>
          <a:blip r:embed="rId3">
            <a:alphaModFix/>
          </a:blip>
          <a:stretch>
            <a:fillRect/>
          </a:stretch>
        </p:blipFill>
        <p:spPr>
          <a:xfrm>
            <a:off x="686950" y="1141638"/>
            <a:ext cx="5372100" cy="1076325"/>
          </a:xfrm>
          <a:prstGeom prst="rect">
            <a:avLst/>
          </a:prstGeom>
          <a:noFill/>
          <a:ln>
            <a:noFill/>
          </a:ln>
        </p:spPr>
      </p:pic>
      <p:sp>
        <p:nvSpPr>
          <p:cNvPr id="893" name="Google Shape;893;p76"/>
          <p:cNvSpPr txBox="1"/>
          <p:nvPr/>
        </p:nvSpPr>
        <p:spPr>
          <a:xfrm>
            <a:off x="382271" y="582750"/>
            <a:ext cx="3000000" cy="384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400"/>
              </a:spcBef>
              <a:spcAft>
                <a:spcPts val="400"/>
              </a:spcAft>
              <a:buNone/>
            </a:pPr>
            <a:r>
              <a:rPr lang="zh-TW" sz="1300" b="1" dirty="0">
                <a:solidFill>
                  <a:srgbClr val="434343"/>
                </a:solidFill>
                <a:latin typeface="DFKai-SB"/>
                <a:ea typeface="DFKai-SB"/>
                <a:cs typeface="DFKai-SB"/>
                <a:sym typeface="DFKai-SB"/>
              </a:rPr>
              <a:t>建立 VIEW1  </a:t>
            </a:r>
            <a:r>
              <a:rPr lang="zh-TW" sz="1300" b="1" dirty="0">
                <a:solidFill>
                  <a:schemeClr val="dk1"/>
                </a:solidFill>
                <a:latin typeface="DFKai-SB"/>
                <a:ea typeface="DFKai-SB"/>
                <a:cs typeface="DFKai-SB"/>
                <a:sym typeface="DFKai-SB"/>
              </a:rPr>
              <a:t>v_available_rooms</a:t>
            </a:r>
            <a:endParaRPr sz="1800" b="1" dirty="0">
              <a:latin typeface="DFKai-SB"/>
              <a:ea typeface="DFKai-SB"/>
              <a:cs typeface="DFKai-SB"/>
              <a:sym typeface="DFKai-SB"/>
            </a:endParaRPr>
          </a:p>
        </p:txBody>
      </p:sp>
      <p:pic>
        <p:nvPicPr>
          <p:cNvPr id="894" name="Google Shape;894;p76"/>
          <p:cNvPicPr preferRelativeResize="0"/>
          <p:nvPr/>
        </p:nvPicPr>
        <p:blipFill>
          <a:blip r:embed="rId4">
            <a:alphaModFix/>
          </a:blip>
          <a:stretch>
            <a:fillRect/>
          </a:stretch>
        </p:blipFill>
        <p:spPr>
          <a:xfrm>
            <a:off x="591061" y="2670873"/>
            <a:ext cx="6531532" cy="2177177"/>
          </a:xfrm>
          <a:prstGeom prst="rect">
            <a:avLst/>
          </a:prstGeom>
          <a:noFill/>
          <a:ln>
            <a:noFill/>
          </a:ln>
        </p:spPr>
      </p:pic>
      <p:sp>
        <p:nvSpPr>
          <p:cNvPr id="895" name="Google Shape;895;p76"/>
          <p:cNvSpPr txBox="1"/>
          <p:nvPr/>
        </p:nvSpPr>
        <p:spPr>
          <a:xfrm>
            <a:off x="121524" y="2115578"/>
            <a:ext cx="6194400" cy="367800"/>
          </a:xfrm>
          <a:prstGeom prst="rect">
            <a:avLst/>
          </a:prstGeom>
          <a:noFill/>
          <a:ln>
            <a:noFill/>
          </a:ln>
        </p:spPr>
        <p:txBody>
          <a:bodyPr spcFirstLastPara="1" wrap="square" lIns="84000" tIns="84000" rIns="84000" bIns="84000" anchor="t" anchorCtr="0">
            <a:spAutoFit/>
          </a:bodyPr>
          <a:lstStyle/>
          <a:p>
            <a:pPr marL="0" lvl="0" indent="0" algn="ctr" rtl="0">
              <a:lnSpc>
                <a:spcPct val="115000"/>
              </a:lnSpc>
              <a:spcBef>
                <a:spcPts val="1286"/>
              </a:spcBef>
              <a:spcAft>
                <a:spcPts val="368"/>
              </a:spcAft>
              <a:buNone/>
            </a:pPr>
            <a:r>
              <a:rPr lang="zh-TW" sz="1286" b="1" dirty="0">
                <a:solidFill>
                  <a:srgbClr val="434343"/>
                </a:solidFill>
                <a:latin typeface="DFKai-SB"/>
                <a:ea typeface="DFKai-SB"/>
                <a:cs typeface="DFKai-SB"/>
                <a:sym typeface="DFKai-SB"/>
              </a:rPr>
              <a:t>查詢 v_available_rooms：9 間可借用教室（BGC0513 維修中不顯示）</a:t>
            </a:r>
            <a:endParaRPr sz="1746" b="1" dirty="0">
              <a:latin typeface="DFKai-SB"/>
              <a:ea typeface="DFKai-SB"/>
              <a:cs typeface="DFKai-SB"/>
              <a:sym typeface="DFKai-SB"/>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grpSp>
        <p:nvGrpSpPr>
          <p:cNvPr id="900" name="Google Shape;900;p77"/>
          <p:cNvGrpSpPr/>
          <p:nvPr/>
        </p:nvGrpSpPr>
        <p:grpSpPr>
          <a:xfrm>
            <a:off x="382271" y="259655"/>
            <a:ext cx="450310" cy="429099"/>
            <a:chOff x="956666" y="3498086"/>
            <a:chExt cx="600413" cy="572132"/>
          </a:xfrm>
        </p:grpSpPr>
        <p:sp>
          <p:nvSpPr>
            <p:cNvPr id="901" name="Google Shape;901;p77"/>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02" name="Google Shape;902;p77"/>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903" name="Google Shape;903;p77"/>
          <p:cNvSpPr txBox="1"/>
          <p:nvPr/>
        </p:nvSpPr>
        <p:spPr>
          <a:xfrm>
            <a:off x="883881" y="83024"/>
            <a:ext cx="51627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Clr>
                <a:schemeClr val="dk1"/>
              </a:buClr>
              <a:buSzPts val="1100"/>
              <a:buFont typeface="Arial"/>
              <a:buNone/>
            </a:pPr>
            <a:r>
              <a:rPr lang="zh-TW" sz="2300" b="1" dirty="0">
                <a:solidFill>
                  <a:schemeClr val="dk1"/>
                </a:solidFill>
                <a:latin typeface="DFKai-SB"/>
                <a:ea typeface="DFKai-SB"/>
                <a:cs typeface="DFKai-SB"/>
                <a:sym typeface="DFKai-SB"/>
              </a:rPr>
              <a:t>View v_borrow_summary</a:t>
            </a:r>
            <a:endParaRPr sz="2300" b="1" dirty="0">
              <a:latin typeface="DFKai-SB"/>
              <a:ea typeface="DFKai-SB"/>
              <a:cs typeface="DFKai-SB"/>
              <a:sym typeface="DFKai-SB"/>
            </a:endParaRPr>
          </a:p>
        </p:txBody>
      </p:sp>
      <p:pic>
        <p:nvPicPr>
          <p:cNvPr id="904" name="Google Shape;904;p77"/>
          <p:cNvPicPr preferRelativeResize="0"/>
          <p:nvPr/>
        </p:nvPicPr>
        <p:blipFill>
          <a:blip r:embed="rId3">
            <a:alphaModFix/>
          </a:blip>
          <a:stretch>
            <a:fillRect/>
          </a:stretch>
        </p:blipFill>
        <p:spPr>
          <a:xfrm>
            <a:off x="204604" y="1280299"/>
            <a:ext cx="8529745" cy="3540417"/>
          </a:xfrm>
          <a:prstGeom prst="rect">
            <a:avLst/>
          </a:prstGeom>
          <a:noFill/>
          <a:ln>
            <a:noFill/>
          </a:ln>
        </p:spPr>
      </p:pic>
      <p:sp>
        <p:nvSpPr>
          <p:cNvPr id="905" name="Google Shape;905;p77"/>
          <p:cNvSpPr txBox="1"/>
          <p:nvPr/>
        </p:nvSpPr>
        <p:spPr>
          <a:xfrm>
            <a:off x="204602" y="806000"/>
            <a:ext cx="34014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zh-TW" sz="1600" b="1">
                <a:solidFill>
                  <a:srgbClr val="434343"/>
                </a:solidFill>
                <a:latin typeface="DFKai-SB"/>
                <a:ea typeface="DFKai-SB"/>
                <a:cs typeface="DFKai-SB"/>
                <a:sym typeface="DFKai-SB"/>
              </a:rPr>
              <a:t>建立 VIEW2  </a:t>
            </a:r>
            <a:r>
              <a:rPr lang="zh-TW" sz="1600" b="1">
                <a:solidFill>
                  <a:schemeClr val="dk1"/>
                </a:solidFill>
                <a:latin typeface="DFKai-SB"/>
                <a:ea typeface="DFKai-SB"/>
                <a:cs typeface="DFKai-SB"/>
                <a:sym typeface="DFKai-SB"/>
              </a:rPr>
              <a:t>v_borrow_summary</a:t>
            </a:r>
            <a:endParaRPr sz="2100" b="1">
              <a:latin typeface="DFKai-SB"/>
              <a:ea typeface="DFKai-SB"/>
              <a:cs typeface="DFKai-SB"/>
              <a:sym typeface="DFKai-SB"/>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grpSp>
        <p:nvGrpSpPr>
          <p:cNvPr id="910" name="Google Shape;910;p78"/>
          <p:cNvGrpSpPr/>
          <p:nvPr/>
        </p:nvGrpSpPr>
        <p:grpSpPr>
          <a:xfrm>
            <a:off x="382271" y="259655"/>
            <a:ext cx="450310" cy="429099"/>
            <a:chOff x="956666" y="3498086"/>
            <a:chExt cx="600413" cy="572132"/>
          </a:xfrm>
        </p:grpSpPr>
        <p:sp>
          <p:nvSpPr>
            <p:cNvPr id="911" name="Google Shape;911;p78"/>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12" name="Google Shape;912;p78"/>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913" name="Google Shape;913;p78"/>
          <p:cNvSpPr txBox="1"/>
          <p:nvPr/>
        </p:nvSpPr>
        <p:spPr>
          <a:xfrm>
            <a:off x="997591" y="40199"/>
            <a:ext cx="79857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View v_borrow_summary</a:t>
            </a:r>
            <a:endParaRPr sz="2300" dirty="0">
              <a:latin typeface="DFKai-SB"/>
              <a:ea typeface="DFKai-SB"/>
              <a:cs typeface="DFKai-SB"/>
              <a:sym typeface="DFKai-SB"/>
            </a:endParaRPr>
          </a:p>
        </p:txBody>
      </p:sp>
      <p:pic>
        <p:nvPicPr>
          <p:cNvPr id="914" name="Google Shape;914;p78"/>
          <p:cNvPicPr preferRelativeResize="0"/>
          <p:nvPr/>
        </p:nvPicPr>
        <p:blipFill>
          <a:blip r:embed="rId3">
            <a:alphaModFix/>
          </a:blip>
          <a:stretch>
            <a:fillRect/>
          </a:stretch>
        </p:blipFill>
        <p:spPr>
          <a:xfrm>
            <a:off x="1059675" y="1139638"/>
            <a:ext cx="7024650" cy="1968775"/>
          </a:xfrm>
          <a:prstGeom prst="rect">
            <a:avLst/>
          </a:prstGeom>
          <a:noFill/>
          <a:ln>
            <a:noFill/>
          </a:ln>
        </p:spPr>
      </p:pic>
      <p:pic>
        <p:nvPicPr>
          <p:cNvPr id="915" name="Google Shape;915;p78"/>
          <p:cNvPicPr preferRelativeResize="0"/>
          <p:nvPr/>
        </p:nvPicPr>
        <p:blipFill>
          <a:blip r:embed="rId4">
            <a:alphaModFix/>
          </a:blip>
          <a:stretch>
            <a:fillRect/>
          </a:stretch>
        </p:blipFill>
        <p:spPr>
          <a:xfrm>
            <a:off x="1059675" y="3108400"/>
            <a:ext cx="7024650" cy="1805673"/>
          </a:xfrm>
          <a:prstGeom prst="rect">
            <a:avLst/>
          </a:prstGeom>
          <a:noFill/>
          <a:ln>
            <a:noFill/>
          </a:ln>
        </p:spPr>
      </p:pic>
      <p:sp>
        <p:nvSpPr>
          <p:cNvPr id="916" name="Google Shape;916;p78"/>
          <p:cNvSpPr txBox="1"/>
          <p:nvPr/>
        </p:nvSpPr>
        <p:spPr>
          <a:xfrm>
            <a:off x="1059675" y="562850"/>
            <a:ext cx="62763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zh-TW" sz="1500" b="1" dirty="0">
                <a:solidFill>
                  <a:srgbClr val="434343"/>
                </a:solidFill>
                <a:latin typeface="DFKai-SB"/>
                <a:ea typeface="DFKai-SB"/>
                <a:cs typeface="DFKai-SB"/>
                <a:sym typeface="DFKai-SB"/>
              </a:rPr>
              <a:t>查詢 v_borrow_summary：10 筆借用申請總覽</a:t>
            </a:r>
            <a:endParaRPr sz="2500" b="1" dirty="0">
              <a:latin typeface="DFKai-SB"/>
              <a:ea typeface="DFKai-SB"/>
              <a:cs typeface="DFKai-SB"/>
              <a:sym typeface="DFKai-SB"/>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grpSp>
        <p:nvGrpSpPr>
          <p:cNvPr id="921" name="Google Shape;921;p79"/>
          <p:cNvGrpSpPr/>
          <p:nvPr/>
        </p:nvGrpSpPr>
        <p:grpSpPr>
          <a:xfrm>
            <a:off x="382271" y="259655"/>
            <a:ext cx="450310" cy="429099"/>
            <a:chOff x="956666" y="3498086"/>
            <a:chExt cx="600413" cy="572132"/>
          </a:xfrm>
        </p:grpSpPr>
        <p:sp>
          <p:nvSpPr>
            <p:cNvPr id="922" name="Google Shape;922;p79"/>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23" name="Google Shape;923;p79"/>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924" name="Google Shape;924;p79"/>
          <p:cNvSpPr txBox="1"/>
          <p:nvPr/>
        </p:nvSpPr>
        <p:spPr>
          <a:xfrm>
            <a:off x="896350" y="231800"/>
            <a:ext cx="60498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a:solidFill>
                  <a:schemeClr val="dk1"/>
                </a:solidFill>
                <a:latin typeface="DFKai-SB"/>
                <a:ea typeface="DFKai-SB"/>
                <a:cs typeface="DFKai-SB"/>
                <a:sym typeface="DFKai-SB"/>
              </a:rPr>
              <a:t>View v_pending_requests</a:t>
            </a:r>
            <a:endParaRPr sz="2300">
              <a:latin typeface="DFKai-SB"/>
              <a:ea typeface="DFKai-SB"/>
              <a:cs typeface="DFKai-SB"/>
              <a:sym typeface="DFKai-SB"/>
            </a:endParaRPr>
          </a:p>
        </p:txBody>
      </p:sp>
      <p:pic>
        <p:nvPicPr>
          <p:cNvPr id="925" name="Google Shape;925;p79"/>
          <p:cNvPicPr preferRelativeResize="0"/>
          <p:nvPr/>
        </p:nvPicPr>
        <p:blipFill>
          <a:blip r:embed="rId3">
            <a:alphaModFix/>
          </a:blip>
          <a:stretch>
            <a:fillRect/>
          </a:stretch>
        </p:blipFill>
        <p:spPr>
          <a:xfrm>
            <a:off x="544311" y="1224000"/>
            <a:ext cx="7105965" cy="3578250"/>
          </a:xfrm>
          <a:prstGeom prst="rect">
            <a:avLst/>
          </a:prstGeom>
          <a:noFill/>
          <a:ln>
            <a:noFill/>
          </a:ln>
        </p:spPr>
      </p:pic>
      <p:sp>
        <p:nvSpPr>
          <p:cNvPr id="926" name="Google Shape;926;p79"/>
          <p:cNvSpPr txBox="1"/>
          <p:nvPr/>
        </p:nvSpPr>
        <p:spPr>
          <a:xfrm>
            <a:off x="382275" y="777850"/>
            <a:ext cx="3647700" cy="415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zh-TW" sz="1500" b="1">
                <a:solidFill>
                  <a:srgbClr val="434343"/>
                </a:solidFill>
                <a:latin typeface="DFKai-SB"/>
                <a:ea typeface="DFKai-SB"/>
                <a:cs typeface="DFKai-SB"/>
                <a:sym typeface="DFKai-SB"/>
              </a:rPr>
              <a:t>建立 VIEW3  </a:t>
            </a:r>
            <a:r>
              <a:rPr lang="zh-TW" sz="1500" b="1">
                <a:solidFill>
                  <a:schemeClr val="dk1"/>
                </a:solidFill>
                <a:latin typeface="DFKai-SB"/>
                <a:ea typeface="DFKai-SB"/>
                <a:cs typeface="DFKai-SB"/>
                <a:sym typeface="DFKai-SB"/>
              </a:rPr>
              <a:t>v_pending_requests</a:t>
            </a:r>
            <a:endParaRPr sz="2000" b="1">
              <a:latin typeface="DFKai-SB"/>
              <a:ea typeface="DFKai-SB"/>
              <a:cs typeface="DFKai-SB"/>
              <a:sym typeface="DFKai-SB"/>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80"/>
          <p:cNvSpPr txBox="1"/>
          <p:nvPr/>
        </p:nvSpPr>
        <p:spPr>
          <a:xfrm>
            <a:off x="1457675" y="1721600"/>
            <a:ext cx="67410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Clr>
                <a:schemeClr val="dk1"/>
              </a:buClr>
              <a:buSzPts val="1100"/>
              <a:buFont typeface="Arial"/>
              <a:buNone/>
            </a:pPr>
            <a:r>
              <a:rPr lang="zh-TW" sz="1500" b="1">
                <a:solidFill>
                  <a:srgbClr val="434343"/>
                </a:solidFill>
                <a:latin typeface="DFKai-SB"/>
                <a:ea typeface="DFKai-SB"/>
                <a:cs typeface="DFKai-SB"/>
                <a:sym typeface="DFKai-SB"/>
              </a:rPr>
              <a:t>查詢 v_pending_requests：4 筆待審核申請</a:t>
            </a:r>
            <a:endParaRPr sz="3200" b="1">
              <a:latin typeface="DFKai-SB"/>
              <a:ea typeface="DFKai-SB"/>
              <a:cs typeface="DFKai-SB"/>
              <a:sym typeface="DFKai-SB"/>
            </a:endParaRPr>
          </a:p>
        </p:txBody>
      </p:sp>
      <p:grpSp>
        <p:nvGrpSpPr>
          <p:cNvPr id="932" name="Google Shape;932;p80"/>
          <p:cNvGrpSpPr/>
          <p:nvPr/>
        </p:nvGrpSpPr>
        <p:grpSpPr>
          <a:xfrm>
            <a:off x="382271" y="259655"/>
            <a:ext cx="450310" cy="429099"/>
            <a:chOff x="956666" y="3498086"/>
            <a:chExt cx="600413" cy="572132"/>
          </a:xfrm>
        </p:grpSpPr>
        <p:sp>
          <p:nvSpPr>
            <p:cNvPr id="933" name="Google Shape;933;p80"/>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34" name="Google Shape;934;p80"/>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935" name="Google Shape;935;p80"/>
          <p:cNvSpPr txBox="1"/>
          <p:nvPr/>
        </p:nvSpPr>
        <p:spPr>
          <a:xfrm>
            <a:off x="896350" y="231800"/>
            <a:ext cx="58668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Clr>
                <a:schemeClr val="dk1"/>
              </a:buClr>
              <a:buSzPts val="1100"/>
              <a:buFont typeface="Arial"/>
              <a:buNone/>
            </a:pPr>
            <a:r>
              <a:rPr lang="zh-TW" sz="2300" b="1">
                <a:solidFill>
                  <a:schemeClr val="dk1"/>
                </a:solidFill>
                <a:latin typeface="DFKai-SB"/>
                <a:ea typeface="DFKai-SB"/>
                <a:cs typeface="DFKai-SB"/>
                <a:sym typeface="DFKai-SB"/>
              </a:rPr>
              <a:t>View v_pending_requests</a:t>
            </a:r>
            <a:endParaRPr sz="2300">
              <a:latin typeface="DFKai-SB"/>
              <a:ea typeface="DFKai-SB"/>
              <a:cs typeface="DFKai-SB"/>
              <a:sym typeface="DFKai-SB"/>
            </a:endParaRPr>
          </a:p>
        </p:txBody>
      </p:sp>
      <p:pic>
        <p:nvPicPr>
          <p:cNvPr id="936" name="Google Shape;936;p80"/>
          <p:cNvPicPr preferRelativeResize="0"/>
          <p:nvPr/>
        </p:nvPicPr>
        <p:blipFill>
          <a:blip r:embed="rId3">
            <a:alphaModFix/>
          </a:blip>
          <a:stretch>
            <a:fillRect/>
          </a:stretch>
        </p:blipFill>
        <p:spPr>
          <a:xfrm>
            <a:off x="0" y="2394825"/>
            <a:ext cx="9144001" cy="985672"/>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grpSp>
        <p:nvGrpSpPr>
          <p:cNvPr id="941" name="Google Shape;941;p81"/>
          <p:cNvGrpSpPr/>
          <p:nvPr/>
        </p:nvGrpSpPr>
        <p:grpSpPr>
          <a:xfrm>
            <a:off x="382271" y="259655"/>
            <a:ext cx="450310" cy="429099"/>
            <a:chOff x="956666" y="3498086"/>
            <a:chExt cx="600413" cy="572132"/>
          </a:xfrm>
        </p:grpSpPr>
        <p:sp>
          <p:nvSpPr>
            <p:cNvPr id="942" name="Google Shape;942;p81"/>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43" name="Google Shape;943;p81"/>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944" name="Google Shape;944;p81"/>
          <p:cNvSpPr txBox="1"/>
          <p:nvPr/>
        </p:nvSpPr>
        <p:spPr>
          <a:xfrm>
            <a:off x="896350" y="231800"/>
            <a:ext cx="54237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a:solidFill>
                  <a:schemeClr val="dk1"/>
                </a:solidFill>
                <a:latin typeface="DFKai-SB"/>
                <a:ea typeface="DFKai-SB"/>
                <a:cs typeface="DFKai-SB"/>
                <a:sym typeface="DFKai-SB"/>
              </a:rPr>
              <a:t>View v_room_equipment</a:t>
            </a:r>
            <a:endParaRPr sz="2300">
              <a:latin typeface="DFKai-SB"/>
              <a:ea typeface="DFKai-SB"/>
              <a:cs typeface="DFKai-SB"/>
              <a:sym typeface="DFKai-SB"/>
            </a:endParaRPr>
          </a:p>
        </p:txBody>
      </p:sp>
      <p:pic>
        <p:nvPicPr>
          <p:cNvPr id="945" name="Google Shape;945;p81"/>
          <p:cNvPicPr preferRelativeResize="0"/>
          <p:nvPr/>
        </p:nvPicPr>
        <p:blipFill>
          <a:blip r:embed="rId3">
            <a:alphaModFix/>
          </a:blip>
          <a:stretch>
            <a:fillRect/>
          </a:stretch>
        </p:blipFill>
        <p:spPr>
          <a:xfrm>
            <a:off x="505050" y="1346275"/>
            <a:ext cx="7811725" cy="3005600"/>
          </a:xfrm>
          <a:prstGeom prst="rect">
            <a:avLst/>
          </a:prstGeom>
          <a:noFill/>
          <a:ln>
            <a:noFill/>
          </a:ln>
        </p:spPr>
      </p:pic>
      <p:sp>
        <p:nvSpPr>
          <p:cNvPr id="946" name="Google Shape;946;p81"/>
          <p:cNvSpPr txBox="1"/>
          <p:nvPr/>
        </p:nvSpPr>
        <p:spPr>
          <a:xfrm>
            <a:off x="382275" y="961375"/>
            <a:ext cx="30000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zh-TW" b="1">
                <a:solidFill>
                  <a:srgbClr val="434343"/>
                </a:solidFill>
                <a:latin typeface="DFKai-SB"/>
                <a:ea typeface="DFKai-SB"/>
                <a:cs typeface="DFKai-SB"/>
                <a:sym typeface="DFKai-SB"/>
              </a:rPr>
              <a:t>建立 VIEW4  </a:t>
            </a:r>
            <a:r>
              <a:rPr lang="zh-TW" b="1">
                <a:solidFill>
                  <a:schemeClr val="dk1"/>
                </a:solidFill>
                <a:latin typeface="DFKai-SB"/>
                <a:ea typeface="DFKai-SB"/>
                <a:cs typeface="DFKai-SB"/>
                <a:sym typeface="DFKai-SB"/>
              </a:rPr>
              <a:t>v_room_equipment</a:t>
            </a:r>
            <a:endParaRPr b="1">
              <a:latin typeface="DFKai-SB"/>
              <a:ea typeface="DFKai-SB"/>
              <a:cs typeface="DFKai-SB"/>
              <a:sym typeface="DFKai-SB"/>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grpSp>
        <p:nvGrpSpPr>
          <p:cNvPr id="951" name="Google Shape;951;p82"/>
          <p:cNvGrpSpPr/>
          <p:nvPr/>
        </p:nvGrpSpPr>
        <p:grpSpPr>
          <a:xfrm>
            <a:off x="382271" y="259655"/>
            <a:ext cx="450310" cy="429099"/>
            <a:chOff x="956666" y="3498086"/>
            <a:chExt cx="600413" cy="572132"/>
          </a:xfrm>
        </p:grpSpPr>
        <p:sp>
          <p:nvSpPr>
            <p:cNvPr id="952" name="Google Shape;952;p82"/>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53" name="Google Shape;953;p82"/>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954" name="Google Shape;954;p82"/>
          <p:cNvSpPr txBox="1"/>
          <p:nvPr/>
        </p:nvSpPr>
        <p:spPr>
          <a:xfrm>
            <a:off x="896350" y="231800"/>
            <a:ext cx="56067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Clr>
                <a:schemeClr val="dk1"/>
              </a:buClr>
              <a:buSzPts val="1100"/>
              <a:buFont typeface="Arial"/>
              <a:buNone/>
            </a:pPr>
            <a:r>
              <a:rPr lang="zh-TW" sz="2300" b="1">
                <a:solidFill>
                  <a:schemeClr val="dk1"/>
                </a:solidFill>
                <a:latin typeface="DFKai-SB"/>
                <a:ea typeface="DFKai-SB"/>
                <a:cs typeface="DFKai-SB"/>
                <a:sym typeface="DFKai-SB"/>
              </a:rPr>
              <a:t>View v_room_equipment</a:t>
            </a:r>
            <a:endParaRPr sz="2300">
              <a:latin typeface="DFKai-SB"/>
              <a:ea typeface="DFKai-SB"/>
              <a:cs typeface="DFKai-SB"/>
              <a:sym typeface="DFKai-SB"/>
            </a:endParaRPr>
          </a:p>
        </p:txBody>
      </p:sp>
      <p:pic>
        <p:nvPicPr>
          <p:cNvPr id="955" name="Google Shape;955;p82"/>
          <p:cNvPicPr preferRelativeResize="0"/>
          <p:nvPr/>
        </p:nvPicPr>
        <p:blipFill>
          <a:blip r:embed="rId3">
            <a:alphaModFix/>
          </a:blip>
          <a:stretch>
            <a:fillRect/>
          </a:stretch>
        </p:blipFill>
        <p:spPr>
          <a:xfrm>
            <a:off x="824114" y="1227800"/>
            <a:ext cx="7495774" cy="3915700"/>
          </a:xfrm>
          <a:prstGeom prst="rect">
            <a:avLst/>
          </a:prstGeom>
          <a:noFill/>
          <a:ln>
            <a:noFill/>
          </a:ln>
        </p:spPr>
      </p:pic>
      <p:sp>
        <p:nvSpPr>
          <p:cNvPr id="956" name="Google Shape;956;p82"/>
          <p:cNvSpPr txBox="1"/>
          <p:nvPr/>
        </p:nvSpPr>
        <p:spPr>
          <a:xfrm>
            <a:off x="1863300" y="688754"/>
            <a:ext cx="5417400" cy="384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400"/>
              </a:spcBef>
              <a:spcAft>
                <a:spcPts val="400"/>
              </a:spcAft>
              <a:buNone/>
            </a:pPr>
            <a:r>
              <a:rPr lang="zh-TW" sz="1300" b="1" dirty="0">
                <a:solidFill>
                  <a:srgbClr val="434343"/>
                </a:solidFill>
                <a:latin typeface="DFKai-SB"/>
                <a:ea typeface="DFKai-SB"/>
                <a:cs typeface="DFKai-SB"/>
                <a:sym typeface="DFKai-SB"/>
              </a:rPr>
              <a:t>查詢 v_room_equipment：30 筆設備盤點結果</a:t>
            </a:r>
            <a:endParaRPr sz="1800" b="1" dirty="0">
              <a:latin typeface="DFKai-SB"/>
              <a:ea typeface="DFKai-SB"/>
              <a:cs typeface="DFKai-SB"/>
              <a:sym typeface="DFKai-SB"/>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grpSp>
        <p:nvGrpSpPr>
          <p:cNvPr id="961" name="Google Shape;961;p83"/>
          <p:cNvGrpSpPr/>
          <p:nvPr/>
        </p:nvGrpSpPr>
        <p:grpSpPr>
          <a:xfrm>
            <a:off x="382271" y="259655"/>
            <a:ext cx="450310" cy="429099"/>
            <a:chOff x="956666" y="3498086"/>
            <a:chExt cx="600413" cy="572132"/>
          </a:xfrm>
        </p:grpSpPr>
        <p:sp>
          <p:nvSpPr>
            <p:cNvPr id="962" name="Google Shape;962;p83"/>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63" name="Google Shape;963;p83"/>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964" name="Google Shape;964;p83"/>
          <p:cNvSpPr txBox="1"/>
          <p:nvPr/>
        </p:nvSpPr>
        <p:spPr>
          <a:xfrm>
            <a:off x="883881" y="12588"/>
            <a:ext cx="60882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dirty="0">
                <a:solidFill>
                  <a:schemeClr val="dk1"/>
                </a:solidFill>
                <a:latin typeface="DFKai-SB"/>
                <a:ea typeface="DFKai-SB"/>
                <a:cs typeface="DFKai-SB"/>
                <a:sym typeface="DFKai-SB"/>
              </a:rPr>
              <a:t>View v_audit_history</a:t>
            </a:r>
            <a:endParaRPr sz="2300" dirty="0">
              <a:latin typeface="DFKai-SB"/>
              <a:ea typeface="DFKai-SB"/>
              <a:cs typeface="DFKai-SB"/>
              <a:sym typeface="DFKai-SB"/>
            </a:endParaRPr>
          </a:p>
        </p:txBody>
      </p:sp>
      <p:pic>
        <p:nvPicPr>
          <p:cNvPr id="965" name="Google Shape;965;p83"/>
          <p:cNvPicPr preferRelativeResize="0"/>
          <p:nvPr/>
        </p:nvPicPr>
        <p:blipFill>
          <a:blip r:embed="rId3">
            <a:alphaModFix/>
          </a:blip>
          <a:stretch>
            <a:fillRect/>
          </a:stretch>
        </p:blipFill>
        <p:spPr>
          <a:xfrm>
            <a:off x="328225" y="3691470"/>
            <a:ext cx="8662675" cy="1192375"/>
          </a:xfrm>
          <a:prstGeom prst="rect">
            <a:avLst/>
          </a:prstGeom>
          <a:noFill/>
          <a:ln>
            <a:noFill/>
          </a:ln>
        </p:spPr>
      </p:pic>
      <p:sp>
        <p:nvSpPr>
          <p:cNvPr id="966" name="Google Shape;966;p83"/>
          <p:cNvSpPr txBox="1"/>
          <p:nvPr/>
        </p:nvSpPr>
        <p:spPr>
          <a:xfrm>
            <a:off x="0" y="3076113"/>
            <a:ext cx="31911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400"/>
              </a:spcBef>
              <a:spcAft>
                <a:spcPts val="400"/>
              </a:spcAft>
              <a:buNone/>
            </a:pPr>
            <a:r>
              <a:rPr lang="zh-TW" sz="1200" b="1" dirty="0">
                <a:solidFill>
                  <a:srgbClr val="434343"/>
                </a:solidFill>
                <a:latin typeface="DFKai-SB"/>
                <a:ea typeface="DFKai-SB"/>
                <a:cs typeface="DFKai-SB"/>
                <a:sym typeface="DFKai-SB"/>
              </a:rPr>
              <a:t>v_audit_history：10 筆審核歷程</a:t>
            </a:r>
            <a:endParaRPr sz="1200" b="1" dirty="0">
              <a:latin typeface="DFKai-SB"/>
              <a:ea typeface="DFKai-SB"/>
              <a:cs typeface="DFKai-SB"/>
              <a:sym typeface="DFKai-SB"/>
            </a:endParaRPr>
          </a:p>
        </p:txBody>
      </p:sp>
      <p:pic>
        <p:nvPicPr>
          <p:cNvPr id="967" name="Google Shape;967;p83"/>
          <p:cNvPicPr preferRelativeResize="0"/>
          <p:nvPr/>
        </p:nvPicPr>
        <p:blipFill>
          <a:blip r:embed="rId4">
            <a:alphaModFix/>
          </a:blip>
          <a:stretch>
            <a:fillRect/>
          </a:stretch>
        </p:blipFill>
        <p:spPr>
          <a:xfrm>
            <a:off x="328225" y="1061838"/>
            <a:ext cx="4261787" cy="2014275"/>
          </a:xfrm>
          <a:prstGeom prst="rect">
            <a:avLst/>
          </a:prstGeom>
          <a:noFill/>
          <a:ln>
            <a:noFill/>
          </a:ln>
        </p:spPr>
      </p:pic>
      <p:sp>
        <p:nvSpPr>
          <p:cNvPr id="968" name="Google Shape;968;p83"/>
          <p:cNvSpPr txBox="1"/>
          <p:nvPr/>
        </p:nvSpPr>
        <p:spPr>
          <a:xfrm>
            <a:off x="-147257" y="721538"/>
            <a:ext cx="31911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zh-TW" sz="1200" b="1">
                <a:solidFill>
                  <a:srgbClr val="434343"/>
                </a:solidFill>
                <a:latin typeface="DFKai-SB"/>
                <a:ea typeface="DFKai-SB"/>
                <a:cs typeface="DFKai-SB"/>
                <a:sym typeface="DFKai-SB"/>
              </a:rPr>
              <a:t>建立 VIEW5  </a:t>
            </a:r>
            <a:r>
              <a:rPr lang="zh-TW" sz="1200" b="1">
                <a:solidFill>
                  <a:schemeClr val="dk1"/>
                </a:solidFill>
                <a:latin typeface="DFKai-SB"/>
                <a:ea typeface="DFKai-SB"/>
                <a:cs typeface="DFKai-SB"/>
                <a:sym typeface="DFKai-SB"/>
              </a:rPr>
              <a:t>v_audit_history</a:t>
            </a:r>
            <a:endParaRPr sz="1200" b="1">
              <a:latin typeface="DFKai-SB"/>
              <a:ea typeface="DFKai-SB"/>
              <a:cs typeface="DFKai-SB"/>
              <a:sym typeface="DFKai-SB"/>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grpSp>
        <p:nvGrpSpPr>
          <p:cNvPr id="973" name="Google Shape;973;p84"/>
          <p:cNvGrpSpPr/>
          <p:nvPr/>
        </p:nvGrpSpPr>
        <p:grpSpPr>
          <a:xfrm>
            <a:off x="382271" y="259655"/>
            <a:ext cx="450310" cy="429099"/>
            <a:chOff x="956666" y="3498086"/>
            <a:chExt cx="600413" cy="572132"/>
          </a:xfrm>
        </p:grpSpPr>
        <p:sp>
          <p:nvSpPr>
            <p:cNvPr id="974" name="Google Shape;974;p84"/>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DFKai-SB"/>
                <a:ea typeface="DFKai-SB"/>
                <a:cs typeface="DFKai-SB"/>
                <a:sym typeface="DFKai-SB"/>
              </a:endParaRPr>
            </a:p>
          </p:txBody>
        </p:sp>
        <p:sp>
          <p:nvSpPr>
            <p:cNvPr id="975" name="Google Shape;975;p84"/>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DFKai-SB"/>
                <a:ea typeface="DFKai-SB"/>
                <a:cs typeface="DFKai-SB"/>
                <a:sym typeface="DFKai-SB"/>
              </a:endParaRPr>
            </a:p>
          </p:txBody>
        </p:sp>
      </p:grpSp>
      <p:sp>
        <p:nvSpPr>
          <p:cNvPr id="976" name="Google Shape;976;p84"/>
          <p:cNvSpPr txBox="1"/>
          <p:nvPr/>
        </p:nvSpPr>
        <p:spPr>
          <a:xfrm>
            <a:off x="896350" y="231800"/>
            <a:ext cx="7253700" cy="692467"/>
          </a:xfrm>
          <a:prstGeom prst="rect">
            <a:avLst/>
          </a:prstGeom>
          <a:noFill/>
          <a:ln>
            <a:noFill/>
          </a:ln>
        </p:spPr>
        <p:txBody>
          <a:bodyPr spcFirstLastPara="1" wrap="square" lIns="91425" tIns="91425" rIns="91425" bIns="91425" anchor="t" anchorCtr="0">
            <a:spAutoFit/>
          </a:bodyPr>
          <a:lstStyle/>
          <a:p>
            <a:pPr marL="0" lvl="0" indent="0" rtl="0">
              <a:spcAft>
                <a:spcPts val="1200"/>
              </a:spcAft>
              <a:buNone/>
            </a:pPr>
            <a:r>
              <a:rPr lang="zh-TW" sz="2300" b="1" dirty="0">
                <a:solidFill>
                  <a:schemeClr val="dk1"/>
                </a:solidFill>
                <a:latin typeface="DFKai-SB"/>
                <a:ea typeface="DFKai-SB"/>
                <a:cs typeface="DFKai-SB"/>
                <a:sym typeface="DFKai-SB"/>
              </a:rPr>
              <a:t>View v_room_borrow_stats</a:t>
            </a:r>
            <a:endParaRPr sz="2300" dirty="0">
              <a:latin typeface="DFKai-SB"/>
              <a:ea typeface="DFKai-SB"/>
              <a:cs typeface="DFKai-SB"/>
              <a:sym typeface="DFKai-SB"/>
            </a:endParaRPr>
          </a:p>
        </p:txBody>
      </p:sp>
      <p:pic>
        <p:nvPicPr>
          <p:cNvPr id="977" name="Google Shape;977;p84"/>
          <p:cNvPicPr preferRelativeResize="0"/>
          <p:nvPr/>
        </p:nvPicPr>
        <p:blipFill>
          <a:blip r:embed="rId3">
            <a:alphaModFix/>
          </a:blip>
          <a:stretch>
            <a:fillRect/>
          </a:stretch>
        </p:blipFill>
        <p:spPr>
          <a:xfrm>
            <a:off x="896350" y="1116800"/>
            <a:ext cx="5743575" cy="1819275"/>
          </a:xfrm>
          <a:prstGeom prst="rect">
            <a:avLst/>
          </a:prstGeom>
          <a:noFill/>
          <a:ln>
            <a:noFill/>
          </a:ln>
        </p:spPr>
      </p:pic>
      <p:sp>
        <p:nvSpPr>
          <p:cNvPr id="978" name="Google Shape;978;p84"/>
          <p:cNvSpPr txBox="1"/>
          <p:nvPr/>
        </p:nvSpPr>
        <p:spPr>
          <a:xfrm>
            <a:off x="896350" y="716600"/>
            <a:ext cx="3274200" cy="45137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400"/>
              </a:spcAft>
              <a:buNone/>
            </a:pPr>
            <a:r>
              <a:rPr lang="zh-TW" b="1" dirty="0">
                <a:solidFill>
                  <a:srgbClr val="434343"/>
                </a:solidFill>
                <a:latin typeface="DFKai-SB"/>
                <a:ea typeface="DFKai-SB"/>
                <a:cs typeface="DFKai-SB"/>
                <a:sym typeface="DFKai-SB"/>
              </a:rPr>
              <a:t>建立 VIEW6  </a:t>
            </a:r>
            <a:r>
              <a:rPr lang="zh-TW" b="1" dirty="0">
                <a:solidFill>
                  <a:schemeClr val="dk1"/>
                </a:solidFill>
                <a:latin typeface="DFKai-SB"/>
                <a:ea typeface="DFKai-SB"/>
                <a:cs typeface="DFKai-SB"/>
                <a:sym typeface="DFKai-SB"/>
              </a:rPr>
              <a:t>v_room_borrow_stats</a:t>
            </a:r>
            <a:endParaRPr sz="1900" b="1" dirty="0">
              <a:latin typeface="DFKai-SB"/>
              <a:ea typeface="DFKai-SB"/>
              <a:cs typeface="DFKai-SB"/>
              <a:sym typeface="DFKai-SB"/>
            </a:endParaRPr>
          </a:p>
        </p:txBody>
      </p:sp>
      <p:sp>
        <p:nvSpPr>
          <p:cNvPr id="979" name="Google Shape;979;p84"/>
          <p:cNvSpPr txBox="1"/>
          <p:nvPr/>
        </p:nvSpPr>
        <p:spPr>
          <a:xfrm>
            <a:off x="780750" y="3037925"/>
            <a:ext cx="3679800" cy="435987"/>
          </a:xfrm>
          <a:prstGeom prst="rect">
            <a:avLst/>
          </a:prstGeom>
          <a:noFill/>
          <a:ln>
            <a:noFill/>
          </a:ln>
        </p:spPr>
        <p:txBody>
          <a:bodyPr spcFirstLastPara="1" wrap="square" lIns="91425" tIns="91425" rIns="91425" bIns="91425" anchor="t" anchorCtr="0">
            <a:spAutoFit/>
          </a:bodyPr>
          <a:lstStyle/>
          <a:p>
            <a:pPr marL="0" lvl="0" indent="0" rtl="0">
              <a:spcAft>
                <a:spcPts val="400"/>
              </a:spcAft>
              <a:buNone/>
            </a:pPr>
            <a:r>
              <a:rPr lang="zh-TW" sz="1300" b="1" dirty="0">
                <a:solidFill>
                  <a:srgbClr val="434343"/>
                </a:solidFill>
                <a:latin typeface="DFKai-SB"/>
                <a:ea typeface="DFKai-SB"/>
                <a:cs typeface="DFKai-SB"/>
                <a:sym typeface="DFKai-SB"/>
              </a:rPr>
              <a:t>查詢 v_room_borrow_stats：各教室借用統計</a:t>
            </a:r>
            <a:endParaRPr sz="2300" b="1" dirty="0">
              <a:latin typeface="DFKai-SB"/>
              <a:ea typeface="DFKai-SB"/>
              <a:cs typeface="DFKai-SB"/>
              <a:sym typeface="DFKai-SB"/>
            </a:endParaRPr>
          </a:p>
        </p:txBody>
      </p:sp>
      <p:pic>
        <p:nvPicPr>
          <p:cNvPr id="980" name="Google Shape;980;p84"/>
          <p:cNvPicPr preferRelativeResize="0"/>
          <p:nvPr/>
        </p:nvPicPr>
        <p:blipFill>
          <a:blip r:embed="rId4">
            <a:alphaModFix/>
          </a:blip>
          <a:stretch>
            <a:fillRect/>
          </a:stretch>
        </p:blipFill>
        <p:spPr>
          <a:xfrm>
            <a:off x="780750" y="3459058"/>
            <a:ext cx="5743575" cy="15906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grpSp>
        <p:nvGrpSpPr>
          <p:cNvPr id="985" name="Google Shape;985;p85"/>
          <p:cNvGrpSpPr/>
          <p:nvPr/>
        </p:nvGrpSpPr>
        <p:grpSpPr>
          <a:xfrm>
            <a:off x="382271" y="259655"/>
            <a:ext cx="450310" cy="429099"/>
            <a:chOff x="956666" y="3498086"/>
            <a:chExt cx="600413" cy="572132"/>
          </a:xfrm>
        </p:grpSpPr>
        <p:sp>
          <p:nvSpPr>
            <p:cNvPr id="986" name="Google Shape;986;p85"/>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lt1"/>
                </a:solidFill>
                <a:latin typeface="DFKai-SB"/>
                <a:ea typeface="DFKai-SB"/>
                <a:cs typeface="DFKai-SB"/>
                <a:sym typeface="DFKai-SB"/>
              </a:endParaRPr>
            </a:p>
          </p:txBody>
        </p:sp>
        <p:sp>
          <p:nvSpPr>
            <p:cNvPr id="987" name="Google Shape;987;p85"/>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lt1"/>
                </a:solidFill>
                <a:latin typeface="DFKai-SB"/>
                <a:ea typeface="DFKai-SB"/>
                <a:cs typeface="DFKai-SB"/>
                <a:sym typeface="DFKai-SB"/>
              </a:endParaRPr>
            </a:p>
          </p:txBody>
        </p:sp>
      </p:grpSp>
      <p:sp>
        <p:nvSpPr>
          <p:cNvPr id="988" name="Google Shape;988;p85"/>
          <p:cNvSpPr txBox="1"/>
          <p:nvPr/>
        </p:nvSpPr>
        <p:spPr>
          <a:xfrm>
            <a:off x="896350" y="231800"/>
            <a:ext cx="6984000" cy="763256"/>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Aft>
                <a:spcPts val="1200"/>
              </a:spcAft>
              <a:buNone/>
            </a:pPr>
            <a:r>
              <a:rPr lang="zh-TW" sz="2300" b="1" dirty="0">
                <a:solidFill>
                  <a:schemeClr val="dk1"/>
                </a:solidFill>
                <a:latin typeface="DFKai-SB"/>
                <a:ea typeface="DFKai-SB"/>
                <a:cs typeface="DFKai-SB"/>
                <a:sym typeface="DFKai-SB"/>
              </a:rPr>
              <a:t>View v_user_borrow_stats</a:t>
            </a:r>
            <a:endParaRPr sz="2300" dirty="0">
              <a:latin typeface="DFKai-SB"/>
              <a:ea typeface="DFKai-SB"/>
              <a:cs typeface="DFKai-SB"/>
              <a:sym typeface="DFKai-SB"/>
            </a:endParaRPr>
          </a:p>
        </p:txBody>
      </p:sp>
      <p:pic>
        <p:nvPicPr>
          <p:cNvPr id="989" name="Google Shape;989;p85"/>
          <p:cNvPicPr preferRelativeResize="0"/>
          <p:nvPr/>
        </p:nvPicPr>
        <p:blipFill>
          <a:blip r:embed="rId3">
            <a:alphaModFix/>
          </a:blip>
          <a:stretch>
            <a:fillRect/>
          </a:stretch>
        </p:blipFill>
        <p:spPr>
          <a:xfrm>
            <a:off x="896350" y="1182775"/>
            <a:ext cx="5743575" cy="1752600"/>
          </a:xfrm>
          <a:prstGeom prst="rect">
            <a:avLst/>
          </a:prstGeom>
          <a:noFill/>
          <a:ln>
            <a:noFill/>
          </a:ln>
        </p:spPr>
      </p:pic>
      <p:sp>
        <p:nvSpPr>
          <p:cNvPr id="990" name="Google Shape;990;p85"/>
          <p:cNvSpPr txBox="1"/>
          <p:nvPr/>
        </p:nvSpPr>
        <p:spPr>
          <a:xfrm>
            <a:off x="896350" y="782575"/>
            <a:ext cx="3274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zh-TW" sz="1200" b="1" dirty="0">
                <a:solidFill>
                  <a:srgbClr val="434343"/>
                </a:solidFill>
                <a:latin typeface="DFKai-SB"/>
                <a:ea typeface="DFKai-SB"/>
                <a:cs typeface="DFKai-SB"/>
                <a:sym typeface="DFKai-SB"/>
              </a:rPr>
              <a:t>建立 VIEW7  </a:t>
            </a:r>
            <a:r>
              <a:rPr lang="zh-TW" sz="1200" b="1" dirty="0">
                <a:solidFill>
                  <a:schemeClr val="dk1"/>
                </a:solidFill>
                <a:latin typeface="DFKai-SB"/>
                <a:ea typeface="DFKai-SB"/>
                <a:cs typeface="DFKai-SB"/>
                <a:sym typeface="DFKai-SB"/>
              </a:rPr>
              <a:t>v_user_borrow_stats</a:t>
            </a:r>
            <a:endParaRPr sz="1200" b="1" dirty="0">
              <a:latin typeface="DFKai-SB"/>
              <a:ea typeface="DFKai-SB"/>
              <a:cs typeface="DFKai-SB"/>
              <a:sym typeface="DFKai-SB"/>
            </a:endParaRPr>
          </a:p>
        </p:txBody>
      </p:sp>
      <p:pic>
        <p:nvPicPr>
          <p:cNvPr id="991" name="Google Shape;991;p85"/>
          <p:cNvPicPr preferRelativeResize="0"/>
          <p:nvPr/>
        </p:nvPicPr>
        <p:blipFill>
          <a:blip r:embed="rId4">
            <a:alphaModFix/>
          </a:blip>
          <a:stretch>
            <a:fillRect/>
          </a:stretch>
        </p:blipFill>
        <p:spPr>
          <a:xfrm>
            <a:off x="896348" y="3401553"/>
            <a:ext cx="4739171" cy="1752600"/>
          </a:xfrm>
          <a:prstGeom prst="rect">
            <a:avLst/>
          </a:prstGeom>
          <a:noFill/>
          <a:ln>
            <a:noFill/>
          </a:ln>
        </p:spPr>
      </p:pic>
      <p:sp>
        <p:nvSpPr>
          <p:cNvPr id="992" name="Google Shape;992;p85"/>
          <p:cNvSpPr txBox="1"/>
          <p:nvPr/>
        </p:nvSpPr>
        <p:spPr>
          <a:xfrm>
            <a:off x="896350" y="3000675"/>
            <a:ext cx="3936000" cy="333386"/>
          </a:xfrm>
          <a:prstGeom prst="rect">
            <a:avLst/>
          </a:prstGeom>
          <a:noFill/>
          <a:ln>
            <a:noFill/>
          </a:ln>
        </p:spPr>
        <p:txBody>
          <a:bodyPr spcFirstLastPara="1" wrap="square" lIns="47225" tIns="47225" rIns="47225" bIns="47225" anchor="t" anchorCtr="0">
            <a:spAutoFit/>
          </a:bodyPr>
          <a:lstStyle/>
          <a:p>
            <a:pPr marL="0" lvl="0" indent="0" algn="ctr" rtl="0">
              <a:lnSpc>
                <a:spcPct val="115000"/>
              </a:lnSpc>
              <a:spcAft>
                <a:spcPts val="207"/>
              </a:spcAft>
              <a:buNone/>
            </a:pPr>
            <a:r>
              <a:rPr lang="zh-TW" sz="1200" b="1" dirty="0">
                <a:solidFill>
                  <a:srgbClr val="434343"/>
                </a:solidFill>
                <a:latin typeface="DFKai-SB"/>
                <a:ea typeface="DFKai-SB"/>
                <a:cs typeface="DFKai-SB"/>
                <a:sym typeface="DFKai-SB"/>
              </a:rPr>
              <a:t>查詢 v_user_borrow_stats：各使用者借用統計</a:t>
            </a:r>
            <a:endParaRPr sz="1200" b="1" dirty="0">
              <a:latin typeface="DFKai-SB"/>
              <a:ea typeface="DFKai-SB"/>
              <a:cs typeface="DFKai-SB"/>
              <a:sym typeface="DFKai-SB"/>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grpSp>
        <p:nvGrpSpPr>
          <p:cNvPr id="997" name="Google Shape;997;p86"/>
          <p:cNvGrpSpPr/>
          <p:nvPr/>
        </p:nvGrpSpPr>
        <p:grpSpPr>
          <a:xfrm>
            <a:off x="382271" y="259655"/>
            <a:ext cx="450310" cy="429099"/>
            <a:chOff x="956666" y="3498086"/>
            <a:chExt cx="600413" cy="572132"/>
          </a:xfrm>
        </p:grpSpPr>
        <p:sp>
          <p:nvSpPr>
            <p:cNvPr id="998" name="Google Shape;998;p86"/>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999" name="Google Shape;999;p86"/>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00" name="Google Shape;1000;p86"/>
          <p:cNvSpPr txBox="1"/>
          <p:nvPr/>
        </p:nvSpPr>
        <p:spPr>
          <a:xfrm>
            <a:off x="896350"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a:solidFill>
                  <a:schemeClr val="dk1"/>
                </a:solidFill>
                <a:latin typeface="DFKai-SB"/>
                <a:ea typeface="DFKai-SB"/>
                <a:cs typeface="DFKai-SB"/>
                <a:sym typeface="DFKai-SB"/>
              </a:rPr>
              <a:t>查詢View</a:t>
            </a:r>
            <a:endParaRPr sz="2300">
              <a:latin typeface="DFKai-SB"/>
              <a:ea typeface="DFKai-SB"/>
              <a:cs typeface="DFKai-SB"/>
              <a:sym typeface="DFKai-SB"/>
            </a:endParaRPr>
          </a:p>
        </p:txBody>
      </p:sp>
      <p:pic>
        <p:nvPicPr>
          <p:cNvPr id="1001" name="Google Shape;1001;p86"/>
          <p:cNvPicPr preferRelativeResize="0"/>
          <p:nvPr/>
        </p:nvPicPr>
        <p:blipFill>
          <a:blip r:embed="rId3">
            <a:alphaModFix/>
          </a:blip>
          <a:stretch>
            <a:fillRect/>
          </a:stretch>
        </p:blipFill>
        <p:spPr>
          <a:xfrm>
            <a:off x="435313" y="3885050"/>
            <a:ext cx="8273376" cy="1111350"/>
          </a:xfrm>
          <a:prstGeom prst="rect">
            <a:avLst/>
          </a:prstGeom>
          <a:noFill/>
          <a:ln>
            <a:noFill/>
          </a:ln>
        </p:spPr>
      </p:pic>
      <p:graphicFrame>
        <p:nvGraphicFramePr>
          <p:cNvPr id="1002" name="Google Shape;1002;p86"/>
          <p:cNvGraphicFramePr/>
          <p:nvPr>
            <p:extLst>
              <p:ext uri="{D42A27DB-BD31-4B8C-83A1-F6EECF244321}">
                <p14:modId xmlns:p14="http://schemas.microsoft.com/office/powerpoint/2010/main" val="2677317111"/>
              </p:ext>
            </p:extLst>
          </p:nvPr>
        </p:nvGraphicFramePr>
        <p:xfrm>
          <a:off x="435313" y="1472388"/>
          <a:ext cx="8273376" cy="2320163"/>
        </p:xfrm>
        <a:graphic>
          <a:graphicData uri="http://schemas.openxmlformats.org/drawingml/2006/table">
            <a:tbl>
              <a:tblPr>
                <a:tableStyleId>{AC306F20-B5FA-46C3-8F7C-962CBD427640}</a:tableStyleId>
              </a:tblPr>
              <a:tblGrid>
                <a:gridCol w="565939">
                  <a:extLst>
                    <a:ext uri="{9D8B030D-6E8A-4147-A177-3AD203B41FA5}">
                      <a16:colId xmlns:a16="http://schemas.microsoft.com/office/drawing/2014/main" val="20000"/>
                    </a:ext>
                  </a:extLst>
                </a:gridCol>
                <a:gridCol w="2148539">
                  <a:extLst>
                    <a:ext uri="{9D8B030D-6E8A-4147-A177-3AD203B41FA5}">
                      <a16:colId xmlns:a16="http://schemas.microsoft.com/office/drawing/2014/main" val="20001"/>
                    </a:ext>
                  </a:extLst>
                </a:gridCol>
                <a:gridCol w="2916612">
                  <a:extLst>
                    <a:ext uri="{9D8B030D-6E8A-4147-A177-3AD203B41FA5}">
                      <a16:colId xmlns:a16="http://schemas.microsoft.com/office/drawing/2014/main" val="20002"/>
                    </a:ext>
                  </a:extLst>
                </a:gridCol>
                <a:gridCol w="2642286">
                  <a:extLst>
                    <a:ext uri="{9D8B030D-6E8A-4147-A177-3AD203B41FA5}">
                      <a16:colId xmlns:a16="http://schemas.microsoft.com/office/drawing/2014/main" val="20003"/>
                    </a:ext>
                  </a:extLst>
                </a:gridCol>
              </a:tblGrid>
              <a:tr h="268600">
                <a:tc>
                  <a:txBody>
                    <a:bodyPr/>
                    <a:lstStyle/>
                    <a:p>
                      <a:pPr marL="0" lvl="0" indent="0" algn="l" rtl="0">
                        <a:lnSpc>
                          <a:spcPct val="115000"/>
                        </a:lnSpc>
                        <a:spcBef>
                          <a:spcPts val="0"/>
                        </a:spcBef>
                        <a:spcAft>
                          <a:spcPts val="0"/>
                        </a:spcAft>
                        <a:buNone/>
                      </a:pPr>
                      <a:r>
                        <a:rPr lang="zh-TW" sz="1200" b="1">
                          <a:latin typeface="標楷體" panose="03000509000000000000" pitchFamily="65" charset="-120"/>
                          <a:ea typeface="標楷體" panose="03000509000000000000" pitchFamily="65" charset="-120"/>
                          <a:sym typeface="DFKai-SB"/>
                        </a:rPr>
                        <a:t>#</a:t>
                      </a:r>
                      <a:endParaRPr sz="1200" b="1">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b="1">
                          <a:latin typeface="標楷體" panose="03000509000000000000" pitchFamily="65" charset="-120"/>
                          <a:ea typeface="標楷體" panose="03000509000000000000" pitchFamily="65" charset="-120"/>
                          <a:sym typeface="DFKai-SB"/>
                        </a:rPr>
                        <a:t>測試項目</a:t>
                      </a:r>
                      <a:endParaRPr sz="1200" b="1">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b="1">
                          <a:latin typeface="標楷體" panose="03000509000000000000" pitchFamily="65" charset="-120"/>
                          <a:ea typeface="標楷體" panose="03000509000000000000" pitchFamily="65" charset="-120"/>
                          <a:sym typeface="DFKai-SB"/>
                        </a:rPr>
                        <a:t>違規 SQL</a:t>
                      </a:r>
                      <a:endParaRPr sz="1200" b="1">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b="1">
                          <a:latin typeface="標楷體" panose="03000509000000000000" pitchFamily="65" charset="-120"/>
                          <a:ea typeface="標楷體" panose="03000509000000000000" pitchFamily="65" charset="-120"/>
                          <a:sym typeface="DFKai-SB"/>
                        </a:rPr>
                        <a:t>預期錯誤</a:t>
                      </a:r>
                      <a:endParaRPr sz="1200" b="1">
                        <a:latin typeface="標楷體" panose="03000509000000000000" pitchFamily="65" charset="-120"/>
                        <a:ea typeface="標楷體" panose="03000509000000000000" pitchFamily="65" charset="-120"/>
                        <a:cs typeface="DFKai-SB"/>
                        <a:sym typeface="DFKai-SB"/>
                      </a:endParaRPr>
                    </a:p>
                  </a:txBody>
                  <a:tcPr marL="76200" marR="76200" marT="50800" marB="50800"/>
                </a:tc>
                <a:extLst>
                  <a:ext uri="{0D108BD9-81ED-4DB2-BD59-A6C34878D82A}">
                    <a16:rowId xmlns:a16="http://schemas.microsoft.com/office/drawing/2014/main" val="10000"/>
                  </a:ext>
                </a:extLst>
              </a:tr>
              <a:tr h="418525">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1</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非法 role 值</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INSERT INTO User ... role='G'</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ERROR 4025：CHECK CONSTRAINT_2 failed</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extLst>
                  <a:ext uri="{0D108BD9-81ED-4DB2-BD59-A6C34878D82A}">
                    <a16:rowId xmlns:a16="http://schemas.microsoft.com/office/drawing/2014/main" val="10001"/>
                  </a:ext>
                </a:extLst>
              </a:tr>
              <a:tr h="365230">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2</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同教室重複設備</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INSERT INTO Equipment ... eq_name='投影機', room_id='BGC0614'</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ERROR 1062：Duplicate entry</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extLst>
                  <a:ext uri="{0D108BD9-81ED-4DB2-BD59-A6C34878D82A}">
                    <a16:rowId xmlns:a16="http://schemas.microsoft.com/office/drawing/2014/main" val="10002"/>
                  </a:ext>
                </a:extLst>
              </a:tr>
              <a:tr h="418525">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3</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start_time &gt; end_time</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start_time='14:00', end_time='10:00'</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ERROR 4025：CHECK CONSTRAINT_2 failed</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extLst>
                  <a:ext uri="{0D108BD9-81ED-4DB2-BD59-A6C34878D82A}">
                    <a16:rowId xmlns:a16="http://schemas.microsoft.com/office/drawing/2014/main" val="10003"/>
                  </a:ext>
                </a:extLst>
              </a:tr>
              <a:tr h="440400">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4</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外鍵違反（不存在 room_id）</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a:latin typeface="標楷體" panose="03000509000000000000" pitchFamily="65" charset="-120"/>
                          <a:ea typeface="標楷體" panose="03000509000000000000" pitchFamily="65" charset="-120"/>
                          <a:sym typeface="DFKai-SB"/>
                        </a:rPr>
                        <a:t>room_id='ZZZ9999'</a:t>
                      </a:r>
                      <a:endParaRPr sz="1200">
                        <a:latin typeface="標楷體" panose="03000509000000000000" pitchFamily="65" charset="-120"/>
                        <a:ea typeface="標楷體" panose="03000509000000000000" pitchFamily="65" charset="-120"/>
                        <a:cs typeface="DFKai-SB"/>
                        <a:sym typeface="DFKai-SB"/>
                      </a:endParaRPr>
                    </a:p>
                  </a:txBody>
                  <a:tcPr marL="76200" marR="76200" marT="50800" marB="50800"/>
                </a:tc>
                <a:tc>
                  <a:txBody>
                    <a:bodyPr/>
                    <a:lstStyle/>
                    <a:p>
                      <a:pPr marL="0" lvl="0" indent="0" algn="l" rtl="0">
                        <a:lnSpc>
                          <a:spcPct val="115000"/>
                        </a:lnSpc>
                        <a:spcBef>
                          <a:spcPts val="0"/>
                        </a:spcBef>
                        <a:spcAft>
                          <a:spcPts val="0"/>
                        </a:spcAft>
                        <a:buNone/>
                      </a:pPr>
                      <a:r>
                        <a:rPr lang="zh-TW" sz="1200" dirty="0">
                          <a:latin typeface="標楷體" panose="03000509000000000000" pitchFamily="65" charset="-120"/>
                          <a:ea typeface="標楷體" panose="03000509000000000000" pitchFamily="65" charset="-120"/>
                          <a:sym typeface="DFKai-SB"/>
                        </a:rPr>
                        <a:t>ERROR 1452：foreign key constraint fails</a:t>
                      </a:r>
                      <a:endParaRPr sz="1200" dirty="0">
                        <a:latin typeface="標楷體" panose="03000509000000000000" pitchFamily="65" charset="-120"/>
                        <a:ea typeface="標楷體" panose="03000509000000000000" pitchFamily="65" charset="-120"/>
                        <a:cs typeface="DFKai-SB"/>
                        <a:sym typeface="DFKai-SB"/>
                      </a:endParaRPr>
                    </a:p>
                  </a:txBody>
                  <a:tcPr marL="76200" marR="76200" marT="50800" marB="50800"/>
                </a:tc>
                <a:extLst>
                  <a:ext uri="{0D108BD9-81ED-4DB2-BD59-A6C34878D82A}">
                    <a16:rowId xmlns:a16="http://schemas.microsoft.com/office/drawing/2014/main" val="10004"/>
                  </a:ext>
                </a:extLst>
              </a:tr>
            </a:tbl>
          </a:graphicData>
        </a:graphic>
      </p:graphicFrame>
      <p:sp>
        <p:nvSpPr>
          <p:cNvPr id="1003" name="Google Shape;1003;p86"/>
          <p:cNvSpPr txBox="1"/>
          <p:nvPr/>
        </p:nvSpPr>
        <p:spPr>
          <a:xfrm>
            <a:off x="554550" y="931625"/>
            <a:ext cx="8034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200">
                <a:solidFill>
                  <a:schemeClr val="dk1"/>
                </a:solidFill>
                <a:latin typeface="DFKai-SB"/>
                <a:ea typeface="DFKai-SB"/>
                <a:cs typeface="DFKai-SB"/>
                <a:sym typeface="DFKai-SB"/>
              </a:rPr>
              <a:t>以下測試四項違規操作，驗證資料庫 CHECK 條件與外鍵約束是否正確攔截不合法資料</a:t>
            </a:r>
            <a:endParaRPr sz="1200">
              <a:latin typeface="DFKai-SB"/>
              <a:ea typeface="DFKai-SB"/>
              <a:cs typeface="DFKai-SB"/>
              <a:sym typeface="DFKai-SB"/>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grpSp>
        <p:nvGrpSpPr>
          <p:cNvPr id="1008" name="Google Shape;1008;p87"/>
          <p:cNvGrpSpPr/>
          <p:nvPr/>
        </p:nvGrpSpPr>
        <p:grpSpPr>
          <a:xfrm>
            <a:off x="382271" y="259655"/>
            <a:ext cx="450310" cy="429099"/>
            <a:chOff x="956666" y="3498086"/>
            <a:chExt cx="600413" cy="572132"/>
          </a:xfrm>
        </p:grpSpPr>
        <p:sp>
          <p:nvSpPr>
            <p:cNvPr id="1009" name="Google Shape;1009;p87"/>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10" name="Google Shape;1010;p87"/>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11" name="Google Shape;1011;p87"/>
          <p:cNvSpPr txBox="1"/>
          <p:nvPr/>
        </p:nvSpPr>
        <p:spPr>
          <a:xfrm>
            <a:off x="382275" y="1078450"/>
            <a:ext cx="4872600" cy="53678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400"/>
              </a:spcAft>
              <a:buClr>
                <a:schemeClr val="dk1"/>
              </a:buClr>
              <a:buSzPts val="1100"/>
              <a:buFont typeface="Arial"/>
              <a:buNone/>
            </a:pPr>
            <a:r>
              <a:rPr lang="zh-TW" sz="1700" b="1" dirty="0">
                <a:solidFill>
                  <a:schemeClr val="dk1"/>
                </a:solidFill>
                <a:latin typeface="DFKai-SB"/>
                <a:ea typeface="DFKai-SB"/>
                <a:cs typeface="DFKai-SB"/>
                <a:sym typeface="DFKai-SB"/>
              </a:rPr>
              <a:t>Trigger 一：衝堂檢查（trg_check_overlap）</a:t>
            </a:r>
            <a:endParaRPr sz="1900" dirty="0">
              <a:latin typeface="DFKai-SB"/>
              <a:ea typeface="DFKai-SB"/>
              <a:cs typeface="DFKai-SB"/>
              <a:sym typeface="DFKai-SB"/>
            </a:endParaRPr>
          </a:p>
        </p:txBody>
      </p:sp>
      <p:sp>
        <p:nvSpPr>
          <p:cNvPr id="1012" name="Google Shape;1012;p87"/>
          <p:cNvSpPr txBox="1"/>
          <p:nvPr/>
        </p:nvSpPr>
        <p:spPr>
          <a:xfrm>
            <a:off x="1058325" y="274100"/>
            <a:ext cx="3000000" cy="64296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400"/>
              </a:spcAft>
              <a:buNone/>
            </a:pPr>
            <a:r>
              <a:rPr lang="zh-TW" sz="2300" b="1" dirty="0">
                <a:solidFill>
                  <a:schemeClr val="dk1"/>
                </a:solidFill>
                <a:latin typeface="DFKai-SB"/>
                <a:ea typeface="DFKai-SB"/>
                <a:cs typeface="DFKai-SB"/>
                <a:sym typeface="DFKai-SB"/>
              </a:rPr>
              <a:t>Trigger 測試</a:t>
            </a:r>
            <a:endParaRPr sz="2300" dirty="0">
              <a:latin typeface="DFKai-SB"/>
              <a:ea typeface="DFKai-SB"/>
              <a:cs typeface="DFKai-SB"/>
              <a:sym typeface="DFKai-SB"/>
            </a:endParaRPr>
          </a:p>
        </p:txBody>
      </p:sp>
      <p:sp>
        <p:nvSpPr>
          <p:cNvPr id="1013" name="Google Shape;1013;p87"/>
          <p:cNvSpPr txBox="1"/>
          <p:nvPr/>
        </p:nvSpPr>
        <p:spPr>
          <a:xfrm>
            <a:off x="382271" y="1475814"/>
            <a:ext cx="81084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200" dirty="0">
                <a:solidFill>
                  <a:schemeClr val="dk1"/>
                </a:solidFill>
                <a:latin typeface="DFKai-SB"/>
                <a:ea typeface="DFKai-SB"/>
                <a:cs typeface="DFKai-SB"/>
                <a:sym typeface="DFKai-SB"/>
              </a:rPr>
              <a:t>當新增借用申請時，自動檢查同一教室、同一日期是否已有時間重疊的 Approved 紀錄，若有則以 SIGNAL 拒絕新增。</a:t>
            </a:r>
            <a:endParaRPr sz="1200" dirty="0">
              <a:latin typeface="DFKai-SB"/>
              <a:ea typeface="DFKai-SB"/>
              <a:cs typeface="DFKai-SB"/>
              <a:sym typeface="DFKai-SB"/>
            </a:endParaRPr>
          </a:p>
        </p:txBody>
      </p:sp>
      <p:pic>
        <p:nvPicPr>
          <p:cNvPr id="1014" name="Google Shape;1014;p87"/>
          <p:cNvPicPr preferRelativeResize="0"/>
          <p:nvPr/>
        </p:nvPicPr>
        <p:blipFill>
          <a:blip r:embed="rId3">
            <a:alphaModFix/>
          </a:blip>
          <a:stretch>
            <a:fillRect/>
          </a:stretch>
        </p:blipFill>
        <p:spPr>
          <a:xfrm>
            <a:off x="3331638" y="1984613"/>
            <a:ext cx="5009575" cy="2459100"/>
          </a:xfrm>
          <a:prstGeom prst="rect">
            <a:avLst/>
          </a:prstGeom>
          <a:noFill/>
          <a:ln>
            <a:noFill/>
          </a:ln>
        </p:spPr>
      </p:pic>
      <p:pic>
        <p:nvPicPr>
          <p:cNvPr id="1015" name="Google Shape;1015;p87"/>
          <p:cNvPicPr preferRelativeResize="0"/>
          <p:nvPr/>
        </p:nvPicPr>
        <p:blipFill>
          <a:blip r:embed="rId4">
            <a:alphaModFix/>
          </a:blip>
          <a:stretch>
            <a:fillRect/>
          </a:stretch>
        </p:blipFill>
        <p:spPr>
          <a:xfrm>
            <a:off x="575725" y="4534175"/>
            <a:ext cx="7992549" cy="463900"/>
          </a:xfrm>
          <a:prstGeom prst="rect">
            <a:avLst/>
          </a:prstGeom>
          <a:noFill/>
          <a:ln>
            <a:noFill/>
          </a:ln>
        </p:spPr>
      </p:pic>
      <p:sp>
        <p:nvSpPr>
          <p:cNvPr id="1016" name="Google Shape;1016;p87"/>
          <p:cNvSpPr txBox="1"/>
          <p:nvPr/>
        </p:nvSpPr>
        <p:spPr>
          <a:xfrm>
            <a:off x="512225" y="3362000"/>
            <a:ext cx="26844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200">
                <a:solidFill>
                  <a:schemeClr val="dk1"/>
                </a:solidFill>
                <a:latin typeface="DFKai-SB"/>
                <a:ea typeface="DFKai-SB"/>
                <a:cs typeface="DFKai-SB"/>
                <a:sym typeface="DFKai-SB"/>
              </a:rPr>
              <a:t>測試：BGC0614 在 2026-06-10 的 09:00～12:00 已被 Approved，嘗試新增 10:00～11:00 的借用申請。</a:t>
            </a:r>
            <a:endParaRPr sz="1200">
              <a:latin typeface="DFKai-SB"/>
              <a:ea typeface="DFKai-SB"/>
              <a:cs typeface="DFKai-SB"/>
              <a:sym typeface="DFKai-SB"/>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grpSp>
        <p:nvGrpSpPr>
          <p:cNvPr id="1021" name="Google Shape;1021;p88"/>
          <p:cNvGrpSpPr/>
          <p:nvPr/>
        </p:nvGrpSpPr>
        <p:grpSpPr>
          <a:xfrm>
            <a:off x="382271" y="259655"/>
            <a:ext cx="450310" cy="429099"/>
            <a:chOff x="956666" y="3498086"/>
            <a:chExt cx="600413" cy="572132"/>
          </a:xfrm>
        </p:grpSpPr>
        <p:sp>
          <p:nvSpPr>
            <p:cNvPr id="1022" name="Google Shape;1022;p88"/>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23" name="Google Shape;1023;p88"/>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24" name="Google Shape;1024;p88"/>
          <p:cNvSpPr txBox="1"/>
          <p:nvPr/>
        </p:nvSpPr>
        <p:spPr>
          <a:xfrm>
            <a:off x="382275" y="1078450"/>
            <a:ext cx="5842200" cy="53678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400"/>
              </a:spcAft>
              <a:buClr>
                <a:schemeClr val="dk1"/>
              </a:buClr>
              <a:buSzPts val="1100"/>
              <a:buFont typeface="Arial"/>
              <a:buNone/>
            </a:pPr>
            <a:r>
              <a:rPr lang="zh-TW" sz="1700" b="1" dirty="0">
                <a:solidFill>
                  <a:schemeClr val="dk1"/>
                </a:solidFill>
                <a:latin typeface="DFKai-SB"/>
                <a:ea typeface="DFKai-SB"/>
                <a:cs typeface="DFKai-SB"/>
                <a:sym typeface="DFKai-SB"/>
              </a:rPr>
              <a:t>Trigger 二：維修中教室限制（trg_check_maintenance）</a:t>
            </a:r>
            <a:endParaRPr sz="1700" dirty="0">
              <a:latin typeface="DFKai-SB"/>
              <a:ea typeface="DFKai-SB"/>
              <a:cs typeface="DFKai-SB"/>
              <a:sym typeface="DFKai-SB"/>
            </a:endParaRPr>
          </a:p>
        </p:txBody>
      </p:sp>
      <p:sp>
        <p:nvSpPr>
          <p:cNvPr id="1025" name="Google Shape;1025;p88"/>
          <p:cNvSpPr txBox="1"/>
          <p:nvPr/>
        </p:nvSpPr>
        <p:spPr>
          <a:xfrm>
            <a:off x="1058325" y="234789"/>
            <a:ext cx="3000000" cy="589875"/>
          </a:xfrm>
          <a:prstGeom prst="rect">
            <a:avLst/>
          </a:prstGeom>
          <a:noFill/>
          <a:ln>
            <a:noFill/>
          </a:ln>
        </p:spPr>
        <p:txBody>
          <a:bodyPr spcFirstLastPara="1" wrap="square" lIns="91425" tIns="91425" rIns="91425" bIns="91425" anchor="t" anchorCtr="0">
            <a:spAutoFit/>
          </a:bodyPr>
          <a:lstStyle/>
          <a:p>
            <a:pPr marL="0" lvl="0" indent="0" algn="l" rtl="0">
              <a:spcAft>
                <a:spcPts val="400"/>
              </a:spcAft>
              <a:buNone/>
            </a:pPr>
            <a:r>
              <a:rPr lang="zh-TW" sz="2300" b="1" dirty="0">
                <a:solidFill>
                  <a:schemeClr val="dk1"/>
                </a:solidFill>
                <a:latin typeface="DFKai-SB"/>
                <a:ea typeface="DFKai-SB"/>
                <a:cs typeface="DFKai-SB"/>
                <a:sym typeface="DFKai-SB"/>
              </a:rPr>
              <a:t>Trigger 測試</a:t>
            </a:r>
            <a:endParaRPr sz="2300" dirty="0">
              <a:latin typeface="DFKai-SB"/>
              <a:ea typeface="DFKai-SB"/>
              <a:cs typeface="DFKai-SB"/>
              <a:sym typeface="DFKai-SB"/>
            </a:endParaRPr>
          </a:p>
        </p:txBody>
      </p:sp>
      <p:sp>
        <p:nvSpPr>
          <p:cNvPr id="1026" name="Google Shape;1026;p88"/>
          <p:cNvSpPr txBox="1"/>
          <p:nvPr/>
        </p:nvSpPr>
        <p:spPr>
          <a:xfrm>
            <a:off x="382275" y="1498200"/>
            <a:ext cx="64431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200">
                <a:solidFill>
                  <a:schemeClr val="dk1"/>
                </a:solidFill>
                <a:latin typeface="DFKai-SB"/>
                <a:ea typeface="DFKai-SB"/>
                <a:cs typeface="DFKai-SB"/>
                <a:sym typeface="DFKai-SB"/>
              </a:rPr>
              <a:t>當新增借用申請時，自動檢查目標教室是否處於維修狀態，若是則以 SIGNAL 拒絕新增。</a:t>
            </a:r>
            <a:endParaRPr sz="1200">
              <a:latin typeface="DFKai-SB"/>
              <a:ea typeface="DFKai-SB"/>
              <a:cs typeface="DFKai-SB"/>
              <a:sym typeface="DFKai-SB"/>
            </a:endParaRPr>
          </a:p>
        </p:txBody>
      </p:sp>
      <p:pic>
        <p:nvPicPr>
          <p:cNvPr id="1027" name="Google Shape;1027;p88"/>
          <p:cNvPicPr preferRelativeResize="0"/>
          <p:nvPr/>
        </p:nvPicPr>
        <p:blipFill>
          <a:blip r:embed="rId3">
            <a:alphaModFix/>
          </a:blip>
          <a:stretch>
            <a:fillRect/>
          </a:stretch>
        </p:blipFill>
        <p:spPr>
          <a:xfrm>
            <a:off x="3026250" y="1867500"/>
            <a:ext cx="5647525" cy="2669225"/>
          </a:xfrm>
          <a:prstGeom prst="rect">
            <a:avLst/>
          </a:prstGeom>
          <a:noFill/>
          <a:ln>
            <a:noFill/>
          </a:ln>
        </p:spPr>
      </p:pic>
      <p:pic>
        <p:nvPicPr>
          <p:cNvPr id="1028" name="Google Shape;1028;p88"/>
          <p:cNvPicPr preferRelativeResize="0"/>
          <p:nvPr/>
        </p:nvPicPr>
        <p:blipFill>
          <a:blip r:embed="rId4">
            <a:alphaModFix/>
          </a:blip>
          <a:stretch>
            <a:fillRect/>
          </a:stretch>
        </p:blipFill>
        <p:spPr>
          <a:xfrm>
            <a:off x="560425" y="4582125"/>
            <a:ext cx="6703351" cy="400200"/>
          </a:xfrm>
          <a:prstGeom prst="rect">
            <a:avLst/>
          </a:prstGeom>
          <a:noFill/>
          <a:ln>
            <a:noFill/>
          </a:ln>
        </p:spPr>
      </p:pic>
      <p:sp>
        <p:nvSpPr>
          <p:cNvPr id="1029" name="Google Shape;1029;p88"/>
          <p:cNvSpPr txBox="1"/>
          <p:nvPr/>
        </p:nvSpPr>
        <p:spPr>
          <a:xfrm>
            <a:off x="382275" y="3586850"/>
            <a:ext cx="25959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200">
                <a:solidFill>
                  <a:schemeClr val="dk1"/>
                </a:solidFill>
                <a:latin typeface="DFKai-SB"/>
                <a:ea typeface="DFKai-SB"/>
                <a:cs typeface="DFKai-SB"/>
                <a:sym typeface="DFKai-SB"/>
              </a:rPr>
              <a:t>測試：BGC0513（生物資訊實驗室）狀態為 UnderMaintenance，嘗試</a:t>
            </a:r>
            <a:endParaRPr sz="1200">
              <a:solidFill>
                <a:schemeClr val="dk1"/>
              </a:solidFill>
              <a:latin typeface="DFKai-SB"/>
              <a:ea typeface="DFKai-SB"/>
              <a:cs typeface="DFKai-SB"/>
              <a:sym typeface="DFKai-SB"/>
            </a:endParaRPr>
          </a:p>
          <a:p>
            <a:pPr marL="0" lvl="0" indent="0" algn="l" rtl="0">
              <a:lnSpc>
                <a:spcPct val="115000"/>
              </a:lnSpc>
              <a:spcBef>
                <a:spcPts val="0"/>
              </a:spcBef>
              <a:spcAft>
                <a:spcPts val="0"/>
              </a:spcAft>
              <a:buNone/>
            </a:pPr>
            <a:r>
              <a:rPr lang="zh-TW" sz="1200">
                <a:solidFill>
                  <a:schemeClr val="dk1"/>
                </a:solidFill>
                <a:latin typeface="DFKai-SB"/>
                <a:ea typeface="DFKai-SB"/>
                <a:cs typeface="DFKai-SB"/>
                <a:sym typeface="DFKai-SB"/>
              </a:rPr>
              <a:t>對其新增借用申請。</a:t>
            </a:r>
            <a:endParaRPr sz="1200">
              <a:latin typeface="DFKai-SB"/>
              <a:ea typeface="DFKai-SB"/>
              <a:cs typeface="DFKai-SB"/>
              <a:sym typeface="DFKai-SB"/>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pic>
        <p:nvPicPr>
          <p:cNvPr id="1034" name="Google Shape;1034;p89" title="messageImage_1781969561086.jpg"/>
          <p:cNvPicPr preferRelativeResize="0"/>
          <p:nvPr/>
        </p:nvPicPr>
        <p:blipFill>
          <a:blip r:embed="rId3">
            <a:alphaModFix/>
          </a:blip>
          <a:stretch>
            <a:fillRect/>
          </a:stretch>
        </p:blipFill>
        <p:spPr>
          <a:xfrm>
            <a:off x="382275" y="923000"/>
            <a:ext cx="8577473" cy="4031450"/>
          </a:xfrm>
          <a:prstGeom prst="rect">
            <a:avLst/>
          </a:prstGeom>
          <a:noFill/>
          <a:ln>
            <a:noFill/>
          </a:ln>
        </p:spPr>
      </p:pic>
      <p:grpSp>
        <p:nvGrpSpPr>
          <p:cNvPr id="1035" name="Google Shape;1035;p89"/>
          <p:cNvGrpSpPr/>
          <p:nvPr/>
        </p:nvGrpSpPr>
        <p:grpSpPr>
          <a:xfrm>
            <a:off x="382271" y="259655"/>
            <a:ext cx="450310" cy="429099"/>
            <a:chOff x="956666" y="3498086"/>
            <a:chExt cx="600413" cy="572132"/>
          </a:xfrm>
        </p:grpSpPr>
        <p:sp>
          <p:nvSpPr>
            <p:cNvPr id="1036" name="Google Shape;1036;p89"/>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37" name="Google Shape;1037;p89"/>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38" name="Google Shape;1038;p89"/>
          <p:cNvSpPr txBox="1"/>
          <p:nvPr/>
        </p:nvSpPr>
        <p:spPr>
          <a:xfrm>
            <a:off x="896350" y="231800"/>
            <a:ext cx="3000000" cy="53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300"/>
              </a:spcBef>
              <a:spcAft>
                <a:spcPts val="1200"/>
              </a:spcAft>
              <a:buNone/>
            </a:pPr>
            <a:r>
              <a:rPr lang="zh-TW" sz="2300" b="1">
                <a:solidFill>
                  <a:schemeClr val="dk1"/>
                </a:solidFill>
                <a:latin typeface="DFKai-SB"/>
                <a:ea typeface="DFKai-SB"/>
                <a:cs typeface="DFKai-SB"/>
                <a:sym typeface="DFKai-SB"/>
              </a:rPr>
              <a:t>UI介面操作影片</a:t>
            </a:r>
            <a:endParaRPr sz="2300">
              <a:latin typeface="DFKai-SB"/>
              <a:ea typeface="DFKai-SB"/>
              <a:cs typeface="DFKai-SB"/>
              <a:sym typeface="DFKai-SB"/>
            </a:endParaRPr>
          </a:p>
        </p:txBody>
      </p:sp>
      <p:sp>
        <p:nvSpPr>
          <p:cNvPr id="1039" name="Google Shape;1039;p89"/>
          <p:cNvSpPr txBox="1"/>
          <p:nvPr/>
        </p:nvSpPr>
        <p:spPr>
          <a:xfrm>
            <a:off x="4283700" y="4700000"/>
            <a:ext cx="4791900" cy="32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500" u="sng">
                <a:solidFill>
                  <a:schemeClr val="hlink"/>
                </a:solidFill>
                <a:latin typeface="DFKai-SB"/>
                <a:ea typeface="DFKai-SB"/>
                <a:cs typeface="DFKai-SB"/>
                <a:sym typeface="DFKai-SB"/>
                <a:hlinkClick r:id="rId4"/>
              </a:rPr>
              <a:t>https://www.youtube.com/watch?v=nglybqouEbM</a:t>
            </a:r>
            <a:endParaRPr sz="1500">
              <a:solidFill>
                <a:schemeClr val="lt1"/>
              </a:solidFill>
              <a:latin typeface="DFKai-SB"/>
              <a:ea typeface="DFKai-SB"/>
              <a:cs typeface="DFKai-SB"/>
              <a:sym typeface="DFKai-SB"/>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90"/>
          <p:cNvSpPr txBox="1"/>
          <p:nvPr/>
        </p:nvSpPr>
        <p:spPr>
          <a:xfrm>
            <a:off x="447300" y="932075"/>
            <a:ext cx="8249400" cy="396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zh-TW" sz="1350">
                <a:solidFill>
                  <a:schemeClr val="dk1"/>
                </a:solidFill>
                <a:highlight>
                  <a:schemeClr val="lt1"/>
                </a:highlight>
                <a:latin typeface="DFKai-SB"/>
                <a:ea typeface="DFKai-SB"/>
                <a:cs typeface="DFKai-SB"/>
                <a:sym typeface="DFKai-SB"/>
              </a:rPr>
              <a:t>此次資料庫系統專案我們以「教室借用管理系統」為主題，從需求分析、資料庫設計再到 SQL 實作，循序漸進的學習資料庫系統開發的完整流程。從教室借用情境出發，思考學生、老師及管理員等不同使用身分在借用教室流程中的需求，進而整理出系統功能與完整性限制，並將需求轉換為資料庫設計。</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None/>
            </a:pPr>
            <a:r>
              <a:rPr lang="zh-TW" sz="1350">
                <a:solidFill>
                  <a:schemeClr val="dk1"/>
                </a:solidFill>
                <a:highlight>
                  <a:schemeClr val="lt1"/>
                </a:highlight>
                <a:latin typeface="DFKai-SB"/>
                <a:ea typeface="DFKai-SB"/>
                <a:cs typeface="DFKai-SB"/>
                <a:sym typeface="DFKai-SB"/>
              </a:rPr>
              <a:t>在 ER Diagram 設計與繪製過程中，我們學習如何分析實體之間的關係，例如使用者與借用申請之間的一對多關係、教室與設備之間的一對多關係…等，也更加了解主鍵、基數(Cardinality)的重要性，並學習如何利用完整性限制確保資料的一致性與正確性。</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None/>
            </a:pPr>
            <a:r>
              <a:rPr lang="zh-TW" sz="1350">
                <a:solidFill>
                  <a:schemeClr val="dk1"/>
                </a:solidFill>
                <a:highlight>
                  <a:schemeClr val="lt1"/>
                </a:highlight>
                <a:latin typeface="DFKai-SB"/>
                <a:ea typeface="DFKai-SB"/>
                <a:cs typeface="DFKai-SB"/>
                <a:sym typeface="DFKai-SB"/>
              </a:rPr>
              <a:t>在資料表設計與 SQL 撰寫方面，我們將概念模型轉換成關聯式資料表，建立 User、Room、Equipment、BorrowRequest 與 AuditLog 等資料表，並加入主鍵、外鍵、唯一限制及 CHECK 條件。同時也透過 View 的設計，讓使用者能以更方便的方式查詢借用申請、教室設備及審核紀錄等資訊，進一步理解概念層與實體層之間的差異。</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1200"/>
              </a:spcAft>
              <a:buNone/>
            </a:pPr>
            <a:r>
              <a:rPr lang="zh-TW" sz="1350">
                <a:solidFill>
                  <a:schemeClr val="dk1"/>
                </a:solidFill>
                <a:highlight>
                  <a:schemeClr val="lt1"/>
                </a:highlight>
                <a:latin typeface="DFKai-SB"/>
                <a:ea typeface="DFKai-SB"/>
                <a:cs typeface="DFKai-SB"/>
                <a:sym typeface="DFKai-SB"/>
              </a:rPr>
              <a:t>透過這次專題，我們也了解一個良好的資料庫設計不只是建立資料表，更需要考慮資料之間的關聯性、完整性與未來擴充性。雖然在設計過程中曾遇到關係設定、完整性限制與 SQL 語法等問題，但透過不斷討論與修正，最終完成了一套具備實際應用價值的教室借用管理系統，也讓我們對資料庫系統的理論與實務有更深入的認識。</a:t>
            </a:r>
            <a:endParaRPr sz="1350">
              <a:solidFill>
                <a:schemeClr val="dk1"/>
              </a:solidFill>
              <a:highlight>
                <a:schemeClr val="lt1"/>
              </a:highlight>
              <a:latin typeface="DFKai-SB"/>
              <a:ea typeface="DFKai-SB"/>
              <a:cs typeface="DFKai-SB"/>
              <a:sym typeface="DFKai-SB"/>
            </a:endParaRPr>
          </a:p>
        </p:txBody>
      </p:sp>
      <p:grpSp>
        <p:nvGrpSpPr>
          <p:cNvPr id="1045" name="Google Shape;1045;p90"/>
          <p:cNvGrpSpPr/>
          <p:nvPr/>
        </p:nvGrpSpPr>
        <p:grpSpPr>
          <a:xfrm>
            <a:off x="382271" y="259655"/>
            <a:ext cx="450310" cy="429099"/>
            <a:chOff x="956666" y="3498086"/>
            <a:chExt cx="600413" cy="572132"/>
          </a:xfrm>
        </p:grpSpPr>
        <p:sp>
          <p:nvSpPr>
            <p:cNvPr id="1046" name="Google Shape;1046;p90"/>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47" name="Google Shape;1047;p90"/>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48" name="Google Shape;1048;p90"/>
          <p:cNvSpPr txBox="1"/>
          <p:nvPr/>
        </p:nvSpPr>
        <p:spPr>
          <a:xfrm>
            <a:off x="905525" y="313350"/>
            <a:ext cx="4806000" cy="49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DFKai-SB"/>
                <a:ea typeface="DFKai-SB"/>
                <a:cs typeface="DFKai-SB"/>
                <a:sym typeface="DFKai-SB"/>
              </a:rPr>
              <a:t>41243101 伍翊瑄 心得報告</a:t>
            </a:r>
            <a:endParaRPr sz="1800" b="1">
              <a:solidFill>
                <a:schemeClr val="dk1"/>
              </a:solidFill>
              <a:latin typeface="DFKai-SB"/>
              <a:ea typeface="DFKai-SB"/>
              <a:cs typeface="DFKai-SB"/>
              <a:sym typeface="DFKai-SB"/>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91"/>
          <p:cNvSpPr txBox="1"/>
          <p:nvPr/>
        </p:nvSpPr>
        <p:spPr>
          <a:xfrm>
            <a:off x="567325" y="752200"/>
            <a:ext cx="8249400" cy="435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zh-TW" sz="1350">
                <a:solidFill>
                  <a:schemeClr val="dk1"/>
                </a:solidFill>
                <a:highlight>
                  <a:schemeClr val="lt1"/>
                </a:highlight>
                <a:latin typeface="DFKai-SB"/>
                <a:ea typeface="DFKai-SB"/>
                <a:cs typeface="DFKai-SB"/>
                <a:sym typeface="DFKai-SB"/>
              </a:rPr>
              <a:t>這學期的資料庫系統課程對我來說收穫相當多。一開始接觸 SQL 的時候覺得還算上手，SELECT、INSERT 這些基本操作練習起來沒什麼問題，但這次期末專題實際下去做才發現，真正要設計一個「能用」的資料庫系統，跟課堂上練習的難度差了不少。</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None/>
            </a:pPr>
            <a:r>
              <a:rPr lang="zh-TW" sz="1350">
                <a:solidFill>
                  <a:schemeClr val="dk1"/>
                </a:solidFill>
                <a:highlight>
                  <a:schemeClr val="lt1"/>
                </a:highlight>
                <a:latin typeface="DFKai-SB"/>
                <a:ea typeface="DFKai-SB"/>
                <a:cs typeface="DFKai-SB"/>
                <a:sym typeface="DFKai-SB"/>
              </a:rPr>
              <a:t>我們組做的是教室借用系統，從需求分析、ER Diagram、Schema 設計一路到實作，每個環節都有要注意的地方。光是資料表之間的外鍵關係就花了不少時間在理清楚，哪張表要先建、哪些欄位要加 CHECK 條件、什麼情況下該用 Trigger，這些在做之前其實沒有很具體的概念，都是邊做邊理解的。</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None/>
            </a:pPr>
            <a:r>
              <a:rPr lang="zh-TW" sz="1350">
                <a:solidFill>
                  <a:schemeClr val="dk1"/>
                </a:solidFill>
                <a:highlight>
                  <a:schemeClr val="lt1"/>
                </a:highlight>
                <a:latin typeface="DFKai-SB"/>
                <a:ea typeface="DFKai-SB"/>
                <a:cs typeface="DFKai-SB"/>
                <a:sym typeface="DFKai-SB"/>
              </a:rPr>
              <a:t>印象比較深的是 Trigger 的部分。在想衝堂檢查要怎麼實作的時候，才意識到這種跨列的邏輯沒辦法單純用 CHECK 條件處理，需要用 Trigger 去查既有的資料再決定要不要擋下來。實際寫出來測試的時候，看到系統自動跳出中文錯誤訊息，那個瞬間還蠻有成就感的。</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None/>
            </a:pPr>
            <a:r>
              <a:rPr lang="zh-TW" sz="1350">
                <a:solidFill>
                  <a:schemeClr val="dk1"/>
                </a:solidFill>
                <a:highlight>
                  <a:schemeClr val="lt1"/>
                </a:highlight>
                <a:latin typeface="DFKai-SB"/>
                <a:ea typeface="DFKai-SB"/>
                <a:cs typeface="DFKai-SB"/>
                <a:sym typeface="DFKai-SB"/>
              </a:rPr>
              <a:t>這次也第一次把整個系統包進 Docker，用 docker-compose 同時管理資料庫和網頁後端。以前覺得 Docker 很複雜，但實際操作之後發現概念其實不難，最大的好處就是環境乾淨，不會汙染本機，換一台電腦也能一個指令跑起來，這個習慣之後應該會繼續用。</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1200"/>
              </a:spcAft>
              <a:buNone/>
            </a:pPr>
            <a:r>
              <a:rPr lang="zh-TW" sz="1350">
                <a:solidFill>
                  <a:schemeClr val="dk1"/>
                </a:solidFill>
                <a:highlight>
                  <a:schemeClr val="lt1"/>
                </a:highlight>
                <a:latin typeface="DFKai-SB"/>
                <a:ea typeface="DFKai-SB"/>
                <a:cs typeface="DFKai-SB"/>
                <a:sym typeface="DFKai-SB"/>
              </a:rPr>
              <a:t>整體來說這次專題讓我對資料庫設計有了更實際的理解，不再只是背語法，而是真的知道為什麼要這樣設計、這樣設計會帶來什麼好處。如果之後有機會繼續做下去，會想加上更完整的權限管理還有密碼加密，讓系統更接近實際可以上線的狀態。</a:t>
            </a:r>
            <a:endParaRPr sz="1350">
              <a:solidFill>
                <a:schemeClr val="dk1"/>
              </a:solidFill>
              <a:highlight>
                <a:schemeClr val="lt1"/>
              </a:highlight>
              <a:latin typeface="DFKai-SB"/>
              <a:ea typeface="DFKai-SB"/>
              <a:cs typeface="DFKai-SB"/>
              <a:sym typeface="DFKai-SB"/>
            </a:endParaRPr>
          </a:p>
        </p:txBody>
      </p:sp>
      <p:grpSp>
        <p:nvGrpSpPr>
          <p:cNvPr id="1054" name="Google Shape;1054;p91"/>
          <p:cNvGrpSpPr/>
          <p:nvPr/>
        </p:nvGrpSpPr>
        <p:grpSpPr>
          <a:xfrm>
            <a:off x="382271" y="259655"/>
            <a:ext cx="450310" cy="429099"/>
            <a:chOff x="956666" y="3498086"/>
            <a:chExt cx="600413" cy="572132"/>
          </a:xfrm>
        </p:grpSpPr>
        <p:sp>
          <p:nvSpPr>
            <p:cNvPr id="1055" name="Google Shape;1055;p91"/>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56" name="Google Shape;1056;p91"/>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57" name="Google Shape;1057;p91"/>
          <p:cNvSpPr txBox="1"/>
          <p:nvPr/>
        </p:nvSpPr>
        <p:spPr>
          <a:xfrm>
            <a:off x="905525" y="313350"/>
            <a:ext cx="4806000" cy="49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DFKai-SB"/>
                <a:ea typeface="DFKai-SB"/>
                <a:cs typeface="DFKai-SB"/>
                <a:sym typeface="DFKai-SB"/>
              </a:rPr>
              <a:t>41243103 林采儀 心得報告</a:t>
            </a:r>
            <a:endParaRPr sz="1800" b="1">
              <a:solidFill>
                <a:schemeClr val="dk1"/>
              </a:solidFill>
              <a:latin typeface="DFKai-SB"/>
              <a:ea typeface="DFKai-SB"/>
              <a:cs typeface="DFKai-SB"/>
              <a:sym typeface="DFKai-SB"/>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92"/>
          <p:cNvSpPr txBox="1"/>
          <p:nvPr/>
        </p:nvSpPr>
        <p:spPr>
          <a:xfrm>
            <a:off x="567325" y="1248350"/>
            <a:ext cx="8249400" cy="325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zh-TW" sz="1350">
                <a:solidFill>
                  <a:schemeClr val="dk1"/>
                </a:solidFill>
                <a:highlight>
                  <a:schemeClr val="lt1"/>
                </a:highlight>
                <a:latin typeface="DFKai-SB"/>
                <a:ea typeface="DFKai-SB"/>
                <a:cs typeface="DFKai-SB"/>
                <a:sym typeface="DFKai-SB"/>
              </a:rPr>
              <a:t>這次的資料庫專題讓我們把課堂上學到的資料庫知識實際應用到一個完整的系統中。一開始在規劃教室借用管理系統時，我們覺得只是設計幾個資料表而已，但真正開始分析需求後才發現，需要考慮的細節其實很多，像是不同使用者的權限、教室借用流程、審核機制，以及如何避免借用時間衝突等問題。</a:t>
            </a:r>
            <a:endParaRPr>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Clr>
                <a:schemeClr val="dk1"/>
              </a:buClr>
              <a:buSzPts val="1100"/>
              <a:buFont typeface="Arial"/>
              <a:buNone/>
            </a:pPr>
            <a:r>
              <a:rPr lang="zh-TW" sz="1350">
                <a:solidFill>
                  <a:schemeClr val="dk1"/>
                </a:solidFill>
                <a:highlight>
                  <a:schemeClr val="lt1"/>
                </a:highlight>
                <a:latin typeface="DFKai-SB"/>
                <a:ea typeface="DFKai-SB"/>
                <a:cs typeface="DFKai-SB"/>
                <a:sym typeface="DFKai-SB"/>
              </a:rPr>
              <a:t>在設計 ER Diagram 和資料表關聯的過程中，我們花了不少時間討論各個實體之間的關係，也不斷修改欄位設計和限制條件。透過這些調整，我們更了解主鍵、外鍵以及資料完整性的重要性，也發現一個小地方設計錯誤，可能就會影響整個系統的運作。</a:t>
            </a:r>
            <a:endParaRPr>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Clr>
                <a:schemeClr val="dk1"/>
              </a:buClr>
              <a:buSzPts val="1100"/>
              <a:buFont typeface="Arial"/>
              <a:buNone/>
            </a:pPr>
            <a:r>
              <a:rPr lang="zh-TW" sz="1350">
                <a:solidFill>
                  <a:schemeClr val="dk1"/>
                </a:solidFill>
                <a:highlight>
                  <a:schemeClr val="lt1"/>
                </a:highlight>
                <a:latin typeface="DFKai-SB"/>
                <a:ea typeface="DFKai-SB"/>
                <a:cs typeface="DFKai-SB"/>
                <a:sym typeface="DFKai-SB"/>
              </a:rPr>
              <a:t>撰寫 SQL 語法時，我們將課堂上學到的 PRIMARY KEY、FOREIGN KEY、UNIQUE 和 CHECK 等概念實際運用在資料表中。雖然過程中遇到不少問題，例如資料表關聯設定錯誤、限制條件不完整等，但透過查詢資料、和組員討論以及反覆測試後，都順利找到解決方法。</a:t>
            </a:r>
            <a:endParaRPr>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1200"/>
              </a:spcAft>
              <a:buNone/>
            </a:pPr>
            <a:r>
              <a:rPr lang="zh-TW" sz="1350">
                <a:solidFill>
                  <a:schemeClr val="dk1"/>
                </a:solidFill>
                <a:highlight>
                  <a:schemeClr val="lt1"/>
                </a:highlight>
                <a:latin typeface="DFKai-SB"/>
                <a:ea typeface="DFKai-SB"/>
                <a:cs typeface="DFKai-SB"/>
                <a:sym typeface="DFKai-SB"/>
              </a:rPr>
              <a:t>我們透過彼此互相協助與討論，才能完成整個系統的設計。透過這次專題，我們不僅加深了對資料庫設計的理解，也累積了實際規劃系統的經驗，相信對未來修習相關課程或進行系統開發都會有所幫助。</a:t>
            </a:r>
            <a:r>
              <a:rPr lang="zh-TW">
                <a:solidFill>
                  <a:schemeClr val="dk1"/>
                </a:solidFill>
                <a:highlight>
                  <a:schemeClr val="lt1"/>
                </a:highlight>
                <a:latin typeface="DFKai-SB"/>
                <a:ea typeface="DFKai-SB"/>
                <a:cs typeface="DFKai-SB"/>
                <a:sym typeface="DFKai-SB"/>
              </a:rPr>
              <a:t> </a:t>
            </a:r>
            <a:endParaRPr sz="1700">
              <a:solidFill>
                <a:schemeClr val="dk1"/>
              </a:solidFill>
              <a:highlight>
                <a:schemeClr val="lt1"/>
              </a:highlight>
              <a:latin typeface="DFKai-SB"/>
              <a:ea typeface="DFKai-SB"/>
              <a:cs typeface="DFKai-SB"/>
              <a:sym typeface="DFKai-SB"/>
            </a:endParaRPr>
          </a:p>
        </p:txBody>
      </p:sp>
      <p:grpSp>
        <p:nvGrpSpPr>
          <p:cNvPr id="1063" name="Google Shape;1063;p92"/>
          <p:cNvGrpSpPr/>
          <p:nvPr/>
        </p:nvGrpSpPr>
        <p:grpSpPr>
          <a:xfrm>
            <a:off x="382271" y="259655"/>
            <a:ext cx="450310" cy="429099"/>
            <a:chOff x="956666" y="3498086"/>
            <a:chExt cx="600413" cy="572132"/>
          </a:xfrm>
        </p:grpSpPr>
        <p:sp>
          <p:nvSpPr>
            <p:cNvPr id="1064" name="Google Shape;1064;p92"/>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65" name="Google Shape;1065;p92"/>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66" name="Google Shape;1066;p92"/>
          <p:cNvSpPr txBox="1"/>
          <p:nvPr/>
        </p:nvSpPr>
        <p:spPr>
          <a:xfrm>
            <a:off x="905525" y="313350"/>
            <a:ext cx="4806000" cy="49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DFKai-SB"/>
                <a:ea typeface="DFKai-SB"/>
                <a:cs typeface="DFKai-SB"/>
                <a:sym typeface="DFKai-SB"/>
              </a:rPr>
              <a:t>41243104 范芷紜 心得報告</a:t>
            </a:r>
            <a:endParaRPr sz="1800" b="1">
              <a:solidFill>
                <a:schemeClr val="dk1"/>
              </a:solidFill>
              <a:latin typeface="DFKai-SB"/>
              <a:ea typeface="DFKai-SB"/>
              <a:cs typeface="DFKai-SB"/>
              <a:sym typeface="DFKai-SB"/>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grpSp>
        <p:nvGrpSpPr>
          <p:cNvPr id="1071" name="Google Shape;1071;p93"/>
          <p:cNvGrpSpPr/>
          <p:nvPr/>
        </p:nvGrpSpPr>
        <p:grpSpPr>
          <a:xfrm>
            <a:off x="382271" y="259655"/>
            <a:ext cx="450310" cy="429099"/>
            <a:chOff x="956666" y="3498086"/>
            <a:chExt cx="600413" cy="572132"/>
          </a:xfrm>
        </p:grpSpPr>
        <p:sp>
          <p:nvSpPr>
            <p:cNvPr id="1072" name="Google Shape;1072;p93"/>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73" name="Google Shape;1073;p93"/>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74" name="Google Shape;1074;p93"/>
          <p:cNvSpPr txBox="1"/>
          <p:nvPr/>
        </p:nvSpPr>
        <p:spPr>
          <a:xfrm>
            <a:off x="905525" y="313350"/>
            <a:ext cx="4806000" cy="49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DFKai-SB"/>
                <a:ea typeface="DFKai-SB"/>
                <a:cs typeface="DFKai-SB"/>
                <a:sym typeface="DFKai-SB"/>
              </a:rPr>
              <a:t>41243107 潘怡潔 心得報告</a:t>
            </a:r>
            <a:endParaRPr sz="1800" b="1">
              <a:solidFill>
                <a:schemeClr val="dk1"/>
              </a:solidFill>
              <a:latin typeface="DFKai-SB"/>
              <a:ea typeface="DFKai-SB"/>
              <a:cs typeface="DFKai-SB"/>
              <a:sym typeface="DFKai-SB"/>
            </a:endParaRPr>
          </a:p>
        </p:txBody>
      </p:sp>
      <p:sp>
        <p:nvSpPr>
          <p:cNvPr id="1075" name="Google Shape;1075;p93"/>
          <p:cNvSpPr txBox="1"/>
          <p:nvPr/>
        </p:nvSpPr>
        <p:spPr>
          <a:xfrm>
            <a:off x="567325" y="1248350"/>
            <a:ext cx="8249400" cy="237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zh-TW" sz="1350">
                <a:solidFill>
                  <a:schemeClr val="dk1"/>
                </a:solidFill>
                <a:highlight>
                  <a:schemeClr val="lt1"/>
                </a:highlight>
                <a:latin typeface="DFKai-SB"/>
                <a:ea typeface="DFKai-SB"/>
                <a:cs typeface="DFKai-SB"/>
                <a:sym typeface="DFKai-SB"/>
              </a:rPr>
              <a:t>這門資料庫系統課程讓我學到怎麼建立資料表、寫SQL指令來查資料。在做教室借用系統的過程中，讓我更清楚資料庫是怎麼運作的，也比較知道如何把實際問題轉換成系統設計與資料結構規劃。透過不斷練習查詢、新增與修改資料，我對資料庫的基本操作也更加熟悉，也慢慢能理解每個欄位之間的關聯性與設計邏輯，例如主鍵與外鍵的用途，以及資料一致性的重要性。</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0"/>
              </a:spcAft>
              <a:buClr>
                <a:schemeClr val="dk1"/>
              </a:buClr>
              <a:buSzPts val="1100"/>
              <a:buFont typeface="Arial"/>
              <a:buNone/>
            </a:pPr>
            <a:r>
              <a:rPr lang="zh-TW" sz="1350">
                <a:solidFill>
                  <a:schemeClr val="dk1"/>
                </a:solidFill>
                <a:highlight>
                  <a:schemeClr val="lt1"/>
                </a:highlight>
                <a:latin typeface="DFKai-SB"/>
                <a:ea typeface="DFKai-SB"/>
                <a:cs typeface="DFKai-SB"/>
                <a:sym typeface="DFKai-SB"/>
              </a:rPr>
              <a:t>在實作過程中也遇到一些錯誤，例如SQL語法錯誤或查詢結果不符合預期，但透過反覆修改與測試，讓我學會如何一步步排除問題，並提升程式的正確性與穩定性。同時也讓我了解在設計系統時，前期規劃的重要性，如果資料表設計不完整，後續查詢與功能會變得更複雜。</a:t>
            </a:r>
            <a:endParaRPr sz="1350">
              <a:solidFill>
                <a:schemeClr val="dk1"/>
              </a:solidFill>
              <a:highlight>
                <a:schemeClr val="lt1"/>
              </a:highlight>
              <a:latin typeface="DFKai-SB"/>
              <a:ea typeface="DFKai-SB"/>
              <a:cs typeface="DFKai-SB"/>
              <a:sym typeface="DFKai-SB"/>
            </a:endParaRPr>
          </a:p>
          <a:p>
            <a:pPr marL="0" lvl="0" indent="0" algn="l" rtl="0">
              <a:lnSpc>
                <a:spcPct val="115000"/>
              </a:lnSpc>
              <a:spcBef>
                <a:spcPts val="1200"/>
              </a:spcBef>
              <a:spcAft>
                <a:spcPts val="1200"/>
              </a:spcAft>
              <a:buNone/>
            </a:pPr>
            <a:r>
              <a:rPr lang="zh-TW" sz="1350">
                <a:solidFill>
                  <a:schemeClr val="dk1"/>
                </a:solidFill>
                <a:highlight>
                  <a:schemeClr val="lt1"/>
                </a:highlight>
                <a:latin typeface="DFKai-SB"/>
                <a:ea typeface="DFKai-SB"/>
                <a:cs typeface="DFKai-SB"/>
                <a:sym typeface="DFKai-SB"/>
              </a:rPr>
              <a:t>這堂課讓我對資料庫有更實際的了解，也提升了我的程式邏輯與實作能力。</a:t>
            </a:r>
            <a:endParaRPr sz="1350">
              <a:solidFill>
                <a:schemeClr val="dk1"/>
              </a:solidFill>
              <a:highlight>
                <a:schemeClr val="lt1"/>
              </a:highlight>
              <a:latin typeface="DFKai-SB"/>
              <a:ea typeface="DFKai-SB"/>
              <a:cs typeface="DFKai-SB"/>
              <a:sym typeface="DFKai-SB"/>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grpSp>
        <p:nvGrpSpPr>
          <p:cNvPr id="1081" name="Google Shape;1081;p94"/>
          <p:cNvGrpSpPr/>
          <p:nvPr/>
        </p:nvGrpSpPr>
        <p:grpSpPr>
          <a:xfrm>
            <a:off x="382271" y="221981"/>
            <a:ext cx="4435935" cy="466772"/>
            <a:chOff x="956666" y="3447855"/>
            <a:chExt cx="5914580" cy="622363"/>
          </a:xfrm>
        </p:grpSpPr>
        <p:sp>
          <p:nvSpPr>
            <p:cNvPr id="1082" name="Google Shape;1082;p94"/>
            <p:cNvSpPr txBox="1"/>
            <p:nvPr/>
          </p:nvSpPr>
          <p:spPr>
            <a:xfrm>
              <a:off x="1581046" y="3447855"/>
              <a:ext cx="52902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資料來源</a:t>
              </a:r>
              <a:endParaRPr sz="2300" b="1">
                <a:solidFill>
                  <a:schemeClr val="dk1"/>
                </a:solidFill>
                <a:latin typeface="DFKai-SB"/>
                <a:ea typeface="DFKai-SB"/>
                <a:cs typeface="DFKai-SB"/>
                <a:sym typeface="DFKai-SB"/>
              </a:endParaRPr>
            </a:p>
          </p:txBody>
        </p:sp>
        <p:sp>
          <p:nvSpPr>
            <p:cNvPr id="1083" name="Google Shape;1083;p94"/>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84" name="Google Shape;1084;p94"/>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85" name="Google Shape;1085;p94"/>
          <p:cNvSpPr txBox="1"/>
          <p:nvPr/>
        </p:nvSpPr>
        <p:spPr>
          <a:xfrm>
            <a:off x="864150" y="1111594"/>
            <a:ext cx="6961200" cy="3677920"/>
          </a:xfrm>
          <a:prstGeom prst="rect">
            <a:avLst/>
          </a:prstGeom>
          <a:noFill/>
          <a:ln>
            <a:noFill/>
          </a:ln>
        </p:spPr>
        <p:txBody>
          <a:bodyPr spcFirstLastPara="1" wrap="square" lIns="68575" tIns="68575" rIns="68575" bIns="68575" anchor="t" anchorCtr="0">
            <a:spAutoFit/>
          </a:bodyPr>
          <a:lstStyle/>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500" dirty="0">
                <a:solidFill>
                  <a:schemeClr val="dk1"/>
                </a:solidFill>
                <a:latin typeface="DFKai-SB"/>
                <a:ea typeface="DFKai-SB"/>
                <a:cs typeface="DFKai-SB"/>
                <a:sym typeface="DFKai-SB"/>
              </a:rPr>
              <a:t>國立虎尾科技大學 資工系教室借用系統</a:t>
            </a:r>
            <a:endParaRPr sz="2500" dirty="0">
              <a:solidFill>
                <a:schemeClr val="dk1"/>
              </a:solidFill>
              <a:latin typeface="DFKai-SB"/>
              <a:ea typeface="DFKai-SB"/>
              <a:cs typeface="DFKai-SB"/>
              <a:sym typeface="DFKai-SB"/>
            </a:endParaRPr>
          </a:p>
          <a:p>
            <a:pPr marL="342900" lvl="0" algn="l" rtl="0">
              <a:lnSpc>
                <a:spcPct val="115000"/>
              </a:lnSpc>
              <a:spcBef>
                <a:spcPts val="0"/>
              </a:spcBef>
              <a:spcAft>
                <a:spcPts val="0"/>
              </a:spcAft>
            </a:pPr>
            <a:r>
              <a:rPr lang="zh-TW" sz="2500" u="sng" dirty="0">
                <a:solidFill>
                  <a:schemeClr val="dk1"/>
                </a:solidFill>
                <a:latin typeface="DFKai-SB"/>
                <a:ea typeface="DFKai-SB"/>
                <a:cs typeface="DFKai-SB"/>
                <a:sym typeface="DFKai-SB"/>
                <a:hlinkClick r:id="rId3">
                  <a:extLst>
                    <a:ext uri="{A12FA001-AC4F-418D-AE19-62706E023703}">
                      <ahyp:hlinkClr xmlns:ahyp="http://schemas.microsoft.com/office/drawing/2018/hyperlinkcolor" val="tx"/>
                    </a:ext>
                  </a:extLst>
                </a:hlinkClick>
              </a:rPr>
              <a:t>https://csieoffice1.nfu.edu.tw/</a:t>
            </a:r>
            <a:endParaRPr sz="2500" u="sng"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500" dirty="0">
                <a:solidFill>
                  <a:schemeClr val="dk1"/>
                </a:solidFill>
                <a:latin typeface="DFKai-SB"/>
                <a:ea typeface="DFKai-SB"/>
                <a:cs typeface="DFKai-SB"/>
                <a:sym typeface="DFKai-SB"/>
              </a:rPr>
              <a:t>逢甲大學體育 室場地借用管理系統.</a:t>
            </a:r>
            <a:r>
              <a:rPr lang="zh-TW" sz="2500" dirty="0">
                <a:solidFill>
                  <a:schemeClr val="dk1"/>
                </a:solidFill>
                <a:uFill>
                  <a:noFill/>
                </a:uFill>
                <a:latin typeface="DFKai-SB"/>
                <a:ea typeface="DFKai-SB"/>
                <a:cs typeface="DFKai-SB"/>
                <a:sym typeface="DFKai-SB"/>
                <a:hlinkClick r:id="rId4">
                  <a:extLst>
                    <a:ext uri="{A12FA001-AC4F-418D-AE19-62706E023703}">
                      <ahyp:hlinkClr xmlns:ahyp="http://schemas.microsoft.com/office/drawing/2018/hyperlinkcolor" val="tx"/>
                    </a:ext>
                  </a:extLst>
                </a:hlinkClick>
              </a:rPr>
              <a:t> </a:t>
            </a:r>
            <a:endParaRPr sz="1400" dirty="0">
              <a:solidFill>
                <a:schemeClr val="dk1"/>
              </a:solidFill>
            </a:endParaRPr>
          </a:p>
          <a:p>
            <a:pPr marL="342900" lvl="0" algn="l" rtl="0">
              <a:lnSpc>
                <a:spcPct val="115000"/>
              </a:lnSpc>
              <a:spcBef>
                <a:spcPts val="0"/>
              </a:spcBef>
              <a:spcAft>
                <a:spcPts val="0"/>
              </a:spcAft>
            </a:pPr>
            <a:r>
              <a:rPr lang="zh-TW" sz="2500" u="sng" dirty="0">
                <a:solidFill>
                  <a:schemeClr val="dk1"/>
                </a:solidFill>
                <a:latin typeface="DFKai-SB"/>
                <a:ea typeface="DFKai-SB"/>
                <a:cs typeface="DFKai-SB"/>
                <a:sym typeface="DFKai-SB"/>
                <a:hlinkClick r:id="rId4">
                  <a:extLst>
                    <a:ext uri="{A12FA001-AC4F-418D-AE19-62706E023703}">
                      <ahyp:hlinkClr xmlns:ahyp="http://schemas.microsoft.com/office/drawing/2018/hyperlinkcolor" val="tx"/>
                    </a:ext>
                  </a:extLst>
                </a:hlinkClick>
              </a:rPr>
              <a:t>https://share.google/43ZdNW1RVkHCTsGi8</a:t>
            </a:r>
            <a:endParaRPr sz="2500" u="sng"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500" dirty="0">
                <a:solidFill>
                  <a:schemeClr val="dk1"/>
                </a:solidFill>
                <a:latin typeface="DFKai-SB"/>
                <a:ea typeface="DFKai-SB"/>
                <a:cs typeface="DFKai-SB"/>
                <a:sym typeface="DFKai-SB"/>
              </a:rPr>
              <a:t>國立清華大學 教室借用系統</a:t>
            </a:r>
            <a:endParaRPr sz="2500" dirty="0">
              <a:solidFill>
                <a:schemeClr val="dk1"/>
              </a:solidFill>
              <a:latin typeface="DFKai-SB"/>
              <a:ea typeface="DFKai-SB"/>
              <a:cs typeface="DFKai-SB"/>
              <a:sym typeface="DFKai-SB"/>
            </a:endParaRPr>
          </a:p>
          <a:p>
            <a:pPr marL="342900" lvl="0" algn="l" rtl="0">
              <a:lnSpc>
                <a:spcPct val="115000"/>
              </a:lnSpc>
              <a:spcBef>
                <a:spcPts val="0"/>
              </a:spcBef>
              <a:spcAft>
                <a:spcPts val="0"/>
              </a:spcAft>
            </a:pPr>
            <a:r>
              <a:rPr lang="zh-TW" sz="2500" u="sng" dirty="0">
                <a:solidFill>
                  <a:schemeClr val="dk1"/>
                </a:solidFill>
                <a:latin typeface="DFKai-SB"/>
                <a:ea typeface="DFKai-SB"/>
                <a:cs typeface="DFKai-SB"/>
                <a:sym typeface="DFKai-SB"/>
                <a:hlinkClick r:id="rId5">
                  <a:extLst>
                    <a:ext uri="{A12FA001-AC4F-418D-AE19-62706E023703}">
                      <ahyp:hlinkClr xmlns:ahyp="http://schemas.microsoft.com/office/drawing/2018/hyperlinkcolor" val="tx"/>
                    </a:ext>
                  </a:extLst>
                </a:hlinkClick>
              </a:rPr>
              <a:t>https://share.google/7nEjYTNkDw13sQput</a:t>
            </a:r>
            <a:endParaRPr sz="2500" u="sng" dirty="0">
              <a:solidFill>
                <a:schemeClr val="dk1"/>
              </a:solidFill>
              <a:latin typeface="DFKai-SB"/>
              <a:ea typeface="DFKai-SB"/>
              <a:cs typeface="DFKai-SB"/>
              <a:sym typeface="DFKai-SB"/>
            </a:endParaRPr>
          </a:p>
          <a:p>
            <a:pPr marL="381000" lvl="0" indent="-342900" algn="l" rtl="0">
              <a:lnSpc>
                <a:spcPct val="115000"/>
              </a:lnSpc>
              <a:spcBef>
                <a:spcPts val="0"/>
              </a:spcBef>
              <a:spcAft>
                <a:spcPts val="0"/>
              </a:spcAft>
              <a:buClr>
                <a:schemeClr val="dk1"/>
              </a:buClr>
              <a:buSzPts val="2200"/>
              <a:buFont typeface="Arial" panose="020B0604020202020204" pitchFamily="34" charset="0"/>
              <a:buChar char="•"/>
            </a:pPr>
            <a:r>
              <a:rPr lang="zh-TW" sz="2500" dirty="0">
                <a:solidFill>
                  <a:schemeClr val="dk1"/>
                </a:solidFill>
                <a:latin typeface="DFKai-SB"/>
                <a:ea typeface="DFKai-SB"/>
                <a:cs typeface="DFKai-SB"/>
                <a:sym typeface="DFKai-SB"/>
              </a:rPr>
              <a:t>中原大學教務處 </a:t>
            </a:r>
            <a:r>
              <a:rPr lang="zh-TW" sz="2500" dirty="0">
                <a:solidFill>
                  <a:schemeClr val="dk1"/>
                </a:solidFill>
                <a:uFill>
                  <a:noFill/>
                </a:uFill>
                <a:latin typeface="DFKai-SB"/>
                <a:ea typeface="DFKai-SB"/>
                <a:cs typeface="DFKai-SB"/>
                <a:sym typeface="DFKai-SB"/>
                <a:hlinkClick r:id="rId6">
                  <a:extLst>
                    <a:ext uri="{A12FA001-AC4F-418D-AE19-62706E023703}">
                      <ahyp:hlinkClr xmlns:ahyp="http://schemas.microsoft.com/office/drawing/2018/hyperlinkcolor" val="tx"/>
                    </a:ext>
                  </a:extLst>
                </a:hlinkClick>
              </a:rPr>
              <a:t> </a:t>
            </a:r>
            <a:endParaRPr sz="1400" dirty="0">
              <a:solidFill>
                <a:schemeClr val="dk1"/>
              </a:solidFill>
            </a:endParaRPr>
          </a:p>
          <a:p>
            <a:pPr marL="342900" lvl="0" algn="l" rtl="0">
              <a:lnSpc>
                <a:spcPct val="115000"/>
              </a:lnSpc>
              <a:spcBef>
                <a:spcPts val="0"/>
              </a:spcBef>
              <a:spcAft>
                <a:spcPts val="0"/>
              </a:spcAft>
            </a:pPr>
            <a:r>
              <a:rPr lang="zh-TW" sz="2500" u="sng" dirty="0">
                <a:solidFill>
                  <a:schemeClr val="dk1"/>
                </a:solidFill>
                <a:latin typeface="DFKai-SB"/>
                <a:ea typeface="DFKai-SB"/>
                <a:cs typeface="DFKai-SB"/>
                <a:sym typeface="DFKai-SB"/>
                <a:hlinkClick r:id="rId6">
                  <a:extLst>
                    <a:ext uri="{A12FA001-AC4F-418D-AE19-62706E023703}">
                      <ahyp:hlinkClr xmlns:ahyp="http://schemas.microsoft.com/office/drawing/2018/hyperlinkcolor" val="tx"/>
                    </a:ext>
                  </a:extLst>
                </a:hlinkClick>
              </a:rPr>
              <a:t>https://share.google/Jgz627iK0832tkNwJ</a:t>
            </a:r>
            <a:endParaRPr sz="2200" dirty="0">
              <a:solidFill>
                <a:schemeClr val="dk1"/>
              </a:solidFill>
              <a:latin typeface="DFKai-SB"/>
              <a:ea typeface="DFKai-SB"/>
              <a:cs typeface="DFKai-SB"/>
              <a:sym typeface="DFKai-SB"/>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grpSp>
        <p:nvGrpSpPr>
          <p:cNvPr id="1091" name="Google Shape;1091;p95"/>
          <p:cNvGrpSpPr/>
          <p:nvPr/>
        </p:nvGrpSpPr>
        <p:grpSpPr>
          <a:xfrm>
            <a:off x="382271" y="221981"/>
            <a:ext cx="4435935" cy="466772"/>
            <a:chOff x="956666" y="3447855"/>
            <a:chExt cx="5914580" cy="622363"/>
          </a:xfrm>
        </p:grpSpPr>
        <p:sp>
          <p:nvSpPr>
            <p:cNvPr id="1092" name="Google Shape;1092;p95"/>
            <p:cNvSpPr txBox="1"/>
            <p:nvPr/>
          </p:nvSpPr>
          <p:spPr>
            <a:xfrm>
              <a:off x="1581046" y="3447855"/>
              <a:ext cx="5290200" cy="564300"/>
            </a:xfrm>
            <a:prstGeom prst="rect">
              <a:avLst/>
            </a:prstGeom>
            <a:noFill/>
            <a:ln>
              <a:noFill/>
            </a:ln>
          </p:spPr>
          <p:txBody>
            <a:bodyPr spcFirstLastPara="1" wrap="square" lIns="68575" tIns="34275" rIns="68575" bIns="34275" anchor="t" anchorCtr="1">
              <a:spAutoFit/>
            </a:bodyPr>
            <a:lstStyle/>
            <a:p>
              <a:pPr marL="0" lvl="0" indent="0" algn="l" rtl="0">
                <a:spcBef>
                  <a:spcPts val="0"/>
                </a:spcBef>
                <a:spcAft>
                  <a:spcPts val="0"/>
                </a:spcAft>
                <a:buNone/>
              </a:pPr>
              <a:r>
                <a:rPr lang="zh-TW" sz="2300" b="1">
                  <a:solidFill>
                    <a:schemeClr val="dk1"/>
                  </a:solidFill>
                  <a:latin typeface="DFKai-SB"/>
                  <a:ea typeface="DFKai-SB"/>
                  <a:cs typeface="DFKai-SB"/>
                  <a:sym typeface="DFKai-SB"/>
                </a:rPr>
                <a:t> Github連結</a:t>
              </a:r>
              <a:endParaRPr sz="2300" b="1">
                <a:solidFill>
                  <a:schemeClr val="dk1"/>
                </a:solidFill>
                <a:latin typeface="DFKai-SB"/>
                <a:ea typeface="DFKai-SB"/>
                <a:cs typeface="DFKai-SB"/>
                <a:sym typeface="DFKai-SB"/>
              </a:endParaRPr>
            </a:p>
          </p:txBody>
        </p:sp>
        <p:sp>
          <p:nvSpPr>
            <p:cNvPr id="1093" name="Google Shape;1093;p95"/>
            <p:cNvSpPr/>
            <p:nvPr/>
          </p:nvSpPr>
          <p:spPr>
            <a:xfrm>
              <a:off x="956666" y="3498086"/>
              <a:ext cx="448800" cy="448800"/>
            </a:xfrm>
            <a:prstGeom prst="rect">
              <a:avLst/>
            </a:prstGeom>
            <a:solidFill>
              <a:srgbClr val="113F4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sp>
          <p:nvSpPr>
            <p:cNvPr id="1094" name="Google Shape;1094;p95"/>
            <p:cNvSpPr/>
            <p:nvPr/>
          </p:nvSpPr>
          <p:spPr>
            <a:xfrm>
              <a:off x="1176679" y="3689818"/>
              <a:ext cx="380400" cy="380400"/>
            </a:xfrm>
            <a:prstGeom prst="rect">
              <a:avLst/>
            </a:prstGeom>
            <a:solidFill>
              <a:srgbClr val="55C0A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Microsoft Yahei"/>
                <a:ea typeface="Microsoft Yahei"/>
                <a:cs typeface="Microsoft Yahei"/>
                <a:sym typeface="Microsoft Yahei"/>
              </a:endParaRPr>
            </a:p>
          </p:txBody>
        </p:sp>
      </p:grpSp>
      <p:sp>
        <p:nvSpPr>
          <p:cNvPr id="1095" name="Google Shape;1095;p95"/>
          <p:cNvSpPr txBox="1"/>
          <p:nvPr/>
        </p:nvSpPr>
        <p:spPr>
          <a:xfrm>
            <a:off x="382275" y="2571750"/>
            <a:ext cx="8170200" cy="523200"/>
          </a:xfrm>
          <a:prstGeom prst="rect">
            <a:avLst/>
          </a:prstGeom>
          <a:noFill/>
          <a:ln>
            <a:noFill/>
          </a:ln>
        </p:spPr>
        <p:txBody>
          <a:bodyPr spcFirstLastPara="1" wrap="square" lIns="68575" tIns="68575" rIns="68575" bIns="68575" anchor="t" anchorCtr="0">
            <a:spAutoFit/>
          </a:bodyPr>
          <a:lstStyle/>
          <a:p>
            <a:pPr marL="342900" lvl="0" indent="0" algn="l" rtl="0">
              <a:lnSpc>
                <a:spcPct val="115000"/>
              </a:lnSpc>
              <a:spcBef>
                <a:spcPts val="0"/>
              </a:spcBef>
              <a:spcAft>
                <a:spcPts val="0"/>
              </a:spcAft>
              <a:buNone/>
            </a:pPr>
            <a:r>
              <a:rPr lang="zh-TW" sz="2500" b="1" u="sng">
                <a:solidFill>
                  <a:schemeClr val="hlink"/>
                </a:solidFill>
                <a:latin typeface="DFKai-SB"/>
                <a:ea typeface="DFKai-SB"/>
                <a:cs typeface="DFKai-SB"/>
                <a:sym typeface="DFKai-SB"/>
                <a:hlinkClick r:id="rId3"/>
              </a:rPr>
              <a:t>https://github.com/vivian1060290/DB_project_114</a:t>
            </a:r>
            <a:endParaRPr sz="2200" b="1">
              <a:solidFill>
                <a:schemeClr val="dk1"/>
              </a:solidFill>
              <a:latin typeface="DFKai-SB"/>
              <a:ea typeface="DFKai-SB"/>
              <a:cs typeface="DFKai-SB"/>
              <a:sym typeface="DFKai-SB"/>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pic>
        <p:nvPicPr>
          <p:cNvPr id="1101" name="Google Shape;1101;p96"/>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102" name="Google Shape;1102;p96"/>
          <p:cNvSpPr txBox="1"/>
          <p:nvPr/>
        </p:nvSpPr>
        <p:spPr>
          <a:xfrm>
            <a:off x="4323625" y="2327445"/>
            <a:ext cx="4166700" cy="838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zh-TW" sz="5000" b="1">
                <a:solidFill>
                  <a:srgbClr val="113F4E"/>
                </a:solidFill>
                <a:latin typeface="DFKai-SB"/>
                <a:ea typeface="DFKai-SB"/>
                <a:cs typeface="DFKai-SB"/>
                <a:sym typeface="DFKai-SB"/>
              </a:rPr>
              <a:t>謝謝大家</a:t>
            </a:r>
            <a:endParaRPr sz="5000" b="1">
              <a:solidFill>
                <a:srgbClr val="113F4E"/>
              </a:solidFill>
              <a:latin typeface="DFKai-SB"/>
              <a:ea typeface="DFKai-SB"/>
              <a:cs typeface="DFKai-SB"/>
              <a:sym typeface="DFKai-SB"/>
            </a:endParaRPr>
          </a:p>
        </p:txBody>
      </p:sp>
      <p:pic>
        <p:nvPicPr>
          <p:cNvPr id="1103" name="Google Shape;1103;p96"/>
          <p:cNvPicPr preferRelativeResize="0"/>
          <p:nvPr/>
        </p:nvPicPr>
        <p:blipFill>
          <a:blip r:embed="rId4">
            <a:alphaModFix/>
          </a:blip>
          <a:stretch>
            <a:fillRect/>
          </a:stretch>
        </p:blipFill>
        <p:spPr>
          <a:xfrm rot="-2884277">
            <a:off x="745650" y="1052577"/>
            <a:ext cx="548700" cy="166145"/>
          </a:xfrm>
          <a:prstGeom prst="rect">
            <a:avLst/>
          </a:prstGeom>
          <a:noFill/>
          <a:ln>
            <a:noFill/>
          </a:ln>
        </p:spPr>
      </p:pic>
      <p:sp>
        <p:nvSpPr>
          <p:cNvPr id="1104" name="Google Shape;1104;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83</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7125</Words>
  <Application>Microsoft Office PowerPoint</Application>
  <PresentationFormat>如螢幕大小 (16:9)</PresentationFormat>
  <Paragraphs>1161</Paragraphs>
  <Slides>83</Slides>
  <Notes>83</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83</vt:i4>
      </vt:variant>
    </vt:vector>
  </HeadingPairs>
  <TitlesOfParts>
    <vt:vector size="93" baseType="lpstr">
      <vt:lpstr>Courier New</vt:lpstr>
      <vt:lpstr>DFKai-SB</vt:lpstr>
      <vt:lpstr>Microsoft JhengHei</vt:lpstr>
      <vt:lpstr>Microsoft Yahei</vt:lpstr>
      <vt:lpstr>DFKai-SB</vt:lpstr>
      <vt:lpstr>Impact</vt:lpstr>
      <vt:lpstr>Open Sans</vt:lpstr>
      <vt:lpstr>Arial</vt:lpstr>
      <vt:lpstr>Times New Roman</vt:lpstr>
      <vt:lpstr>Simple Light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范芷紜</cp:lastModifiedBy>
  <cp:revision>1</cp:revision>
  <dcterms:modified xsi:type="dcterms:W3CDTF">2026-06-20T16:15:38Z</dcterms:modified>
</cp:coreProperties>
</file>